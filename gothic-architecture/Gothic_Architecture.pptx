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9699711-cb55-e335-0ee0-24905a40c2ee}">
          <p14:sldIdLst>
            <p14:sldId id="256"/>
            <p14:sldId id="257"/>
          </p14:sldIdLst>
        </p14:section>
        <p14:section name="Origins" id="{1f209f22-0d63-6ce3-323a-01108912b48f}">
          <p14:sldIdLst>
            <p14:sldId id="258"/>
            <p14:sldId id="259"/>
          </p14:sldIdLst>
        </p14:section>
        <p14:section name="Structure" id="{71420098-f383-aa50-a165-60276cd5b03f}">
          <p14:sldIdLst>
            <p14:sldId id="260"/>
            <p14:sldId id="261"/>
            <p14:sldId id="262"/>
          </p14:sldIdLst>
        </p14:section>
        <p14:section name="Space and making" id="{f6fa444a-0841-5745-3304-75e20385af82}">
          <p14:sldIdLst>
            <p14:sldId id="263"/>
            <p14:sldId id="264"/>
            <p14:sldId id="265"/>
          </p14:sldIdLst>
        </p14:section>
        <p14:section name="Legacy" id="{45c995cf-5ece-b5b1-5152-fcad7ab324fe}">
          <p14:sldIdLst>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F5B6B"/>
                </a:solidFill>
                <a:latin typeface="+mn-lt"/>
              </a:defRPr>
            </a:pPr>
            <a:r>
              <a:rPr sz="1400" b="0" i="0" u="none" strike="noStrike">
                <a:solidFill>
                  <a:srgbClr val="5F5B6B"/>
                </a:solidFill>
                <a:latin typeface="+mn-lt"/>
              </a:rPr>
              <a:t>Height of the main vault above the floor</a:t>
            </a:r>
          </a:p>
        </c:rich>
      </c:tx>
      <c:layout/>
      <c:overlay val="0"/>
    </c:title>
    <c:autoTitleDeleted val="0"/>
    <c:plotArea>
      <c:layout/>
      <c:barChart>
        <c:barDir val="col"/>
        <c:grouping val="clustered"/>
        <c:varyColors val="0"/>
        <c:ser>
          <c:idx val="0"/>
          <c:order val="0"/>
          <c:tx>
            <c:strRef>
              <c:f>Sheet1!$B$1</c:f>
              <c:strCache>
                <c:ptCount val="1"/>
                <c:pt idx="0">
                  <c:v>Vault height (m)</c:v>
                </c:pt>
              </c:strCache>
            </c:strRef>
          </c:tx>
          <c:spPr>
            <a:solidFill>
              <a:srgbClr val="2F5597"/>
            </a:solidFill>
            <a:effectLst/>
          </c:spPr>
          <c:invertIfNegative val="0"/>
          <c:dLbls>
            <c:numFmt formatCode="0&quot; m&quot;" sourceLinked="0"/>
            <c:txPr>
              <a:bodyPr/>
              <a:lstStyle/>
              <a:p>
                <a:pPr>
                  <a:defRPr b="1" i="0" strike="noStrike" sz="1600" u="none">
                    <a:solidFill>
                      <a:srgbClr val="1B1A24"/>
                    </a:solidFill>
                    <a:latin typeface="+mn-lt"/>
                  </a:defRPr>
                </a:pPr>
              </a:p>
            </c:txPr>
            <c:showLegendKey val="0"/>
            <c:showVal val="1"/>
            <c:showCatName val="0"/>
            <c:showSerName val="0"/>
            <c:showPercent val="0"/>
            <c:showBubbleSize val="0"/>
            <c:showLeaderLines val="0"/>
          </c:dLbls>
          <c:dPt>
            <c:idx val="0"/>
            <c:invertIfNegative val="0"/>
            <c:bubble3D val="0"/>
            <c:spPr>
              <a:solidFill>
                <a:srgbClr val="2F5597"/>
              </a:solidFill>
              <a:effectLst/>
            </c:spPr>
          </c:dPt>
          <c:dPt>
            <c:idx val="1"/>
            <c:invertIfNegative val="0"/>
            <c:bubble3D val="0"/>
            <c:spPr>
              <a:solidFill>
                <a:srgbClr val="2F5597"/>
              </a:solidFill>
              <a:effectLst/>
            </c:spPr>
          </c:dPt>
          <c:dPt>
            <c:idx val="2"/>
            <c:invertIfNegative val="0"/>
            <c:bubble3D val="0"/>
            <c:spPr>
              <a:solidFill>
                <a:srgbClr val="2F5597"/>
              </a:solidFill>
              <a:effectLst/>
            </c:spPr>
          </c:dPt>
          <c:dPt>
            <c:idx val="3"/>
            <c:invertIfNegative val="0"/>
            <c:bubble3D val="0"/>
            <c:spPr>
              <a:solidFill>
                <a:srgbClr val="2F5597"/>
              </a:solidFill>
              <a:effectLst/>
            </c:spPr>
          </c:dPt>
          <c:dPt>
            <c:idx val="4"/>
            <c:invertIfNegative val="0"/>
            <c:bubble3D val="0"/>
            <c:spPr>
              <a:solidFill>
                <a:srgbClr val="B02E45"/>
              </a:solidFill>
              <a:effectLst/>
            </c:spPr>
          </c:dPt>
          <c:cat>
            <c:multiLvlStrRef>
              <c:f>Sheet1!$A$2:$A$6</c:f>
              <c:multiLvlStrCache>
                <c:ptCount val="5"/>
                <c:lvl>
                  <c:pt idx="0">
                    <c:v>Notre-Dame
1163</c:v>
                  </c:pt>
                  <c:pt idx="1">
                    <c:v>Chartres
1194</c:v>
                  </c:pt>
                  <c:pt idx="2">
                    <c:v>Reims
1211</c:v>
                  </c:pt>
                  <c:pt idx="3">
                    <c:v>Amiens
1220</c:v>
                  </c:pt>
                  <c:pt idx="4">
                    <c:v>Beauvais
1225</c:v>
                  </c:pt>
                </c:lvl>
              </c:multiLvlStrCache>
            </c:multiLvlStrRef>
          </c:cat>
          <c:val>
            <c:numRef>
              <c:f>Sheet1!$B$2:$B$6</c:f>
              <c:numCache>
                <c:formatCode>General</c:formatCode>
                <c:ptCount val="5"/>
                <c:pt idx="0">
                  <c:v>33</c:v>
                </c:pt>
                <c:pt idx="1">
                  <c:v>37</c:v>
                </c:pt>
                <c:pt idx="2">
                  <c:v>38</c:v>
                </c:pt>
                <c:pt idx="3">
                  <c:v>42</c:v>
                </c:pt>
                <c:pt idx="4">
                  <c:v>48</c:v>
                </c:pt>
              </c:numCache>
            </c:numRef>
          </c:val>
        </c:ser>
        <c:dLbls>
          <c:numFmt formatCode="0&quot; m&quot;" sourceLinked="0"/>
          <c:txPr>
            <a:bodyPr/>
            <a:lstStyle/>
            <a:p>
              <a:pPr>
                <a:defRPr b="1" i="0" strike="noStrike" sz="1600" u="none">
                  <a:solidFill>
                    <a:srgbClr val="1B1A24"/>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F5B6B"/>
                </a:solidFill>
                <a:latin typeface="+mn-lt"/>
              </a:defRPr>
            </a:pPr>
            <a:endParaRPr lang="en-US"/>
          </a:p>
        </c:txPr>
        <c:crossAx val="2094734552"/>
        <c:crosses val="autoZero"/>
        <c:auto val="1"/>
        <c:lblAlgn val="ctr"/>
        <c:noMultiLvlLbl val="1"/>
      </c:catAx>
      <c:valAx>
        <c:axId val="2094734552"/>
        <c:scaling>
          <c:orientation val="minMax"/>
          <c:max val="5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OF 13  ·  GOTHIC ARCHITECTURE (TITLE)
About 0:45 on this slide  ·  clock 0:00 to 0:45
Say the text below word for word. Words in [brackets] are actions: do them, do not read them out.
[Wait for the first slide to appear. Smile and look at the audience.]
Good morning everyone. My name is [your name], and today I will talk about Gothic architecture.
[Point to the picture.] This is Cologne Cathedral, in Germany. Imagine you are a farmer in the year 1200. You live in a small, dark house. One Sunday, you walk into a cathedral like this one. The walls seem to disappear. Coloured light falls on the floor. The ceiling is thirty metres above your head. It feels like walking into heaven. That is exactly what the builders wanted.
I will answer four questions. Where does Gothic come from? Why was it built? How does it stand up? And what did it leave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OF 13  ·  WHY DOES IT STILL GIVE US CHILLS?
About 0:45 on this slide  ·  clock 0:45 to 1:30
Say the text below word for word. Words in [brackets] are actions: do them, do not read them out.
Let me start with four numbers. [Point to each number as you say it.]
1140: the year when Abbot Suger started rebuilding the church of Saint-Denis, near Paris. Most historians see it as the birth of Gothic.
About 400 years: how long Gothic dominated building in Europe. It was not a fashion. It was a whole civilisation.
48 metres: the vault of Beauvais Cathedral. That is a 16-storey building, in the 13th century, with no steel and no concrete.
632 years: Cologne Cathedral was started in 1248 and finished in 1880.
At the bottom, you can see our road map. So, let's begin. When did all this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OF 13  ·  FOUR CENTURIES IN FOUR CHAPTERS
About 1:15 on this slide  ·  clock 1:30 to 2:45
Say the text below word for word. Words in [brackets] are actions: do them, do not read them out.
Gothic was not invented in one day. Historians divide it into four chapters. [Move your hand from left to right along the slide.]
Chapter one: Early Gothic, 1140 to 1200. It starts at Saint-Denis, and then Notre-Dame de Paris, in 1163. See the window: simple, tall and narrow.
Chapter two: High Gothic, 1200 to 1240. The golden age: Chartres [say "SHAR-truh"], Reims and Amiens. Everything becomes taller and lighter, with a round rose window above.
Chapter three: Rayonnant, 1240 to 1350. It means "radiating", like rays of light. The walls almost disappear and become glass, held by thin stone patterns called tracery. The masterpiece is the Sainte-Chapelle in Paris.
Chapter four: Late Gothic, 1350 to about 1520. Decoration explodes. In France it is called Flamboyant, because the stone looks like flames. And in 1347, the Black Death kills maybe a third of Europe's people, so many cathedrals slow down or stop.
One small fact: nobody at the time said the word "Gothic". I will come back to this at the end.
But first: why did people spend so much money on these buildings?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OF 13  ·  A HEAVEN MADE OF STONE
About 1:20 on this slide  ·  clock 2:45 to 4:05
Say the text below word for word. Words in [brackets] are actions: do them, do not read them out.
To understand Gothic, we must understand medieval faith. I will give you three ideas.
First, light is divine. [Point to the quote.] Abbot Suger [say "soo-ZHAY"] was an adviser to the kings of France. He read a philosopher who taught that God is pure light. So he rebuilt his church to be full of light. He wrote: "The dull mind rises to truth through that which is material." In simple words: beautiful things, like stone, gold and coloured glass, can lift the soul towards God.
Second, Mary and the pilgrims. Notre-Dame means "Our Lady", the Virgin Mary. Relics attracted thousands of pilgrims. They needed a lot of space, and their donations helped to pay for the building.
Third, power and pride. Bishops, kings and rich cities competed. A taller cathedral meant a more important city. It was also the meeting place, the market and the school of the town.
The Bible describes heaven as the Heavenly Jerusalem, a city of light and jewels. A Gothic cathedral tries to build this picture on earth.
So faith explains why. But what made it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OF 13  ·  FROM FORTRESS-CHURCH TO LANTERN
About 0:50 on this slide  ·  clock 4:05 to 4:55
Say the text below word for word. Words in [brackets] are actions: do them, do not read them out.
[Go quickly, row by row.]
Before Gothic, Europe built in the Romanesque style. On the left: round arches, thick walls like a fortress, and small windows, because every hole makes a thick wall weaker. The result is dark, solid and protective.
On the right, Gothic: pointed arches, light vaults, thin walls and enormous windows. The result is tall, bright and, for people at that time, heavenly.
The key point: Gothic did not use a new material. It is still stone. What changed is the logic. A Romanesque church is a heavy mass. A Gothic church is a skeleton. It is the difference between a cave and a tent with poles.
This skeleton is made of three inventions.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OF 13  ·  THREE IDEAS THAT CHANGED EVERYTHING
About 1:15 on this slide  ·  clock 4:55 to 6:10
Say the text below word for word. Words in [brackets] are actions: do them, do not read them out.
Here are the three inventions. [Point to each card as you speak.]
One: the pointed arch. A round arch pushes strongly outwards. Look at the red arrows. The pointed arch has steeper sides, so more weight goes straight down, and less pushes sideways. And you can make it as tall as you want for the same width.
Two: the ribbed vault. This is a plan seen from above. The ribs, in gold, cross diagonally. The masons built the ribs first, then filled between them with thin, light panels. The ribs send the weight down to the corners, to the piers. So the wall does not carry the roof any more. Only the points do.
Three: the flying buttress. The vault still pushes outwards at the top of the wall. The flying buttress is a half-arch, outside the church, that catches this push and carries it over the side aisle to a heavy pier.
Together, they make a stone skeleton with its bones on the outside. Now the walls are free to become windows. Let me show you all three working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OF 13  ·  FOLLOW THE FORCE
About 1:20 on this slide  ·  clock 6:10 to 7:30
Say the text below word for word. Words in [brackets] are actions: do them, do not read them out.
This is the technical heart of my talk, so I will go slowly. [Point to the drawing.]
This is a cross-section through the nave, like cutting the cathedral with a knife. Let's follow the force, like water running downhill.
One: the stone vault is heavy. It pushes down and outwards, at the top of the wall.
Two: at exactly that height, the flying buttress catches the push and sends it diagonally down, over the side aisle.
Three: the pinnacle, the small spire on the outer pier. It looks like decoration, but its weight presses down on the pier and keeps the force inside it, so the pier does not tip over.
Four: the pier brings everything to the ground.
So what is left for the wall to do? Almost nothing. That is why it can be filled with glass.
Look at the three levels inside: the arcade at the bottom, the triforium, a narrow passage, in the middle, and at the top the clerestory [say "CLEAR-story"], the high windows that bring in the light.
A cathedral is an exoskeleton, like a crab. And what does this skeleton give us?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OF 13  ·  WALLS MADE OF LIGHT
About 1:15 on this slide  ·  clock 7:30 to 8:45
Say the text below word for word. Words in [brackets] are actions: do them, do not read them out.
Remember Suger: light is divine. All this structure exists to give us this: walls made of light.
How is stained glass made? The glassmakers added metal oxides to melted glass. Cobalt gives blue, and copper gives red. The pieces were joined with strips of lead and held in stone patterns. When the sun shines, coloured light moves across the floor. The building changes with the hour.
The windows were also books. Most people could not read, so the glass told Bible stories in pictures.
The best example is the Sainte-Chapelle in Paris, built between 1241 and 1248 for King Louis the Ninth, to hold what he believed was the Crown of Thorns. [Point to the numbers.] Fifteen windows, fifteen metres tall, and 1,113 scenes. Inside, it feels like a jewellery box.
The round window is a rose window: a circle of stone patterns holding glass.
If you remember only one thing from my talk: in Gothic, light is a building material.
Now let's walk inside and learn how to read a cathedral.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OF 13  ·  READING A CATHEDRAL
About 1:15 on this slide  ·  clock 8:45 to 10:00
Say the text below word for word. Words in [brackets] are actions: do them, do not read them out.
[Use your hand to "walk" on the plan.]
On the left, the plan. It is a Latin cross: a long arm and a short arm. It symbolises the cross of Christ. The altar is at the east end, towards the sunrise and Jerusalem.
Walk with me from the main door, in the west. Number five, the west front. You enter the nave, number one: the long hall for the people, with an aisle on each side. Then the transept, number two: the arms of the cross. Then the choir, number three: the place for the clergy and the altar. And around the end, number four: the ambulatory and the radiating chapels. The ambulatory lets pilgrims walk around and see the relics without disturbing the service.
Now the facade, on the right. A: three deep portals, covered with sculpture. Above the central door you often find the Last Judgement. People who could not read learned the Christian story from the stone. B: the rose window. C: the two towers, like Notre-Dame.
But who built all this, and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OF 13  ·  BUILT BY GENERATIONS, NOT BY ONE GENIUS
About 1:15 on this slide  ·  clock 10:00 to 11:15
Say the text below word for word. Words in [brackets] are actions: do them, do not read them out.
How do you build this with no computer and no engine? Five steps.
One, money. The bishop, the king, the guilds and the pilgrims paid. Often the money ran out, and work stopped for years.
Two, design. There was no architect with a diploma. There was the master mason: designer, engineer and site manager in one. He used geometry: compass, straightedge, circles, squares and triangles. The same tools we use in our drawing class! He even drew full-size templates on plaster floors.
Three, carving. The masons cut each stone on the ground and marked it with a personal sign, so they could be paid.
Four, lifting. Treadwheel cranes, like giant hamster wheels with workers walking inside. Arches were built on wooden frames, called centering, removed when the keystone was in place.
Five, time. Notre-Dame took about 180 years. Cologne, on the right, took 632. A mason who started a cathedral knew that he would never see it finished. Gothic is architecture across generations.
But sometimes, the ambition went too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OF 13  ·  THE RACE TO THE SKY
About 1:00 on this slide  ·  clock 11:15 to 12:15
Say the text below word for word. Words in [brackets] are actions: do them, do not read them out.
Here is the race to the sky. [Point to the chart.] The height of the main vault: Notre-Dame, 33 metres. Chartres, 37. Reims, 38. Amiens, 42. And Beauvais, 48 metres. In about 60 years, the height grew by almost half. The bishops wanted to beat each other.
But Beauvais went too far. In 1284, only twelve years after the choir was finished, part of the vault collapsed. The builders added extra piers, but the cathedral was never completed.
Why did this happen? There was no mathematics of structures yet. The masons learned by trial and error, and every collapse was a lesson. This is how structural engineering was born: building, failing, and improving.
As students, I find this inspiring: every bold idea has a risk.
So, what happened to Gothic after the Middle 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OF 13  ·  SPREAD, DECLINE AND REBIRTH
About 1:05 on this slide  ·  clock 12:15 to 13:20
Say the text below word for word. Words in [brackets] are actions: do them, do not read them out.
The story has three acts. [Point to the three pictures: Cologne, a Renaissance dome, and the clock tower of the Houses of Parliament.]
Act one, spread. From France, Gothic travels across Europe, and each country adds its own accent: Salisbury and Westminster in England, Cologne in Germany, the Duomo in Milan, and Seville in Spain, the largest Gothic cathedral in the world.
Act two, decline. In the 1400s, the Renaissance looked back to ancient Rome: columns, domes, symmetry. For writers like Vasari, medieval buildings were barbaric. They called them "Gothic", after the Goths who destroyed Rome. So the name we use today started as an insult!
Act three, rebirth. In the 1800s, Europe fell in love with the Middle Ages again. The Houses of Parliament in London are Gothic Revival. Viollet-le-Duc [say "vee-oh-LAY luh DUKE"] restored Notre-Dame. Gaudí began the Sagrada Família in 1882. And in April 2019, a terrible fire hit Notre-Dame. After five years of work, it reopened in December 2024.
So, what do we keep from Gothic?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OF 13  ·  WHAT GOTHIC TEACHES AN ARCHITECT
About 0:40 on this slide  ·  clock 13:20 to 14:00
Say the text below word for word. Words in [brackets] are actions: do them, do not read them out.
[Speak slowly and confidently.]
In one sentence: the Gothic builders took the heaviest material, stone, and turned it into light.
Three lessons for future architects.
One: structure can be beauty. In Gothic, the skeleton is the design. A frame with a glass skin is the ancestor of the modern skyscraper.
Two: light is a material. Think about how you will use light in your own projects.
Three: great architecture can take generations. It needs hundreds of hands and one shared dream.
Thank you very much for your attention. I am happy to answer your questions.
----------
IF SOMEONE ASKS (short answers, not to be read out)
Q: What is the difference between Gothic and Romanesque?
A: Romanesque has round arches, thick walls and small windows. Gothic has pointed arches, ribbed vaults, flying buttresses and big windows.
Q: Why are there gargoyles?
A: They are water spouts. They throw the rainwater away from the walls. They also had a symbolic role: protecting the church from evil.
Q: Why was the Notre-Dame fire so serious?
A: The roof frame, mostly 13th-century oak, burned and the spire collapsed. The stone vaults stopped most of the fire from reaching the inside.
Q: Why did cathedrals take so long to build?
A: Money came slowly from donations, and building stopped in winter, during wars and after the Black Death. Many were finished by the grandchildren of the first builders.
Q: Is the pointed arch really stronger than the round arch?
A: It pushes less sideways for the same span, so thinner supports can carry it. The round arch is not weak, but it needs more mass to resist its thrust.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this slide. Keep it for questions, or for your teacher.
All illustrations in this presentation were drawn for it. If your teacher asks for exact sources, check the construction dates and the vault heights of each cathedral in the books listed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TITLE_SLIDE-image-1.jpe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CLOSE-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2F0E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621792"/>
            <a:ext cx="1088136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txBox="1"/>
          <p:nvPr/>
        </p:nvSpPr>
        <p:spPr>
          <a:xfrm>
            <a:off x="640080" y="6419088"/>
            <a:ext cx="3657600" cy="274320"/>
          </a:xfrm>
          <a:prstGeom prst="rect">
            <a:avLst/>
          </a:prstGeom>
          <a:noFill/>
          <a:ln/>
        </p:spPr>
        <p:txBody>
          <a:bodyPr wrap="square" lIns="0" tIns="0" rIns="0" bIns="0" rtlCol="0" anchor="ctr"/>
          <a:lstStyle/>
          <a:p>
            <a:pPr indent="0" marL="0">
              <a:buNone/>
            </a:pPr>
            <a:r>
              <a:rPr lang="en-US" sz="1000" spc="400" kern="0" dirty="0">
                <a:solidFill>
                  <a:schemeClr val="tx2"/>
                </a:solidFill>
              </a:rPr>
              <a:t>GOTHIC ARCHITECTURE</a:t>
            </a:r>
            <a:endParaRPr lang="en-US" sz="10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877"/>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R">
    <p:bg>
      <p:bgPr>
        <a:solidFill>
          <a:srgbClr val="0E11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0" y="640080"/>
            <a:ext cx="6126480" cy="1280160"/>
          </a:xfrm>
          <a:prstGeom prst="rect">
            <a:avLst/>
          </a:prstGeom>
          <a:noFill/>
          <a:ln/>
        </p:spPr>
        <p:txBody>
          <a:bodyPr wrap="square" rtlCol="0"/>
          <a:lstStyle>
            <a:lvl1pPr algn="l" indent="0" marL="0">
              <a:buNone/>
              <a:defRPr lang="en-US" sz="3400" b="1" dirty="0">
                <a:solidFill>
                  <a:srgbClr val="F7F3EA"/>
                </a:solidFill>
              </a:defRPr>
            </a:lvl1pPr>
          </a:lstStyle>
          <a:p>
            <a:pPr algn="l" indent="0" marL="0">
              <a:buNone/>
            </a:pPr>
            <a:endParaRPr lang="en-US" sz="3400" dirty="0"/>
          </a:p>
        </p:txBody>
      </p:sp>
      <p:sp>
        <p:nvSpPr>
          <p:cNvPr id="3" name="Text 0"/>
          <p:cNvSpPr txBox="1"/>
          <p:nvPr/>
        </p:nvSpPr>
        <p:spPr>
          <a:xfrm>
            <a:off x="640080" y="6419088"/>
            <a:ext cx="3657600" cy="274320"/>
          </a:xfrm>
          <a:prstGeom prst="rect">
            <a:avLst/>
          </a:prstGeom>
          <a:noFill/>
          <a:ln/>
        </p:spPr>
        <p:txBody>
          <a:bodyPr wrap="square" lIns="0" tIns="0" rIns="0" bIns="0" rtlCol="0" anchor="ctr"/>
          <a:lstStyle/>
          <a:p>
            <a:pPr indent="0" marL="0">
              <a:buNone/>
            </a:pPr>
            <a:r>
              <a:rPr lang="en-US" sz="1000" spc="400" kern="0" dirty="0">
                <a:solidFill>
                  <a:srgbClr val="B8B3C6"/>
                </a:solidFill>
              </a:rPr>
              <a:t>GOTHIC ARCHITECTURE</a:t>
            </a:r>
            <a:endParaRPr lang="en-US" sz="10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B3C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_SLID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400800" cy="2286000"/>
          </a:xfrm>
          <a:prstGeom prst="rect">
            <a:avLst/>
          </a:prstGeom>
          <a:noFill/>
          <a:ln/>
        </p:spPr>
        <p:txBody>
          <a:bodyPr wrap="square" rtlCol="0"/>
          <a:lstStyle>
            <a:lvl1pPr algn="l" indent="0" marL="0">
              <a:buNone/>
              <a:defRPr lang="en-US" sz="6600" b="1" dirty="0">
                <a:solidFill>
                  <a:srgbClr val="FFFFFF"/>
                </a:solidFill>
              </a:defRPr>
            </a:lvl1pPr>
          </a:lstStyle>
          <a:p>
            <a:pPr algn="l" indent="0" marL="0">
              <a:buNone/>
            </a:pPr>
            <a:endParaRPr lang="en-US" sz="6600" dirty="0"/>
          </a:p>
        </p:txBody>
      </p:sp>
      <p:sp>
        <p:nvSpPr>
          <p:cNvPr id="3" name="Text 0"/>
          <p:cNvSpPr/>
          <p:nvPr>
            <p:ph idx="101" type="body" hasCustomPrompt="1"/>
          </p:nvPr>
        </p:nvSpPr>
        <p:spPr>
          <a:xfrm>
            <a:off x="731520" y="3840480"/>
            <a:ext cx="5852160" cy="914400"/>
          </a:xfrm>
          <a:prstGeom prst="rect">
            <a:avLst/>
          </a:prstGeom>
          <a:noFill/>
          <a:ln/>
        </p:spPr>
        <p:txBody>
          <a:bodyPr wrap="square" rtlCol="0"/>
          <a:lstStyle>
            <a:lvl1pPr algn="l" indent="0" marL="0">
              <a:buNone/>
              <a:defRPr lang="en-US" sz="2400" i="1" dirty="0">
                <a:solidFill>
                  <a:srgbClr val="FFDDA8"/>
                </a:solidFill>
              </a:defRPr>
            </a:lvl1pPr>
          </a:lstStyle>
          <a:p>
            <a:pPr algn="l" indent="0" marL="0">
              <a:buNone/>
            </a:pPr>
            <a:endParaRPr lang="en-US" sz="2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731520"/>
            <a:ext cx="6583680" cy="1737360"/>
          </a:xfrm>
          <a:prstGeom prst="rect">
            <a:avLst/>
          </a:prstGeom>
          <a:noFill/>
          <a:ln/>
        </p:spPr>
        <p:txBody>
          <a:bodyPr wrap="square" rtlCol="0"/>
          <a:lstStyle>
            <a:lvl1pPr algn="l" indent="0" marL="0">
              <a:buNone/>
              <a:defRPr lang="en-US" sz="4400" b="1" dirty="0">
                <a:solidFill>
                  <a:srgbClr val="FFFFFF"/>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877"/>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05840"/>
            <a:ext cx="5943600" cy="320040"/>
          </a:xfrm>
          <a:prstGeom prst="rect">
            <a:avLst/>
          </a:prstGeom>
          <a:noFill/>
          <a:ln/>
        </p:spPr>
        <p:txBody>
          <a:bodyPr wrap="square" lIns="0" tIns="0" rIns="0" bIns="0" rtlCol="0" anchor="t"/>
          <a:lstStyle/>
          <a:p>
            <a:pPr indent="0" marL="0">
              <a:buNone/>
            </a:pPr>
            <a:r>
              <a:rPr lang="en-US" sz="1300" b="1" spc="400" kern="0" dirty="0">
                <a:solidFill>
                  <a:srgbClr val="F0B35A"/>
                </a:solidFill>
              </a:rPr>
              <a:t>FIRST-YEAR ARCHITECTURE  ·  HISTORY</a:t>
            </a:r>
            <a:endParaRPr lang="en-US" sz="1300" dirty="0"/>
          </a:p>
        </p:txBody>
      </p:sp>
      <p:sp>
        <p:nvSpPr>
          <p:cNvPr id="3" name="Text 0"/>
          <p:cNvSpPr/>
          <p:nvPr>
            <p:ph idx="100" type="title" hasCustomPrompt="1"/>
          </p:nvPr>
        </p:nvSpPr>
        <p:spPr>
          <a:xfrm>
            <a:off x="731520" y="1463040"/>
            <a:ext cx="6400800" cy="2286000"/>
          </a:xfrm>
          <a:prstGeom prst="rect">
            <a:avLst/>
          </a:prstGeom>
          <a:noFill/>
          <a:ln/>
        </p:spPr>
        <p:txBody>
          <a:bodyPr wrap="square" lIns="0" tIns="0" rIns="0" bIns="0" rtlCol="0" anchor="t"/>
          <a:lstStyle/>
          <a:p>
            <a:pPr algn="l" indent="0" marL="0">
              <a:buNone/>
            </a:pPr>
            <a:r>
              <a:rPr lang="en-US" sz="6600" b="1" dirty="0">
                <a:solidFill>
                  <a:srgbClr val="FFFFFF"/>
                </a:solidFill>
              </a:rPr>
              <a:t>Gothic Architecture</a:t>
            </a:r>
            <a:endParaRPr lang="en-US" sz="6600" dirty="0"/>
          </a:p>
        </p:txBody>
      </p:sp>
      <p:sp>
        <p:nvSpPr>
          <p:cNvPr id="4" name="Text 0"/>
          <p:cNvSpPr/>
          <p:nvPr>
            <p:ph idx="101" type="body" hasCustomPrompt="1"/>
          </p:nvPr>
        </p:nvSpPr>
        <p:spPr>
          <a:xfrm>
            <a:off x="731520" y="3840480"/>
            <a:ext cx="5852160" cy="914400"/>
          </a:xfrm>
          <a:prstGeom prst="rect">
            <a:avLst/>
          </a:prstGeom>
          <a:noFill/>
          <a:ln/>
        </p:spPr>
        <p:txBody>
          <a:bodyPr wrap="square" lIns="0" tIns="0" rIns="0" bIns="0" rtlCol="0" anchor="t"/>
          <a:lstStyle/>
          <a:p>
            <a:pPr algn="l" indent="0" marL="0">
              <a:buNone/>
            </a:pPr>
            <a:r>
              <a:rPr lang="en-US" sz="2400" i="1" dirty="0">
                <a:solidFill>
                  <a:srgbClr val="FFDDA8"/>
                </a:solidFill>
              </a:rPr>
              <a:t>Stone, light and the race towards heaven</a:t>
            </a:r>
            <a:endParaRPr lang="en-US" sz="2400" dirty="0"/>
          </a:p>
        </p:txBody>
      </p:sp>
      <p:sp>
        <p:nvSpPr>
          <p:cNvPr id="5" name="Text 3"/>
          <p:cNvSpPr txBox="1"/>
          <p:nvPr/>
        </p:nvSpPr>
        <p:spPr>
          <a:xfrm>
            <a:off x="731520" y="4983480"/>
            <a:ext cx="5669280" cy="365760"/>
          </a:xfrm>
          <a:prstGeom prst="rect">
            <a:avLst/>
          </a:prstGeom>
          <a:noFill/>
          <a:ln/>
        </p:spPr>
        <p:txBody>
          <a:bodyPr wrap="square" lIns="0" tIns="0" rIns="0" bIns="0" rtlCol="0" anchor="t"/>
          <a:lstStyle/>
          <a:p>
            <a:pPr indent="0" marL="0">
              <a:buNone/>
            </a:pPr>
            <a:r>
              <a:rPr lang="en-US" sz="1500" dirty="0">
                <a:solidFill>
                  <a:srgbClr val="F1ECF7"/>
                </a:solidFill>
              </a:rPr>
              <a:t>Presented by [Your name]   ·   [Date]</a:t>
            </a:r>
            <a:endParaRPr lang="en-US" sz="15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347472"/>
            <a:ext cx="7315200" cy="274320"/>
          </a:xfrm>
          <a:prstGeom prst="rect">
            <a:avLst/>
          </a:prstGeom>
          <a:noFill/>
          <a:ln/>
        </p:spPr>
        <p:txBody>
          <a:bodyPr wrap="square" lIns="0" tIns="0" rIns="0" bIns="0" rtlCol="0" anchor="t"/>
          <a:lstStyle/>
          <a:p>
            <a:pPr indent="0" marL="0">
              <a:buNone/>
            </a:pPr>
            <a:r>
              <a:rPr lang="en-US" sz="1200" b="1" spc="400" kern="0" dirty="0">
                <a:solidFill>
                  <a:schemeClr val="accent2"/>
                </a:solidFill>
              </a:rPr>
              <a:t>WHY GOTHIC?</a:t>
            </a:r>
            <a:endParaRPr lang="en-US" sz="1200" dirty="0"/>
          </a:p>
        </p:txBody>
      </p:sp>
      <p:sp>
        <p:nvSpPr>
          <p:cNvPr id="3" name="Text 0"/>
          <p:cNvSpPr/>
          <p:nvPr>
            <p:ph idx="100" type="title" hasCustomPrompt="1"/>
          </p:nvPr>
        </p:nvSpPr>
        <p:spPr>
          <a:xfrm>
            <a:off x="640080" y="621792"/>
            <a:ext cx="10881360" cy="731520"/>
          </a:xfrm>
          <a:prstGeom prst="rect">
            <a:avLst/>
          </a:prstGeom>
          <a:noFill/>
          <a:ln/>
        </p:spPr>
        <p:txBody>
          <a:bodyPr wrap="square" lIns="0" tIns="0" rIns="0" bIns="0" rtlCol="0" anchor="ctr"/>
          <a:lstStyle/>
          <a:p>
            <a:pPr algn="l" indent="0" marL="0">
              <a:buNone/>
            </a:pPr>
            <a:r>
              <a:rPr lang="en-US" sz="3400" b="1" dirty="0">
                <a:solidFill>
                  <a:schemeClr val="tx1"/>
                </a:solidFill>
              </a:rPr>
              <a:t>Why does it still give us chills?</a:t>
            </a:r>
            <a:endParaRPr lang="en-US" sz="3400" dirty="0"/>
          </a:p>
        </p:txBody>
      </p:sp>
      <p:pic>
        <p:nvPicPr>
          <p:cNvPr id="4" name="Image 0" descr="Twin spires of a Gothic cathedral at dusk">    </p:cNvPr>
          <p:cNvPicPr>
            <a:picLocks noChangeAspect="1"/>
          </p:cNvPicPr>
          <p:nvPr/>
        </p:nvPicPr>
        <p:blipFill>
          <a:blip r:embed="rId1"/>
          <a:stretch>
            <a:fillRect/>
          </a:stretch>
        </p:blipFill>
        <p:spPr>
          <a:xfrm>
            <a:off x="640080" y="1481328"/>
            <a:ext cx="3429000" cy="4732020"/>
          </a:xfrm>
          <a:prstGeom prst="rect">
            <a:avLst/>
          </a:prstGeom>
        </p:spPr>
      </p:pic>
      <p:sp>
        <p:nvSpPr>
          <p:cNvPr id="5" name="Hairline"/>
          <p:cNvSpPr/>
          <p:nvPr/>
        </p:nvSpPr>
        <p:spPr>
          <a:xfrm>
            <a:off x="4572000" y="1508760"/>
            <a:ext cx="3200400" cy="0"/>
          </a:xfrm>
          <a:prstGeom prst="line">
            <a:avLst/>
          </a:prstGeom>
          <a:noFill/>
          <a:ln w="9525">
            <a:solidFill>
              <a:srgbClr val="1B1A24"/>
            </a:solidFill>
            <a:prstDash val="solid"/>
          </a:ln>
        </p:spPr>
      </p:sp>
      <p:sp>
        <p:nvSpPr>
          <p:cNvPr id="6" name="Text 3"/>
          <p:cNvSpPr txBox="1"/>
          <p:nvPr/>
        </p:nvSpPr>
        <p:spPr>
          <a:xfrm>
            <a:off x="4572000" y="1618488"/>
            <a:ext cx="3200400" cy="914400"/>
          </a:xfrm>
          <a:prstGeom prst="rect">
            <a:avLst/>
          </a:prstGeom>
          <a:noFill/>
          <a:ln/>
        </p:spPr>
        <p:txBody>
          <a:bodyPr wrap="square" lIns="0" tIns="0" rIns="0" bIns="0" rtlCol="0" anchor="ctr"/>
          <a:lstStyle/>
          <a:p>
            <a:pPr indent="0" marL="0">
              <a:buNone/>
            </a:pPr>
            <a:r>
              <a:rPr lang="en-US" sz="5200" b="1" dirty="0">
                <a:solidFill>
                  <a:schemeClr val="accent1"/>
                </a:solidFill>
                <a:latin typeface="Cambria" pitchFamily="34" charset="0"/>
                <a:ea typeface="Cambria" pitchFamily="34" charset="-122"/>
                <a:cs typeface="Cambria" pitchFamily="34" charset="-120"/>
              </a:rPr>
              <a:t>1140</a:t>
            </a:r>
            <a:endParaRPr lang="en-US" sz="5200" dirty="0"/>
          </a:p>
        </p:txBody>
      </p:sp>
      <p:sp>
        <p:nvSpPr>
          <p:cNvPr id="7" name="Text 4"/>
          <p:cNvSpPr txBox="1"/>
          <p:nvPr/>
        </p:nvSpPr>
        <p:spPr>
          <a:xfrm>
            <a:off x="4572000" y="2560320"/>
            <a:ext cx="3108960" cy="731520"/>
          </a:xfrm>
          <a:prstGeom prst="rect">
            <a:avLst/>
          </a:prstGeom>
          <a:noFill/>
          <a:ln/>
        </p:spPr>
        <p:txBody>
          <a:bodyPr wrap="square" lIns="0" tIns="0" rIns="0" bIns="0" rtlCol="0" anchor="t"/>
          <a:lstStyle/>
          <a:p>
            <a:pPr indent="0" marL="0">
              <a:buNone/>
            </a:pPr>
            <a:r>
              <a:rPr lang="en-US" sz="1600" dirty="0">
                <a:solidFill>
                  <a:schemeClr val="tx1"/>
                </a:solidFill>
              </a:rPr>
              <a:t>Abbot Suger starts rebuilding Saint-Denis, near Paris</a:t>
            </a:r>
            <a:endParaRPr lang="en-US" sz="1600" dirty="0"/>
          </a:p>
        </p:txBody>
      </p:sp>
      <p:sp>
        <p:nvSpPr>
          <p:cNvPr id="8" name="Hairline"/>
          <p:cNvSpPr/>
          <p:nvPr/>
        </p:nvSpPr>
        <p:spPr>
          <a:xfrm>
            <a:off x="8138160" y="1508760"/>
            <a:ext cx="3200400" cy="0"/>
          </a:xfrm>
          <a:prstGeom prst="line">
            <a:avLst/>
          </a:prstGeom>
          <a:noFill/>
          <a:ln w="9525">
            <a:solidFill>
              <a:srgbClr val="1B1A24"/>
            </a:solidFill>
            <a:prstDash val="solid"/>
          </a:ln>
        </p:spPr>
      </p:sp>
      <p:sp>
        <p:nvSpPr>
          <p:cNvPr id="9" name="Text 6"/>
          <p:cNvSpPr txBox="1"/>
          <p:nvPr/>
        </p:nvSpPr>
        <p:spPr>
          <a:xfrm>
            <a:off x="8138160" y="1618488"/>
            <a:ext cx="3200400" cy="914400"/>
          </a:xfrm>
          <a:prstGeom prst="rect">
            <a:avLst/>
          </a:prstGeom>
          <a:noFill/>
          <a:ln/>
        </p:spPr>
        <p:txBody>
          <a:bodyPr wrap="square" lIns="0" tIns="0" rIns="0" bIns="0" rtlCol="0" anchor="ctr"/>
          <a:lstStyle/>
          <a:p>
            <a:pPr indent="0" marL="0">
              <a:buNone/>
            </a:pPr>
            <a:r>
              <a:rPr lang="en-US" sz="5200" b="1" dirty="0">
                <a:solidFill>
                  <a:schemeClr val="accent1"/>
                </a:solidFill>
                <a:latin typeface="Cambria" pitchFamily="34" charset="0"/>
                <a:ea typeface="Cambria" pitchFamily="34" charset="-122"/>
                <a:cs typeface="Cambria" pitchFamily="34" charset="-120"/>
              </a:rPr>
              <a:t>≈ 400</a:t>
            </a:r>
            <a:endParaRPr lang="en-US" sz="5200" dirty="0"/>
          </a:p>
        </p:txBody>
      </p:sp>
      <p:sp>
        <p:nvSpPr>
          <p:cNvPr id="10" name="Text 7"/>
          <p:cNvSpPr txBox="1"/>
          <p:nvPr/>
        </p:nvSpPr>
        <p:spPr>
          <a:xfrm>
            <a:off x="8138160" y="2560320"/>
            <a:ext cx="3108960" cy="731520"/>
          </a:xfrm>
          <a:prstGeom prst="rect">
            <a:avLst/>
          </a:prstGeom>
          <a:noFill/>
          <a:ln/>
        </p:spPr>
        <p:txBody>
          <a:bodyPr wrap="square" lIns="0" tIns="0" rIns="0" bIns="0" rtlCol="0" anchor="t"/>
          <a:lstStyle/>
          <a:p>
            <a:pPr indent="0" marL="0">
              <a:buNone/>
            </a:pPr>
            <a:r>
              <a:rPr lang="en-US" sz="1600" dirty="0">
                <a:solidFill>
                  <a:schemeClr val="tx1"/>
                </a:solidFill>
              </a:rPr>
              <a:t>years of Gothic building across Europe</a:t>
            </a:r>
            <a:endParaRPr lang="en-US" sz="1600" dirty="0"/>
          </a:p>
        </p:txBody>
      </p:sp>
      <p:sp>
        <p:nvSpPr>
          <p:cNvPr id="11" name="Hairline"/>
          <p:cNvSpPr/>
          <p:nvPr/>
        </p:nvSpPr>
        <p:spPr>
          <a:xfrm>
            <a:off x="4572000" y="3383280"/>
            <a:ext cx="3200400" cy="0"/>
          </a:xfrm>
          <a:prstGeom prst="line">
            <a:avLst/>
          </a:prstGeom>
          <a:noFill/>
          <a:ln w="9525">
            <a:solidFill>
              <a:srgbClr val="1B1A24"/>
            </a:solidFill>
            <a:prstDash val="solid"/>
          </a:ln>
        </p:spPr>
      </p:sp>
      <p:sp>
        <p:nvSpPr>
          <p:cNvPr id="12" name="Text 9"/>
          <p:cNvSpPr txBox="1"/>
          <p:nvPr/>
        </p:nvSpPr>
        <p:spPr>
          <a:xfrm>
            <a:off x="4572000" y="3493008"/>
            <a:ext cx="3200400" cy="914400"/>
          </a:xfrm>
          <a:prstGeom prst="rect">
            <a:avLst/>
          </a:prstGeom>
          <a:noFill/>
          <a:ln/>
        </p:spPr>
        <p:txBody>
          <a:bodyPr wrap="square" lIns="0" tIns="0" rIns="0" bIns="0" rtlCol="0" anchor="ctr"/>
          <a:lstStyle/>
          <a:p>
            <a:pPr indent="0" marL="0">
              <a:buNone/>
            </a:pPr>
            <a:r>
              <a:rPr lang="en-US" sz="5200" b="1" dirty="0">
                <a:solidFill>
                  <a:schemeClr val="accent1"/>
                </a:solidFill>
                <a:latin typeface="Cambria" pitchFamily="34" charset="0"/>
                <a:ea typeface="Cambria" pitchFamily="34" charset="-122"/>
                <a:cs typeface="Cambria" pitchFamily="34" charset="-120"/>
              </a:rPr>
              <a:t>48 m</a:t>
            </a:r>
            <a:endParaRPr lang="en-US" sz="5200" dirty="0"/>
          </a:p>
        </p:txBody>
      </p:sp>
      <p:sp>
        <p:nvSpPr>
          <p:cNvPr id="13" name="Text 10"/>
          <p:cNvSpPr txBox="1"/>
          <p:nvPr/>
        </p:nvSpPr>
        <p:spPr>
          <a:xfrm>
            <a:off x="4572000" y="4434840"/>
            <a:ext cx="3108960" cy="731520"/>
          </a:xfrm>
          <a:prstGeom prst="rect">
            <a:avLst/>
          </a:prstGeom>
          <a:noFill/>
          <a:ln/>
        </p:spPr>
        <p:txBody>
          <a:bodyPr wrap="square" lIns="0" tIns="0" rIns="0" bIns="0" rtlCol="0" anchor="t"/>
          <a:lstStyle/>
          <a:p>
            <a:pPr indent="0" marL="0">
              <a:buNone/>
            </a:pPr>
            <a:r>
              <a:rPr lang="en-US" sz="1600" dirty="0">
                <a:solidFill>
                  <a:schemeClr val="tx1"/>
                </a:solidFill>
              </a:rPr>
              <a:t>Beauvais: the highest Gothic vault ever built</a:t>
            </a:r>
            <a:endParaRPr lang="en-US" sz="1600" dirty="0"/>
          </a:p>
        </p:txBody>
      </p:sp>
      <p:sp>
        <p:nvSpPr>
          <p:cNvPr id="14" name="Hairline"/>
          <p:cNvSpPr/>
          <p:nvPr/>
        </p:nvSpPr>
        <p:spPr>
          <a:xfrm>
            <a:off x="8138160" y="3383280"/>
            <a:ext cx="3200400" cy="0"/>
          </a:xfrm>
          <a:prstGeom prst="line">
            <a:avLst/>
          </a:prstGeom>
          <a:noFill/>
          <a:ln w="9525">
            <a:solidFill>
              <a:srgbClr val="1B1A24"/>
            </a:solidFill>
            <a:prstDash val="solid"/>
          </a:ln>
        </p:spPr>
      </p:sp>
      <p:sp>
        <p:nvSpPr>
          <p:cNvPr id="15" name="Text 12"/>
          <p:cNvSpPr txBox="1"/>
          <p:nvPr/>
        </p:nvSpPr>
        <p:spPr>
          <a:xfrm>
            <a:off x="8138160" y="3493008"/>
            <a:ext cx="3200400" cy="914400"/>
          </a:xfrm>
          <a:prstGeom prst="rect">
            <a:avLst/>
          </a:prstGeom>
          <a:noFill/>
          <a:ln/>
        </p:spPr>
        <p:txBody>
          <a:bodyPr wrap="square" lIns="0" tIns="0" rIns="0" bIns="0" rtlCol="0" anchor="ctr"/>
          <a:lstStyle/>
          <a:p>
            <a:pPr indent="0" marL="0">
              <a:buNone/>
            </a:pPr>
            <a:r>
              <a:rPr lang="en-US" sz="5200" b="1" dirty="0">
                <a:solidFill>
                  <a:schemeClr val="accent1"/>
                </a:solidFill>
                <a:latin typeface="Cambria" pitchFamily="34" charset="0"/>
                <a:ea typeface="Cambria" pitchFamily="34" charset="-122"/>
                <a:cs typeface="Cambria" pitchFamily="34" charset="-120"/>
              </a:rPr>
              <a:t>632</a:t>
            </a:r>
            <a:endParaRPr lang="en-US" sz="5200" dirty="0"/>
          </a:p>
        </p:txBody>
      </p:sp>
      <p:sp>
        <p:nvSpPr>
          <p:cNvPr id="16" name="Text 13"/>
          <p:cNvSpPr txBox="1"/>
          <p:nvPr/>
        </p:nvSpPr>
        <p:spPr>
          <a:xfrm>
            <a:off x="8138160" y="4434840"/>
            <a:ext cx="3108960" cy="731520"/>
          </a:xfrm>
          <a:prstGeom prst="rect">
            <a:avLst/>
          </a:prstGeom>
          <a:noFill/>
          <a:ln/>
        </p:spPr>
        <p:txBody>
          <a:bodyPr wrap="square" lIns="0" tIns="0" rIns="0" bIns="0" rtlCol="0" anchor="t"/>
          <a:lstStyle/>
          <a:p>
            <a:pPr indent="0" marL="0">
              <a:buNone/>
            </a:pPr>
            <a:r>
              <a:rPr lang="en-US" sz="1600" dirty="0">
                <a:solidFill>
                  <a:schemeClr val="tx1"/>
                </a:solidFill>
              </a:rPr>
              <a:t>years to finish Cologne Cathedral (1248–1880)</a:t>
            </a:r>
            <a:endParaRPr lang="en-US" sz="1600" dirty="0"/>
          </a:p>
        </p:txBody>
      </p:sp>
      <p:sp>
        <p:nvSpPr>
          <p:cNvPr id="17" name="Hairline"/>
          <p:cNvSpPr/>
          <p:nvPr/>
        </p:nvSpPr>
        <p:spPr>
          <a:xfrm>
            <a:off x="4572000" y="5321808"/>
            <a:ext cx="6766560" cy="0"/>
          </a:xfrm>
          <a:prstGeom prst="line">
            <a:avLst/>
          </a:prstGeom>
          <a:noFill/>
          <a:ln w="9525">
            <a:solidFill>
              <a:srgbClr val="CFCABD"/>
            </a:solidFill>
            <a:prstDash val="solid"/>
          </a:ln>
        </p:spPr>
      </p:sp>
      <p:sp>
        <p:nvSpPr>
          <p:cNvPr id="18" name="Text 15"/>
          <p:cNvSpPr txBox="1"/>
          <p:nvPr/>
        </p:nvSpPr>
        <p:spPr>
          <a:xfrm>
            <a:off x="4572000" y="5504688"/>
            <a:ext cx="7040880" cy="365760"/>
          </a:xfrm>
          <a:prstGeom prst="rect">
            <a:avLst/>
          </a:prstGeom>
          <a:noFill/>
          <a:ln/>
        </p:spPr>
        <p:txBody>
          <a:bodyPr wrap="square" lIns="0" tIns="0" rIns="0" bIns="0" rtlCol="0" anchor="t"/>
          <a:lstStyle/>
          <a:p>
            <a:pPr indent="0" marL="0">
              <a:buNone/>
            </a:pPr>
            <a:r>
              <a:rPr lang="en-US" sz="1500" b="1" spc="300" kern="0" dirty="0">
                <a:solidFill>
                  <a:schemeClr val="accent2"/>
                </a:solidFill>
              </a:rPr>
              <a:t>TODAY   </a:t>
            </a:r>
            <a:pPr indent="0" marL="0">
              <a:buNone/>
            </a:pPr>
            <a:r>
              <a:rPr lang="en-US" sz="1500" dirty="0">
                <a:solidFill>
                  <a:schemeClr val="tx1"/>
                </a:solidFill>
              </a:rPr>
              <a:t>Origins &amp; faith   →   Structure   →   Space &amp; making   →   Legacy</a:t>
            </a:r>
            <a:endParaRPr lang="en-US" sz="15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877"/>
                </a:solidFill>
              </a:defRPr>
            </a:lvl1pPr>
          </a:lstStyle>
          <a:p>
            <a:pPr algn="r"/>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347472"/>
            <a:ext cx="7315200" cy="274320"/>
          </a:xfrm>
          <a:prstGeom prst="rect">
            <a:avLst/>
          </a:prstGeom>
          <a:noFill/>
          <a:ln/>
        </p:spPr>
        <p:txBody>
          <a:bodyPr wrap="square" lIns="0" tIns="0" rIns="0" bIns="0" rtlCol="0" anchor="t"/>
          <a:lstStyle/>
          <a:p>
            <a:pPr indent="0" marL="0">
              <a:buNone/>
            </a:pPr>
            <a:r>
              <a:rPr lang="en-US" sz="1200" b="1" spc="400" kern="0" dirty="0">
                <a:solidFill>
                  <a:schemeClr val="accent2"/>
                </a:solidFill>
              </a:rPr>
              <a:t>ORIGINS</a:t>
            </a:r>
            <a:endParaRPr lang="en-US" sz="1200" dirty="0"/>
          </a:p>
        </p:txBody>
      </p:sp>
      <p:sp>
        <p:nvSpPr>
          <p:cNvPr id="3" name="Text 0"/>
          <p:cNvSpPr/>
          <p:nvPr>
            <p:ph idx="100" type="title" hasCustomPrompt="1"/>
          </p:nvPr>
        </p:nvSpPr>
        <p:spPr>
          <a:xfrm>
            <a:off x="640080" y="621792"/>
            <a:ext cx="10881360" cy="731520"/>
          </a:xfrm>
          <a:prstGeom prst="rect">
            <a:avLst/>
          </a:prstGeom>
          <a:noFill/>
          <a:ln/>
        </p:spPr>
        <p:txBody>
          <a:bodyPr wrap="square" lIns="0" tIns="0" rIns="0" bIns="0" rtlCol="0" anchor="ctr"/>
          <a:lstStyle/>
          <a:p>
            <a:pPr algn="l" indent="0" marL="0">
              <a:buNone/>
            </a:pPr>
            <a:r>
              <a:rPr lang="en-US" sz="3400" b="1" dirty="0">
                <a:solidFill>
                  <a:schemeClr val="tx1"/>
                </a:solidFill>
              </a:rPr>
              <a:t>Four centuries in four chapters</a:t>
            </a:r>
            <a:endParaRPr lang="en-US" sz="3400" dirty="0"/>
          </a:p>
        </p:txBody>
      </p:sp>
      <p:pic>
        <p:nvPicPr>
          <p:cNvPr id="4" name="Image 0" descr="Early Gothic window style">    </p:cNvPr>
          <p:cNvPicPr>
            <a:picLocks noChangeAspect="1"/>
          </p:cNvPicPr>
          <p:nvPr/>
        </p:nvPicPr>
        <p:blipFill>
          <a:blip r:embed="rId1"/>
          <a:stretch>
            <a:fillRect/>
          </a:stretch>
        </p:blipFill>
        <p:spPr>
          <a:xfrm>
            <a:off x="640080" y="1463040"/>
            <a:ext cx="1436914" cy="1828800"/>
          </a:xfrm>
          <a:prstGeom prst="rect">
            <a:avLst/>
          </a:prstGeom>
        </p:spPr>
      </p:pic>
      <p:sp>
        <p:nvSpPr>
          <p:cNvPr id="5" name="Text 2"/>
          <p:cNvSpPr txBox="1"/>
          <p:nvPr/>
        </p:nvSpPr>
        <p:spPr>
          <a:xfrm>
            <a:off x="640080" y="3429000"/>
            <a:ext cx="256032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1140–1200</a:t>
            </a:r>
            <a:endParaRPr lang="en-US" sz="2600" dirty="0"/>
          </a:p>
        </p:txBody>
      </p:sp>
      <p:sp>
        <p:nvSpPr>
          <p:cNvPr id="6" name="Text 3"/>
          <p:cNvSpPr txBox="1"/>
          <p:nvPr/>
        </p:nvSpPr>
        <p:spPr>
          <a:xfrm>
            <a:off x="640080" y="3931920"/>
            <a:ext cx="2560320" cy="36576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Early Gothic</a:t>
            </a:r>
            <a:endParaRPr lang="en-US" sz="2100" dirty="0"/>
          </a:p>
        </p:txBody>
      </p:sp>
      <p:sp>
        <p:nvSpPr>
          <p:cNvPr id="7" name="Text 4"/>
          <p:cNvSpPr txBox="1"/>
          <p:nvPr/>
        </p:nvSpPr>
        <p:spPr>
          <a:xfrm>
            <a:off x="640080" y="4343400"/>
            <a:ext cx="2560320" cy="365760"/>
          </a:xfrm>
          <a:prstGeom prst="rect">
            <a:avLst/>
          </a:prstGeom>
          <a:noFill/>
          <a:ln/>
        </p:spPr>
        <p:txBody>
          <a:bodyPr wrap="square" lIns="0" tIns="0" rIns="0" bIns="0" rtlCol="0" anchor="t"/>
          <a:lstStyle/>
          <a:p>
            <a:pPr indent="0" marL="0">
              <a:buNone/>
            </a:pPr>
            <a:r>
              <a:rPr lang="en-US" sz="1500" i="1" dirty="0">
                <a:solidFill>
                  <a:schemeClr val="tx2"/>
                </a:solidFill>
              </a:rPr>
              <a:t>Born near Paris</a:t>
            </a:r>
            <a:endParaRPr lang="en-US" sz="1500" dirty="0"/>
          </a:p>
        </p:txBody>
      </p:sp>
      <p:sp>
        <p:nvSpPr>
          <p:cNvPr id="8" name="Hairline"/>
          <p:cNvSpPr/>
          <p:nvPr/>
        </p:nvSpPr>
        <p:spPr>
          <a:xfrm>
            <a:off x="640080" y="4800600"/>
            <a:ext cx="2377440" cy="0"/>
          </a:xfrm>
          <a:prstGeom prst="line">
            <a:avLst/>
          </a:prstGeom>
          <a:noFill/>
          <a:ln w="9525">
            <a:solidFill>
              <a:srgbClr val="CFCABD"/>
            </a:solidFill>
            <a:prstDash val="solid"/>
          </a:ln>
        </p:spPr>
      </p:sp>
      <p:sp>
        <p:nvSpPr>
          <p:cNvPr id="9" name="Text 6"/>
          <p:cNvSpPr txBox="1"/>
          <p:nvPr/>
        </p:nvSpPr>
        <p:spPr>
          <a:xfrm>
            <a:off x="640080" y="4937760"/>
            <a:ext cx="246888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Saint-Denis (1140)</a:t>
            </a:r>
            <a:endParaRPr lang="en-US" sz="1500" dirty="0"/>
          </a:p>
          <a:p>
            <a:pPr marL="342900" indent="-342900">
              <a:spcAft>
                <a:spcPts val="600"/>
              </a:spcAft>
              <a:buSzPct val="100000"/>
              <a:buChar char="•"/>
            </a:pPr>
            <a:r>
              <a:rPr lang="en-US" sz="1500" dirty="0">
                <a:solidFill>
                  <a:schemeClr val="tx1"/>
                </a:solidFill>
              </a:rPr>
              <a:t>Sens</a:t>
            </a:r>
            <a:endParaRPr lang="en-US" sz="1500" dirty="0"/>
          </a:p>
          <a:p>
            <a:pPr marL="342900" indent="-342900">
              <a:spcAft>
                <a:spcPts val="600"/>
              </a:spcAft>
              <a:buSzPct val="100000"/>
              <a:buChar char="•"/>
            </a:pPr>
            <a:r>
              <a:rPr lang="en-US" sz="1500" dirty="0">
                <a:solidFill>
                  <a:schemeClr val="tx1"/>
                </a:solidFill>
              </a:rPr>
              <a:t>Notre-Dame de Paris (1163)</a:t>
            </a:r>
            <a:endParaRPr lang="en-US" sz="1500" dirty="0"/>
          </a:p>
        </p:txBody>
      </p:sp>
      <p:pic>
        <p:nvPicPr>
          <p:cNvPr id="10" name="Image 1" descr="High Gothic window style">    </p:cNvPr>
          <p:cNvPicPr>
            <a:picLocks noChangeAspect="1"/>
          </p:cNvPicPr>
          <p:nvPr/>
        </p:nvPicPr>
        <p:blipFill>
          <a:blip r:embed="rId2"/>
          <a:stretch>
            <a:fillRect/>
          </a:stretch>
        </p:blipFill>
        <p:spPr>
          <a:xfrm>
            <a:off x="3429000" y="1463040"/>
            <a:ext cx="1436914" cy="1828800"/>
          </a:xfrm>
          <a:prstGeom prst="rect">
            <a:avLst/>
          </a:prstGeom>
        </p:spPr>
      </p:pic>
      <p:sp>
        <p:nvSpPr>
          <p:cNvPr id="11" name="Text 7"/>
          <p:cNvSpPr txBox="1"/>
          <p:nvPr/>
        </p:nvSpPr>
        <p:spPr>
          <a:xfrm>
            <a:off x="3429000" y="3429000"/>
            <a:ext cx="256032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1200–1240</a:t>
            </a:r>
            <a:endParaRPr lang="en-US" sz="2600" dirty="0"/>
          </a:p>
        </p:txBody>
      </p:sp>
      <p:sp>
        <p:nvSpPr>
          <p:cNvPr id="12" name="Text 8"/>
          <p:cNvSpPr txBox="1"/>
          <p:nvPr/>
        </p:nvSpPr>
        <p:spPr>
          <a:xfrm>
            <a:off x="3429000" y="3931920"/>
            <a:ext cx="2560320" cy="36576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High Gothic</a:t>
            </a:r>
            <a:endParaRPr lang="en-US" sz="2100" dirty="0"/>
          </a:p>
        </p:txBody>
      </p:sp>
      <p:sp>
        <p:nvSpPr>
          <p:cNvPr id="13" name="Text 9"/>
          <p:cNvSpPr txBox="1"/>
          <p:nvPr/>
        </p:nvSpPr>
        <p:spPr>
          <a:xfrm>
            <a:off x="3429000" y="4343400"/>
            <a:ext cx="2560320" cy="365760"/>
          </a:xfrm>
          <a:prstGeom prst="rect">
            <a:avLst/>
          </a:prstGeom>
          <a:noFill/>
          <a:ln/>
        </p:spPr>
        <p:txBody>
          <a:bodyPr wrap="square" lIns="0" tIns="0" rIns="0" bIns="0" rtlCol="0" anchor="t"/>
          <a:lstStyle/>
          <a:p>
            <a:pPr indent="0" marL="0">
              <a:buNone/>
            </a:pPr>
            <a:r>
              <a:rPr lang="en-US" sz="1500" i="1" dirty="0">
                <a:solidFill>
                  <a:schemeClr val="tx2"/>
                </a:solidFill>
              </a:rPr>
              <a:t>Taller, lighter, bolder</a:t>
            </a:r>
            <a:endParaRPr lang="en-US" sz="1500" dirty="0"/>
          </a:p>
        </p:txBody>
      </p:sp>
      <p:sp>
        <p:nvSpPr>
          <p:cNvPr id="14" name="Hairline"/>
          <p:cNvSpPr/>
          <p:nvPr/>
        </p:nvSpPr>
        <p:spPr>
          <a:xfrm>
            <a:off x="3429000" y="4800600"/>
            <a:ext cx="2377440" cy="0"/>
          </a:xfrm>
          <a:prstGeom prst="line">
            <a:avLst/>
          </a:prstGeom>
          <a:noFill/>
          <a:ln w="9525">
            <a:solidFill>
              <a:srgbClr val="CFCABD"/>
            </a:solidFill>
            <a:prstDash val="solid"/>
          </a:ln>
        </p:spPr>
      </p:sp>
      <p:sp>
        <p:nvSpPr>
          <p:cNvPr id="15" name="Text 11"/>
          <p:cNvSpPr txBox="1"/>
          <p:nvPr/>
        </p:nvSpPr>
        <p:spPr>
          <a:xfrm>
            <a:off x="3429000" y="4937760"/>
            <a:ext cx="246888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Chartres</a:t>
            </a:r>
            <a:endParaRPr lang="en-US" sz="1500" dirty="0"/>
          </a:p>
          <a:p>
            <a:pPr marL="342900" indent="-342900">
              <a:spcAft>
                <a:spcPts val="600"/>
              </a:spcAft>
              <a:buSzPct val="100000"/>
              <a:buChar char="•"/>
            </a:pPr>
            <a:r>
              <a:rPr lang="en-US" sz="1500" dirty="0">
                <a:solidFill>
                  <a:schemeClr val="tx1"/>
                </a:solidFill>
              </a:rPr>
              <a:t>Reims</a:t>
            </a:r>
            <a:endParaRPr lang="en-US" sz="1500" dirty="0"/>
          </a:p>
          <a:p>
            <a:pPr marL="342900" indent="-342900">
              <a:spcAft>
                <a:spcPts val="600"/>
              </a:spcAft>
              <a:buSzPct val="100000"/>
              <a:buChar char="•"/>
            </a:pPr>
            <a:r>
              <a:rPr lang="en-US" sz="1500" dirty="0">
                <a:solidFill>
                  <a:schemeClr val="tx1"/>
                </a:solidFill>
              </a:rPr>
              <a:t>Amiens</a:t>
            </a:r>
            <a:endParaRPr lang="en-US" sz="1500" dirty="0"/>
          </a:p>
        </p:txBody>
      </p:sp>
      <p:pic>
        <p:nvPicPr>
          <p:cNvPr id="16" name="Image 2" descr="Rayonnant window style">    </p:cNvPr>
          <p:cNvPicPr>
            <a:picLocks noChangeAspect="1"/>
          </p:cNvPicPr>
          <p:nvPr/>
        </p:nvPicPr>
        <p:blipFill>
          <a:blip r:embed="rId3"/>
          <a:stretch>
            <a:fillRect/>
          </a:stretch>
        </p:blipFill>
        <p:spPr>
          <a:xfrm>
            <a:off x="6217920" y="1463040"/>
            <a:ext cx="1436914" cy="1828800"/>
          </a:xfrm>
          <a:prstGeom prst="rect">
            <a:avLst/>
          </a:prstGeom>
        </p:spPr>
      </p:pic>
      <p:sp>
        <p:nvSpPr>
          <p:cNvPr id="17" name="Text 12"/>
          <p:cNvSpPr txBox="1"/>
          <p:nvPr/>
        </p:nvSpPr>
        <p:spPr>
          <a:xfrm>
            <a:off x="6217920" y="3429000"/>
            <a:ext cx="256032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1240–1350</a:t>
            </a:r>
            <a:endParaRPr lang="en-US" sz="2600" dirty="0"/>
          </a:p>
        </p:txBody>
      </p:sp>
      <p:sp>
        <p:nvSpPr>
          <p:cNvPr id="18" name="Text 13"/>
          <p:cNvSpPr txBox="1"/>
          <p:nvPr/>
        </p:nvSpPr>
        <p:spPr>
          <a:xfrm>
            <a:off x="6217920" y="3931920"/>
            <a:ext cx="2560320" cy="36576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Rayonnant</a:t>
            </a:r>
            <a:endParaRPr lang="en-US" sz="2100" dirty="0"/>
          </a:p>
        </p:txBody>
      </p:sp>
      <p:sp>
        <p:nvSpPr>
          <p:cNvPr id="19" name="Text 14"/>
          <p:cNvSpPr txBox="1"/>
          <p:nvPr/>
        </p:nvSpPr>
        <p:spPr>
          <a:xfrm>
            <a:off x="6217920" y="4343400"/>
            <a:ext cx="2560320" cy="365760"/>
          </a:xfrm>
          <a:prstGeom prst="rect">
            <a:avLst/>
          </a:prstGeom>
          <a:noFill/>
          <a:ln/>
        </p:spPr>
        <p:txBody>
          <a:bodyPr wrap="square" lIns="0" tIns="0" rIns="0" bIns="0" rtlCol="0" anchor="t"/>
          <a:lstStyle/>
          <a:p>
            <a:pPr indent="0" marL="0">
              <a:buNone/>
            </a:pPr>
            <a:r>
              <a:rPr lang="en-US" sz="1500" i="1" dirty="0">
                <a:solidFill>
                  <a:schemeClr val="tx2"/>
                </a:solidFill>
              </a:rPr>
              <a:t>Walls dissolve into glass</a:t>
            </a:r>
            <a:endParaRPr lang="en-US" sz="1500" dirty="0"/>
          </a:p>
        </p:txBody>
      </p:sp>
      <p:sp>
        <p:nvSpPr>
          <p:cNvPr id="20" name="Hairline"/>
          <p:cNvSpPr/>
          <p:nvPr/>
        </p:nvSpPr>
        <p:spPr>
          <a:xfrm>
            <a:off x="6217920" y="4800600"/>
            <a:ext cx="2377440" cy="0"/>
          </a:xfrm>
          <a:prstGeom prst="line">
            <a:avLst/>
          </a:prstGeom>
          <a:noFill/>
          <a:ln w="9525">
            <a:solidFill>
              <a:srgbClr val="CFCABD"/>
            </a:solidFill>
            <a:prstDash val="solid"/>
          </a:ln>
        </p:spPr>
      </p:sp>
      <p:sp>
        <p:nvSpPr>
          <p:cNvPr id="21" name="Text 16"/>
          <p:cNvSpPr txBox="1"/>
          <p:nvPr/>
        </p:nvSpPr>
        <p:spPr>
          <a:xfrm>
            <a:off x="6217920" y="4937760"/>
            <a:ext cx="246888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Sainte-Chapelle (1248)</a:t>
            </a:r>
            <a:endParaRPr lang="en-US" sz="1500" dirty="0"/>
          </a:p>
          <a:p>
            <a:pPr marL="342900" indent="-342900">
              <a:spcAft>
                <a:spcPts val="600"/>
              </a:spcAft>
              <a:buSzPct val="100000"/>
              <a:buChar char="•"/>
            </a:pPr>
            <a:r>
              <a:rPr lang="en-US" sz="1500" dirty="0">
                <a:solidFill>
                  <a:schemeClr val="tx1"/>
                </a:solidFill>
              </a:rPr>
              <a:t>Westminster Abbey</a:t>
            </a:r>
            <a:endParaRPr lang="en-US" sz="1500" dirty="0"/>
          </a:p>
          <a:p>
            <a:pPr marL="342900" indent="-342900">
              <a:spcAft>
                <a:spcPts val="600"/>
              </a:spcAft>
              <a:buSzPct val="100000"/>
              <a:buChar char="•"/>
            </a:pPr>
            <a:r>
              <a:rPr lang="en-US" sz="1500" dirty="0">
                <a:solidFill>
                  <a:schemeClr val="tx1"/>
                </a:solidFill>
              </a:rPr>
              <a:t>Cologne (1248)</a:t>
            </a:r>
            <a:endParaRPr lang="en-US" sz="1500" dirty="0"/>
          </a:p>
        </p:txBody>
      </p:sp>
      <p:pic>
        <p:nvPicPr>
          <p:cNvPr id="22" name="Image 3" descr="Late Gothic window style">    </p:cNvPr>
          <p:cNvPicPr>
            <a:picLocks noChangeAspect="1"/>
          </p:cNvPicPr>
          <p:nvPr/>
        </p:nvPicPr>
        <p:blipFill>
          <a:blip r:embed="rId4"/>
          <a:stretch>
            <a:fillRect/>
          </a:stretch>
        </p:blipFill>
        <p:spPr>
          <a:xfrm>
            <a:off x="9006840" y="1463040"/>
            <a:ext cx="1436914" cy="1828800"/>
          </a:xfrm>
          <a:prstGeom prst="rect">
            <a:avLst/>
          </a:prstGeom>
        </p:spPr>
      </p:pic>
      <p:sp>
        <p:nvSpPr>
          <p:cNvPr id="23" name="Text 17"/>
          <p:cNvSpPr txBox="1"/>
          <p:nvPr/>
        </p:nvSpPr>
        <p:spPr>
          <a:xfrm>
            <a:off x="9006840" y="3429000"/>
            <a:ext cx="256032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1350–1520</a:t>
            </a:r>
            <a:endParaRPr lang="en-US" sz="2600" dirty="0"/>
          </a:p>
        </p:txBody>
      </p:sp>
      <p:sp>
        <p:nvSpPr>
          <p:cNvPr id="24" name="Text 18"/>
          <p:cNvSpPr txBox="1"/>
          <p:nvPr/>
        </p:nvSpPr>
        <p:spPr>
          <a:xfrm>
            <a:off x="9006840" y="3931920"/>
            <a:ext cx="2560320" cy="36576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Late Gothic</a:t>
            </a:r>
            <a:endParaRPr lang="en-US" sz="2100" dirty="0"/>
          </a:p>
        </p:txBody>
      </p:sp>
      <p:sp>
        <p:nvSpPr>
          <p:cNvPr id="25" name="Text 19"/>
          <p:cNvSpPr txBox="1"/>
          <p:nvPr/>
        </p:nvSpPr>
        <p:spPr>
          <a:xfrm>
            <a:off x="9006840" y="4343400"/>
            <a:ext cx="2560320" cy="365760"/>
          </a:xfrm>
          <a:prstGeom prst="rect">
            <a:avLst/>
          </a:prstGeom>
          <a:noFill/>
          <a:ln/>
        </p:spPr>
        <p:txBody>
          <a:bodyPr wrap="square" lIns="0" tIns="0" rIns="0" bIns="0" rtlCol="0" anchor="t"/>
          <a:lstStyle/>
          <a:p>
            <a:pPr indent="0" marL="0">
              <a:buNone/>
            </a:pPr>
            <a:r>
              <a:rPr lang="en-US" sz="1500" i="1" dirty="0">
                <a:solidFill>
                  <a:schemeClr val="tx2"/>
                </a:solidFill>
              </a:rPr>
              <a:t>Flames and fans</a:t>
            </a:r>
            <a:endParaRPr lang="en-US" sz="1500" dirty="0"/>
          </a:p>
        </p:txBody>
      </p:sp>
      <p:sp>
        <p:nvSpPr>
          <p:cNvPr id="26" name="Hairline"/>
          <p:cNvSpPr/>
          <p:nvPr/>
        </p:nvSpPr>
        <p:spPr>
          <a:xfrm>
            <a:off x="9006840" y="4800600"/>
            <a:ext cx="2377440" cy="0"/>
          </a:xfrm>
          <a:prstGeom prst="line">
            <a:avLst/>
          </a:prstGeom>
          <a:noFill/>
          <a:ln w="9525">
            <a:solidFill>
              <a:srgbClr val="CFCABD"/>
            </a:solidFill>
            <a:prstDash val="solid"/>
          </a:ln>
        </p:spPr>
      </p:sp>
      <p:sp>
        <p:nvSpPr>
          <p:cNvPr id="27" name="Text 21"/>
          <p:cNvSpPr txBox="1"/>
          <p:nvPr/>
        </p:nvSpPr>
        <p:spPr>
          <a:xfrm>
            <a:off x="9006840" y="4937760"/>
            <a:ext cx="246888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Flamboyant tracery</a:t>
            </a:r>
            <a:endParaRPr lang="en-US" sz="1500" dirty="0"/>
          </a:p>
          <a:p>
            <a:pPr marL="342900" indent="-342900">
              <a:spcAft>
                <a:spcPts val="600"/>
              </a:spcAft>
              <a:buSzPct val="100000"/>
              <a:buChar char="•"/>
            </a:pPr>
            <a:r>
              <a:rPr lang="en-US" sz="1500" dirty="0">
                <a:solidFill>
                  <a:schemeClr val="tx1"/>
                </a:solidFill>
              </a:rPr>
              <a:t>Fan vaults, England</a:t>
            </a:r>
            <a:endParaRPr lang="en-US" sz="1500" dirty="0"/>
          </a:p>
          <a:p>
            <a:pPr marL="342900" indent="-342900">
              <a:spcAft>
                <a:spcPts val="600"/>
              </a:spcAft>
              <a:buSzPct val="100000"/>
              <a:buChar char="•"/>
            </a:pPr>
            <a:r>
              <a:rPr lang="en-US" sz="1500" dirty="0">
                <a:solidFill>
                  <a:schemeClr val="tx1"/>
                </a:solidFill>
              </a:rPr>
              <a:t>After the Black Death (1347)</a:t>
            </a:r>
            <a:endParaRPr lang="en-US" sz="15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877"/>
                </a:solidFill>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Nave of a Gothic cathedral flooded with light">    </p:cNvPr>
          <p:cNvPicPr>
            <a:picLocks noChangeAspect="1"/>
          </p:cNvPicPr>
          <p:nvPr/>
        </p:nvPicPr>
        <p:blipFill>
          <a:blip r:embed="rId1"/>
          <a:stretch>
            <a:fillRect/>
          </a:stretch>
        </p:blipFill>
        <p:spPr>
          <a:xfrm>
            <a:off x="0" y="0"/>
            <a:ext cx="4754880" cy="6858000"/>
          </a:xfrm>
          <a:prstGeom prst="rect">
            <a:avLst/>
          </a:prstGeom>
        </p:spPr>
      </p:pic>
      <p:sp>
        <p:nvSpPr>
          <p:cNvPr id="3" name="Text 0"/>
          <p:cNvSpPr txBox="1"/>
          <p:nvPr/>
        </p:nvSpPr>
        <p:spPr>
          <a:xfrm>
            <a:off x="5486400" y="347472"/>
            <a:ext cx="7315200" cy="274320"/>
          </a:xfrm>
          <a:prstGeom prst="rect">
            <a:avLst/>
          </a:prstGeom>
          <a:noFill/>
          <a:ln/>
        </p:spPr>
        <p:txBody>
          <a:bodyPr wrap="square" lIns="0" tIns="0" rIns="0" bIns="0" rtlCol="0" anchor="t"/>
          <a:lstStyle/>
          <a:p>
            <a:pPr indent="0" marL="0">
              <a:buNone/>
            </a:pPr>
            <a:r>
              <a:rPr lang="en-US" sz="1200" b="1" spc="400" kern="0" dirty="0">
                <a:solidFill>
                  <a:srgbClr val="F0B35A"/>
                </a:solidFill>
              </a:rPr>
              <a:t>WHY IT WAS BUILT</a:t>
            </a:r>
            <a:endParaRPr lang="en-US" sz="1200" dirty="0"/>
          </a:p>
        </p:txBody>
      </p:sp>
      <p:sp>
        <p:nvSpPr>
          <p:cNvPr id="4" name="Text 0"/>
          <p:cNvSpPr/>
          <p:nvPr>
            <p:ph idx="100" type="title" hasCustomPrompt="1"/>
          </p:nvPr>
        </p:nvSpPr>
        <p:spPr>
          <a:xfrm>
            <a:off x="5486400" y="640080"/>
            <a:ext cx="6126480" cy="1280160"/>
          </a:xfrm>
          <a:prstGeom prst="rect">
            <a:avLst/>
          </a:prstGeom>
          <a:noFill/>
          <a:ln/>
        </p:spPr>
        <p:txBody>
          <a:bodyPr wrap="square" lIns="0" tIns="0" rIns="0" bIns="0" rtlCol="0" anchor="t"/>
          <a:lstStyle/>
          <a:p>
            <a:pPr algn="l" indent="0" marL="0">
              <a:buNone/>
            </a:pPr>
            <a:r>
              <a:rPr lang="en-US" sz="3400" b="1" dirty="0">
                <a:solidFill>
                  <a:srgbClr val="F7F3EA"/>
                </a:solidFill>
              </a:rPr>
              <a:t>A heaven made of stone</a:t>
            </a:r>
            <a:endParaRPr lang="en-US" sz="3400" dirty="0"/>
          </a:p>
        </p:txBody>
      </p:sp>
      <p:sp>
        <p:nvSpPr>
          <p:cNvPr id="5" name="Text 2"/>
          <p:cNvSpPr txBox="1"/>
          <p:nvPr/>
        </p:nvSpPr>
        <p:spPr>
          <a:xfrm>
            <a:off x="5486400" y="1783080"/>
            <a:ext cx="6035040" cy="1737360"/>
          </a:xfrm>
          <a:prstGeom prst="rect">
            <a:avLst/>
          </a:prstGeom>
          <a:noFill/>
          <a:ln/>
        </p:spPr>
        <p:txBody>
          <a:bodyPr wrap="square" lIns="0" tIns="0" rIns="0" bIns="0" rtlCol="0" anchor="t"/>
          <a:lstStyle/>
          <a:p>
            <a:pPr indent="0" marL="0">
              <a:buNone/>
            </a:pPr>
            <a:r>
              <a:rPr lang="en-US" sz="3000" i="1" dirty="0">
                <a:solidFill>
                  <a:srgbClr val="F7F3EA"/>
                </a:solidFill>
                <a:latin typeface="Cambria" pitchFamily="34" charset="0"/>
                <a:ea typeface="Cambria" pitchFamily="34" charset="-122"/>
                <a:cs typeface="Cambria" pitchFamily="34" charset="-120"/>
              </a:rPr>
              <a:t>“The dull mind rises to truth through that which is material.”</a:t>
            </a:r>
            <a:endParaRPr lang="en-US" sz="3000" dirty="0"/>
          </a:p>
        </p:txBody>
      </p:sp>
      <p:sp>
        <p:nvSpPr>
          <p:cNvPr id="6" name="Text 3"/>
          <p:cNvSpPr txBox="1"/>
          <p:nvPr/>
        </p:nvSpPr>
        <p:spPr>
          <a:xfrm>
            <a:off x="5486400" y="3520440"/>
            <a:ext cx="5486400" cy="320040"/>
          </a:xfrm>
          <a:prstGeom prst="rect">
            <a:avLst/>
          </a:prstGeom>
          <a:noFill/>
          <a:ln/>
        </p:spPr>
        <p:txBody>
          <a:bodyPr wrap="square" lIns="0" tIns="0" rIns="0" bIns="0" rtlCol="0" anchor="t"/>
          <a:lstStyle/>
          <a:p>
            <a:pPr indent="0" marL="0">
              <a:buNone/>
            </a:pPr>
            <a:r>
              <a:rPr lang="en-US" sz="1400" dirty="0">
                <a:solidFill>
                  <a:srgbClr val="F0B35A"/>
                </a:solidFill>
              </a:rPr>
              <a:t>Abbot Suger, Saint-Denis, c. 1144</a:t>
            </a:r>
            <a:endParaRPr lang="en-US" sz="1400" dirty="0"/>
          </a:p>
        </p:txBody>
      </p:sp>
      <p:sp>
        <p:nvSpPr>
          <p:cNvPr id="7" name="Hairline"/>
          <p:cNvSpPr/>
          <p:nvPr/>
        </p:nvSpPr>
        <p:spPr>
          <a:xfrm>
            <a:off x="5486400" y="4041648"/>
            <a:ext cx="6126480" cy="0"/>
          </a:xfrm>
          <a:prstGeom prst="line">
            <a:avLst/>
          </a:prstGeom>
          <a:noFill/>
          <a:ln w="9525">
            <a:solidFill>
              <a:srgbClr val="3A3D5C"/>
            </a:solidFill>
            <a:prstDash val="solid"/>
          </a:ln>
        </p:spPr>
      </p:sp>
      <p:sp>
        <p:nvSpPr>
          <p:cNvPr id="8" name="Text 5"/>
          <p:cNvSpPr txBox="1"/>
          <p:nvPr/>
        </p:nvSpPr>
        <p:spPr>
          <a:xfrm>
            <a:off x="5486400" y="4114800"/>
            <a:ext cx="2286000" cy="594360"/>
          </a:xfrm>
          <a:prstGeom prst="rect">
            <a:avLst/>
          </a:prstGeom>
          <a:noFill/>
          <a:ln/>
        </p:spPr>
        <p:txBody>
          <a:bodyPr wrap="square" lIns="0" tIns="0" rIns="0" bIns="0" rtlCol="0" anchor="ctr"/>
          <a:lstStyle/>
          <a:p>
            <a:pPr indent="0" marL="0">
              <a:buNone/>
            </a:pPr>
            <a:r>
              <a:rPr lang="en-US" sz="1800" b="1" dirty="0">
                <a:solidFill>
                  <a:srgbClr val="F0B35A"/>
                </a:solidFill>
                <a:latin typeface="Cambria" pitchFamily="34" charset="0"/>
                <a:ea typeface="Cambria" pitchFamily="34" charset="-122"/>
                <a:cs typeface="Cambria" pitchFamily="34" charset="-120"/>
              </a:rPr>
              <a:t>Light is divine</a:t>
            </a:r>
            <a:endParaRPr lang="en-US" sz="1800" dirty="0"/>
          </a:p>
        </p:txBody>
      </p:sp>
      <p:sp>
        <p:nvSpPr>
          <p:cNvPr id="9" name="Text 6"/>
          <p:cNvSpPr txBox="1"/>
          <p:nvPr/>
        </p:nvSpPr>
        <p:spPr>
          <a:xfrm>
            <a:off x="7818120" y="4114800"/>
            <a:ext cx="3794760" cy="594360"/>
          </a:xfrm>
          <a:prstGeom prst="rect">
            <a:avLst/>
          </a:prstGeom>
          <a:noFill/>
          <a:ln/>
        </p:spPr>
        <p:txBody>
          <a:bodyPr wrap="square" lIns="0" tIns="0" rIns="0" bIns="0" rtlCol="0" anchor="ctr"/>
          <a:lstStyle/>
          <a:p>
            <a:pPr indent="0" marL="0">
              <a:buNone/>
            </a:pPr>
            <a:r>
              <a:rPr lang="en-US" sz="1500" dirty="0">
                <a:solidFill>
                  <a:srgbClr val="F7F3EA"/>
                </a:solidFill>
              </a:rPr>
              <a:t>God is pure light: windows, gold and jewels lift the soul.</a:t>
            </a:r>
            <a:endParaRPr lang="en-US" sz="1500" dirty="0"/>
          </a:p>
        </p:txBody>
      </p:sp>
      <p:sp>
        <p:nvSpPr>
          <p:cNvPr id="10" name="Hairline"/>
          <p:cNvSpPr/>
          <p:nvPr/>
        </p:nvSpPr>
        <p:spPr>
          <a:xfrm>
            <a:off x="5486400" y="4809744"/>
            <a:ext cx="6126480" cy="0"/>
          </a:xfrm>
          <a:prstGeom prst="line">
            <a:avLst/>
          </a:prstGeom>
          <a:noFill/>
          <a:ln w="9525">
            <a:solidFill>
              <a:srgbClr val="3A3D5C"/>
            </a:solidFill>
            <a:prstDash val="solid"/>
          </a:ln>
        </p:spPr>
      </p:sp>
      <p:sp>
        <p:nvSpPr>
          <p:cNvPr id="11" name="Text 8"/>
          <p:cNvSpPr txBox="1"/>
          <p:nvPr/>
        </p:nvSpPr>
        <p:spPr>
          <a:xfrm>
            <a:off x="5486400" y="4882896"/>
            <a:ext cx="2286000" cy="594360"/>
          </a:xfrm>
          <a:prstGeom prst="rect">
            <a:avLst/>
          </a:prstGeom>
          <a:noFill/>
          <a:ln/>
        </p:spPr>
        <p:txBody>
          <a:bodyPr wrap="square" lIns="0" tIns="0" rIns="0" bIns="0" rtlCol="0" anchor="ctr"/>
          <a:lstStyle/>
          <a:p>
            <a:pPr indent="0" marL="0">
              <a:buNone/>
            </a:pPr>
            <a:r>
              <a:rPr lang="en-US" sz="1800" b="1" dirty="0">
                <a:solidFill>
                  <a:srgbClr val="F0B35A"/>
                </a:solidFill>
                <a:latin typeface="Cambria" pitchFamily="34" charset="0"/>
                <a:ea typeface="Cambria" pitchFamily="34" charset="-122"/>
                <a:cs typeface="Cambria" pitchFamily="34" charset="-120"/>
              </a:rPr>
              <a:t>Mary and pilgrims</a:t>
            </a:r>
            <a:endParaRPr lang="en-US" sz="1800" dirty="0"/>
          </a:p>
        </p:txBody>
      </p:sp>
      <p:sp>
        <p:nvSpPr>
          <p:cNvPr id="12" name="Text 9"/>
          <p:cNvSpPr txBox="1"/>
          <p:nvPr/>
        </p:nvSpPr>
        <p:spPr>
          <a:xfrm>
            <a:off x="7818120" y="4882896"/>
            <a:ext cx="3794760" cy="594360"/>
          </a:xfrm>
          <a:prstGeom prst="rect">
            <a:avLst/>
          </a:prstGeom>
          <a:noFill/>
          <a:ln/>
        </p:spPr>
        <p:txBody>
          <a:bodyPr wrap="square" lIns="0" tIns="0" rIns="0" bIns="0" rtlCol="0" anchor="ctr"/>
          <a:lstStyle/>
          <a:p>
            <a:pPr indent="0" marL="0">
              <a:buNone/>
            </a:pPr>
            <a:r>
              <a:rPr lang="en-US" sz="1500" dirty="0">
                <a:solidFill>
                  <a:srgbClr val="F7F3EA"/>
                </a:solidFill>
              </a:rPr>
              <a:t>Relics drew crowds; their gifts paid the builders.</a:t>
            </a:r>
            <a:endParaRPr lang="en-US" sz="1500" dirty="0"/>
          </a:p>
        </p:txBody>
      </p:sp>
      <p:sp>
        <p:nvSpPr>
          <p:cNvPr id="13" name="Hairline"/>
          <p:cNvSpPr/>
          <p:nvPr/>
        </p:nvSpPr>
        <p:spPr>
          <a:xfrm>
            <a:off x="5486400" y="5577840"/>
            <a:ext cx="6126480" cy="0"/>
          </a:xfrm>
          <a:prstGeom prst="line">
            <a:avLst/>
          </a:prstGeom>
          <a:noFill/>
          <a:ln w="9525">
            <a:solidFill>
              <a:srgbClr val="3A3D5C"/>
            </a:solidFill>
            <a:prstDash val="solid"/>
          </a:ln>
        </p:spPr>
      </p:sp>
      <p:sp>
        <p:nvSpPr>
          <p:cNvPr id="14" name="Text 11"/>
          <p:cNvSpPr txBox="1"/>
          <p:nvPr/>
        </p:nvSpPr>
        <p:spPr>
          <a:xfrm>
            <a:off x="5486400" y="5650992"/>
            <a:ext cx="2286000" cy="594360"/>
          </a:xfrm>
          <a:prstGeom prst="rect">
            <a:avLst/>
          </a:prstGeom>
          <a:noFill/>
          <a:ln/>
        </p:spPr>
        <p:txBody>
          <a:bodyPr wrap="square" lIns="0" tIns="0" rIns="0" bIns="0" rtlCol="0" anchor="ctr"/>
          <a:lstStyle/>
          <a:p>
            <a:pPr indent="0" marL="0">
              <a:buNone/>
            </a:pPr>
            <a:r>
              <a:rPr lang="en-US" sz="1800" b="1" dirty="0">
                <a:solidFill>
                  <a:srgbClr val="F0B35A"/>
                </a:solidFill>
                <a:latin typeface="Cambria" pitchFamily="34" charset="0"/>
                <a:ea typeface="Cambria" pitchFamily="34" charset="-122"/>
                <a:cs typeface="Cambria" pitchFamily="34" charset="-120"/>
              </a:rPr>
              <a:t>Power and pride</a:t>
            </a:r>
            <a:endParaRPr lang="en-US" sz="1800" dirty="0"/>
          </a:p>
        </p:txBody>
      </p:sp>
      <p:sp>
        <p:nvSpPr>
          <p:cNvPr id="15" name="Text 12"/>
          <p:cNvSpPr txBox="1"/>
          <p:nvPr/>
        </p:nvSpPr>
        <p:spPr>
          <a:xfrm>
            <a:off x="7818120" y="5650992"/>
            <a:ext cx="3794760" cy="594360"/>
          </a:xfrm>
          <a:prstGeom prst="rect">
            <a:avLst/>
          </a:prstGeom>
          <a:noFill/>
          <a:ln/>
        </p:spPr>
        <p:txBody>
          <a:bodyPr wrap="square" lIns="0" tIns="0" rIns="0" bIns="0" rtlCol="0" anchor="ctr"/>
          <a:lstStyle/>
          <a:p>
            <a:pPr indent="0" marL="0">
              <a:buNone/>
            </a:pPr>
            <a:r>
              <a:rPr lang="en-US" sz="1500" dirty="0">
                <a:solidFill>
                  <a:srgbClr val="F7F3EA"/>
                </a:solidFill>
              </a:rPr>
              <a:t>Bishops, kings and cities competed to build higher.</a:t>
            </a:r>
            <a:endParaRPr lang="en-US" sz="15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B3C6"/>
                </a:solidFill>
              </a:defRPr>
            </a:lvl1pPr>
          </a:lstStyle>
          <a:p>
            <a:pPr algn="r"/>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347472"/>
            <a:ext cx="7315200" cy="274320"/>
          </a:xfrm>
          <a:prstGeom prst="rect">
            <a:avLst/>
          </a:prstGeom>
          <a:noFill/>
          <a:ln/>
        </p:spPr>
        <p:txBody>
          <a:bodyPr wrap="square" lIns="0" tIns="0" rIns="0" bIns="0" rtlCol="0" anchor="t"/>
          <a:lstStyle/>
          <a:p>
            <a:pPr indent="0" marL="0">
              <a:buNone/>
            </a:pPr>
            <a:r>
              <a:rPr lang="en-US" sz="1200" b="1" spc="400" kern="0" dirty="0">
                <a:solidFill>
                  <a:schemeClr val="accent2"/>
                </a:solidFill>
              </a:rPr>
              <a:t>STRUCTURE</a:t>
            </a:r>
            <a:endParaRPr lang="en-US" sz="1200" dirty="0"/>
          </a:p>
        </p:txBody>
      </p:sp>
      <p:sp>
        <p:nvSpPr>
          <p:cNvPr id="3" name="Text 0"/>
          <p:cNvSpPr/>
          <p:nvPr>
            <p:ph idx="100" type="title" hasCustomPrompt="1"/>
          </p:nvPr>
        </p:nvSpPr>
        <p:spPr>
          <a:xfrm>
            <a:off x="640080" y="621792"/>
            <a:ext cx="10881360" cy="731520"/>
          </a:xfrm>
          <a:prstGeom prst="rect">
            <a:avLst/>
          </a:prstGeom>
          <a:noFill/>
          <a:ln/>
        </p:spPr>
        <p:txBody>
          <a:bodyPr wrap="square" lIns="0" tIns="0" rIns="0" bIns="0" rtlCol="0" anchor="ctr"/>
          <a:lstStyle/>
          <a:p>
            <a:pPr algn="l" indent="0" marL="0">
              <a:buNone/>
            </a:pPr>
            <a:r>
              <a:rPr lang="en-US" sz="3400" b="1" dirty="0">
                <a:solidFill>
                  <a:schemeClr val="tx1"/>
                </a:solidFill>
              </a:rPr>
              <a:t>From fortress-church to lantern</a:t>
            </a:r>
            <a:endParaRPr lang="en-US" sz="3400" dirty="0"/>
          </a:p>
        </p:txBody>
      </p:sp>
      <p:pic>
        <p:nvPicPr>
          <p:cNvPr id="4" name="Image 0" descr="Round Romanesque arch with strong sideways thrust">    </p:cNvPr>
          <p:cNvPicPr>
            <a:picLocks noChangeAspect="1"/>
          </p:cNvPicPr>
          <p:nvPr/>
        </p:nvPicPr>
        <p:blipFill>
          <a:blip r:embed="rId1"/>
          <a:stretch>
            <a:fillRect/>
          </a:stretch>
        </p:blipFill>
        <p:spPr>
          <a:xfrm>
            <a:off x="4114800" y="1371600"/>
            <a:ext cx="1828800" cy="1828800"/>
          </a:xfrm>
          <a:prstGeom prst="rect">
            <a:avLst/>
          </a:prstGeom>
        </p:spPr>
      </p:pic>
      <p:pic>
        <p:nvPicPr>
          <p:cNvPr id="5" name="Image 1" descr="Pointed Gothic arch with small sideways thrust">    </p:cNvPr>
          <p:cNvPicPr>
            <a:picLocks noChangeAspect="1"/>
          </p:cNvPicPr>
          <p:nvPr/>
        </p:nvPicPr>
        <p:blipFill>
          <a:blip r:embed="rId2"/>
          <a:stretch>
            <a:fillRect/>
          </a:stretch>
        </p:blipFill>
        <p:spPr>
          <a:xfrm>
            <a:off x="8686800" y="1371600"/>
            <a:ext cx="1828800" cy="1828800"/>
          </a:xfrm>
          <a:prstGeom prst="rect">
            <a:avLst/>
          </a:prstGeom>
        </p:spPr>
      </p:pic>
      <p:sp>
        <p:nvSpPr>
          <p:cNvPr id="6" name="Text 2"/>
          <p:cNvSpPr txBox="1"/>
          <p:nvPr/>
        </p:nvSpPr>
        <p:spPr>
          <a:xfrm>
            <a:off x="2926080" y="3246120"/>
            <a:ext cx="4206240" cy="685800"/>
          </a:xfrm>
          <a:prstGeom prst="rect">
            <a:avLst/>
          </a:prstGeom>
          <a:noFill/>
          <a:ln/>
        </p:spPr>
        <p:txBody>
          <a:bodyPr wrap="square" lIns="0" tIns="0" rIns="0" bIns="0" rtlCol="0" anchor="t"/>
          <a:lstStyle/>
          <a:p>
            <a:pPr algn="ctr" indent="0" marL="0">
              <a:buNone/>
            </a:pPr>
            <a:r>
              <a:rPr lang="en-US" sz="2000" b="1" dirty="0">
                <a:solidFill>
                  <a:schemeClr val="tx1"/>
                </a:solidFill>
                <a:latin typeface="Cambria" pitchFamily="34" charset="0"/>
                <a:ea typeface="Cambria" pitchFamily="34" charset="-122"/>
                <a:cs typeface="Cambria" pitchFamily="34" charset="-120"/>
              </a:rPr>
              <a:t>ROMANESQUE</a:t>
            </a:r>
            <a:endParaRPr lang="en-US" sz="1400" dirty="0"/>
          </a:p>
          <a:p>
            <a:pPr algn="ctr" indent="0" marL="0">
              <a:buNone/>
            </a:pPr>
            <a:r>
              <a:rPr lang="en-US" sz="1400" dirty="0">
                <a:solidFill>
                  <a:schemeClr val="tx2"/>
                </a:solidFill>
              </a:rPr>
              <a:t>c. 1000–1150</a:t>
            </a:r>
            <a:endParaRPr lang="en-US" sz="1400" dirty="0"/>
          </a:p>
        </p:txBody>
      </p:sp>
      <p:sp>
        <p:nvSpPr>
          <p:cNvPr id="7" name="Text 3"/>
          <p:cNvSpPr txBox="1"/>
          <p:nvPr/>
        </p:nvSpPr>
        <p:spPr>
          <a:xfrm>
            <a:off x="7498080" y="3246120"/>
            <a:ext cx="4206240" cy="685800"/>
          </a:xfrm>
          <a:prstGeom prst="rect">
            <a:avLst/>
          </a:prstGeom>
          <a:noFill/>
          <a:ln/>
        </p:spPr>
        <p:txBody>
          <a:bodyPr wrap="square" lIns="0" tIns="0" rIns="0" bIns="0" rtlCol="0" anchor="t"/>
          <a:lstStyle/>
          <a:p>
            <a:pPr algn="ctr" indent="0" marL="0">
              <a:buNone/>
            </a:pPr>
            <a:r>
              <a:rPr lang="en-US" sz="2000" b="1" dirty="0">
                <a:solidFill>
                  <a:schemeClr val="accent2"/>
                </a:solidFill>
                <a:latin typeface="Cambria" pitchFamily="34" charset="0"/>
                <a:ea typeface="Cambria" pitchFamily="34" charset="-122"/>
                <a:cs typeface="Cambria" pitchFamily="34" charset="-120"/>
              </a:rPr>
              <a:t>GOTHIC</a:t>
            </a:r>
            <a:endParaRPr lang="en-US" sz="1400" dirty="0"/>
          </a:p>
          <a:p>
            <a:pPr algn="ctr" indent="0" marL="0">
              <a:buNone/>
            </a:pPr>
            <a:r>
              <a:rPr lang="en-US" sz="1400" dirty="0">
                <a:solidFill>
                  <a:schemeClr val="tx2"/>
                </a:solidFill>
              </a:rPr>
              <a:t>c. 1140–1500</a:t>
            </a:r>
            <a:endParaRPr lang="en-US" sz="1400" dirty="0"/>
          </a:p>
        </p:txBody>
      </p:sp>
      <p:sp>
        <p:nvSpPr>
          <p:cNvPr id="8" name="Gothic column highlight"/>
          <p:cNvSpPr/>
          <p:nvPr/>
        </p:nvSpPr>
        <p:spPr>
          <a:xfrm>
            <a:off x="7315200" y="3977640"/>
            <a:ext cx="4389120" cy="2331720"/>
          </a:xfrm>
          <a:prstGeom prst="rect">
            <a:avLst/>
          </a:prstGeom>
          <a:solidFill>
            <a:schemeClr val="bg2"/>
          </a:solidFill>
          <a:ln w="15875">
            <a:solidFill>
              <a:schemeClr val="accent1"/>
            </a:solidFill>
            <a:prstDash val="solid"/>
          </a:ln>
        </p:spPr>
      </p:sp>
      <p:sp>
        <p:nvSpPr>
          <p:cNvPr id="9" name="Text 5"/>
          <p:cNvSpPr txBox="1"/>
          <p:nvPr/>
        </p:nvSpPr>
        <p:spPr>
          <a:xfrm>
            <a:off x="640080" y="4023360"/>
            <a:ext cx="2011680" cy="420624"/>
          </a:xfrm>
          <a:prstGeom prst="rect">
            <a:avLst/>
          </a:prstGeom>
          <a:noFill/>
          <a:ln/>
        </p:spPr>
        <p:txBody>
          <a:bodyPr wrap="square" lIns="0" tIns="0" rIns="0" bIns="0" rtlCol="0" anchor="ctr"/>
          <a:lstStyle/>
          <a:p>
            <a:pPr indent="0" marL="0">
              <a:buNone/>
            </a:pPr>
            <a:r>
              <a:rPr lang="en-US" sz="1400" b="1" spc="200" kern="0" dirty="0">
                <a:solidFill>
                  <a:schemeClr val="accent2"/>
                </a:solidFill>
              </a:rPr>
              <a:t>ARCH</a:t>
            </a:r>
            <a:endParaRPr lang="en-US" sz="1400" dirty="0"/>
          </a:p>
        </p:txBody>
      </p:sp>
      <p:sp>
        <p:nvSpPr>
          <p:cNvPr id="10" name="Text 6"/>
          <p:cNvSpPr txBox="1"/>
          <p:nvPr/>
        </p:nvSpPr>
        <p:spPr>
          <a:xfrm>
            <a:off x="2926080" y="4023360"/>
            <a:ext cx="4206240" cy="420624"/>
          </a:xfrm>
          <a:prstGeom prst="rect">
            <a:avLst/>
          </a:prstGeom>
          <a:noFill/>
          <a:ln/>
        </p:spPr>
        <p:txBody>
          <a:bodyPr wrap="square" lIns="0" tIns="0" rIns="0" bIns="0" rtlCol="0" anchor="ctr"/>
          <a:lstStyle/>
          <a:p>
            <a:pPr algn="ctr" indent="0" marL="0">
              <a:buNone/>
            </a:pPr>
            <a:r>
              <a:rPr lang="en-US" sz="1600" dirty="0">
                <a:solidFill>
                  <a:schemeClr val="tx1"/>
                </a:solidFill>
              </a:rPr>
              <a:t>Round</a:t>
            </a:r>
            <a:endParaRPr lang="en-US" sz="1600" dirty="0"/>
          </a:p>
        </p:txBody>
      </p:sp>
      <p:sp>
        <p:nvSpPr>
          <p:cNvPr id="11" name="Text 7"/>
          <p:cNvSpPr txBox="1"/>
          <p:nvPr/>
        </p:nvSpPr>
        <p:spPr>
          <a:xfrm>
            <a:off x="7498080" y="4023360"/>
            <a:ext cx="4206240" cy="420624"/>
          </a:xfrm>
          <a:prstGeom prst="rect">
            <a:avLst/>
          </a:prstGeom>
          <a:noFill/>
          <a:ln/>
        </p:spPr>
        <p:txBody>
          <a:bodyPr wrap="square" lIns="0" tIns="0" rIns="0" bIns="0" rtlCol="0" anchor="ctr"/>
          <a:lstStyle/>
          <a:p>
            <a:pPr algn="ctr" indent="0" marL="0">
              <a:buNone/>
            </a:pPr>
            <a:r>
              <a:rPr lang="en-US" sz="1600" b="1" dirty="0">
                <a:solidFill>
                  <a:schemeClr val="tx1"/>
                </a:solidFill>
              </a:rPr>
              <a:t>Pointed</a:t>
            </a:r>
            <a:endParaRPr lang="en-US" sz="1600" dirty="0"/>
          </a:p>
        </p:txBody>
      </p:sp>
      <p:sp>
        <p:nvSpPr>
          <p:cNvPr id="12" name="Hairline"/>
          <p:cNvSpPr/>
          <p:nvPr/>
        </p:nvSpPr>
        <p:spPr>
          <a:xfrm>
            <a:off x="640080" y="4462272"/>
            <a:ext cx="6492240" cy="0"/>
          </a:xfrm>
          <a:prstGeom prst="line">
            <a:avLst/>
          </a:prstGeom>
          <a:noFill/>
          <a:ln w="9525">
            <a:solidFill>
              <a:srgbClr val="CFCABD"/>
            </a:solidFill>
            <a:prstDash val="solid"/>
          </a:ln>
        </p:spPr>
      </p:sp>
      <p:sp>
        <p:nvSpPr>
          <p:cNvPr id="13" name="Text 9"/>
          <p:cNvSpPr txBox="1"/>
          <p:nvPr/>
        </p:nvSpPr>
        <p:spPr>
          <a:xfrm>
            <a:off x="640080" y="4480560"/>
            <a:ext cx="2011680" cy="420624"/>
          </a:xfrm>
          <a:prstGeom prst="rect">
            <a:avLst/>
          </a:prstGeom>
          <a:noFill/>
          <a:ln/>
        </p:spPr>
        <p:txBody>
          <a:bodyPr wrap="square" lIns="0" tIns="0" rIns="0" bIns="0" rtlCol="0" anchor="ctr"/>
          <a:lstStyle/>
          <a:p>
            <a:pPr indent="0" marL="0">
              <a:buNone/>
            </a:pPr>
            <a:r>
              <a:rPr lang="en-US" sz="1400" b="1" spc="200" kern="0" dirty="0">
                <a:solidFill>
                  <a:schemeClr val="accent2"/>
                </a:solidFill>
              </a:rPr>
              <a:t>VAULT</a:t>
            </a:r>
            <a:endParaRPr lang="en-US" sz="1400" dirty="0"/>
          </a:p>
        </p:txBody>
      </p:sp>
      <p:sp>
        <p:nvSpPr>
          <p:cNvPr id="14" name="Text 10"/>
          <p:cNvSpPr txBox="1"/>
          <p:nvPr/>
        </p:nvSpPr>
        <p:spPr>
          <a:xfrm>
            <a:off x="2926080" y="4480560"/>
            <a:ext cx="4206240" cy="420624"/>
          </a:xfrm>
          <a:prstGeom prst="rect">
            <a:avLst/>
          </a:prstGeom>
          <a:noFill/>
          <a:ln/>
        </p:spPr>
        <p:txBody>
          <a:bodyPr wrap="square" lIns="0" tIns="0" rIns="0" bIns="0" rtlCol="0" anchor="ctr"/>
          <a:lstStyle/>
          <a:p>
            <a:pPr algn="ctr" indent="0" marL="0">
              <a:buNone/>
            </a:pPr>
            <a:r>
              <a:rPr lang="en-US" sz="1600" dirty="0">
                <a:solidFill>
                  <a:schemeClr val="tx1"/>
                </a:solidFill>
              </a:rPr>
              <a:t>Heavy barrel or groin vault</a:t>
            </a:r>
            <a:endParaRPr lang="en-US" sz="1600" dirty="0"/>
          </a:p>
        </p:txBody>
      </p:sp>
      <p:sp>
        <p:nvSpPr>
          <p:cNvPr id="15" name="Text 11"/>
          <p:cNvSpPr txBox="1"/>
          <p:nvPr/>
        </p:nvSpPr>
        <p:spPr>
          <a:xfrm>
            <a:off x="7498080" y="4480560"/>
            <a:ext cx="4206240" cy="420624"/>
          </a:xfrm>
          <a:prstGeom prst="rect">
            <a:avLst/>
          </a:prstGeom>
          <a:noFill/>
          <a:ln/>
        </p:spPr>
        <p:txBody>
          <a:bodyPr wrap="square" lIns="0" tIns="0" rIns="0" bIns="0" rtlCol="0" anchor="ctr"/>
          <a:lstStyle/>
          <a:p>
            <a:pPr algn="ctr" indent="0" marL="0">
              <a:buNone/>
            </a:pPr>
            <a:r>
              <a:rPr lang="en-US" sz="1600" b="1" dirty="0">
                <a:solidFill>
                  <a:schemeClr val="tx1"/>
                </a:solidFill>
              </a:rPr>
              <a:t>Light ribbed vault</a:t>
            </a:r>
            <a:endParaRPr lang="en-US" sz="1600" dirty="0"/>
          </a:p>
        </p:txBody>
      </p:sp>
      <p:sp>
        <p:nvSpPr>
          <p:cNvPr id="16" name="Hairline"/>
          <p:cNvSpPr/>
          <p:nvPr/>
        </p:nvSpPr>
        <p:spPr>
          <a:xfrm>
            <a:off x="640080" y="4919472"/>
            <a:ext cx="6492240" cy="0"/>
          </a:xfrm>
          <a:prstGeom prst="line">
            <a:avLst/>
          </a:prstGeom>
          <a:noFill/>
          <a:ln w="9525">
            <a:solidFill>
              <a:srgbClr val="CFCABD"/>
            </a:solidFill>
            <a:prstDash val="solid"/>
          </a:ln>
        </p:spPr>
      </p:sp>
      <p:sp>
        <p:nvSpPr>
          <p:cNvPr id="17" name="Text 13"/>
          <p:cNvSpPr txBox="1"/>
          <p:nvPr/>
        </p:nvSpPr>
        <p:spPr>
          <a:xfrm>
            <a:off x="640080" y="4937760"/>
            <a:ext cx="2011680" cy="420624"/>
          </a:xfrm>
          <a:prstGeom prst="rect">
            <a:avLst/>
          </a:prstGeom>
          <a:noFill/>
          <a:ln/>
        </p:spPr>
        <p:txBody>
          <a:bodyPr wrap="square" lIns="0" tIns="0" rIns="0" bIns="0" rtlCol="0" anchor="ctr"/>
          <a:lstStyle/>
          <a:p>
            <a:pPr indent="0" marL="0">
              <a:buNone/>
            </a:pPr>
            <a:r>
              <a:rPr lang="en-US" sz="1400" b="1" spc="200" kern="0" dirty="0">
                <a:solidFill>
                  <a:schemeClr val="accent2"/>
                </a:solidFill>
              </a:rPr>
              <a:t>WALLS</a:t>
            </a:r>
            <a:endParaRPr lang="en-US" sz="1400" dirty="0"/>
          </a:p>
        </p:txBody>
      </p:sp>
      <p:sp>
        <p:nvSpPr>
          <p:cNvPr id="18" name="Text 14"/>
          <p:cNvSpPr txBox="1"/>
          <p:nvPr/>
        </p:nvSpPr>
        <p:spPr>
          <a:xfrm>
            <a:off x="2926080" y="4937760"/>
            <a:ext cx="4206240" cy="420624"/>
          </a:xfrm>
          <a:prstGeom prst="rect">
            <a:avLst/>
          </a:prstGeom>
          <a:noFill/>
          <a:ln/>
        </p:spPr>
        <p:txBody>
          <a:bodyPr wrap="square" lIns="0" tIns="0" rIns="0" bIns="0" rtlCol="0" anchor="ctr"/>
          <a:lstStyle/>
          <a:p>
            <a:pPr algn="ctr" indent="0" marL="0">
              <a:buNone/>
            </a:pPr>
            <a:r>
              <a:rPr lang="en-US" sz="1600" dirty="0">
                <a:solidFill>
                  <a:schemeClr val="tx1"/>
                </a:solidFill>
              </a:rPr>
              <a:t>Thick, load-bearing mass</a:t>
            </a:r>
            <a:endParaRPr lang="en-US" sz="1600" dirty="0"/>
          </a:p>
        </p:txBody>
      </p:sp>
      <p:sp>
        <p:nvSpPr>
          <p:cNvPr id="19" name="Text 15"/>
          <p:cNvSpPr txBox="1"/>
          <p:nvPr/>
        </p:nvSpPr>
        <p:spPr>
          <a:xfrm>
            <a:off x="7498080" y="4937760"/>
            <a:ext cx="4206240" cy="420624"/>
          </a:xfrm>
          <a:prstGeom prst="rect">
            <a:avLst/>
          </a:prstGeom>
          <a:noFill/>
          <a:ln/>
        </p:spPr>
        <p:txBody>
          <a:bodyPr wrap="square" lIns="0" tIns="0" rIns="0" bIns="0" rtlCol="0" anchor="ctr"/>
          <a:lstStyle/>
          <a:p>
            <a:pPr algn="ctr" indent="0" marL="0">
              <a:buNone/>
            </a:pPr>
            <a:r>
              <a:rPr lang="en-US" sz="1600" b="1" dirty="0">
                <a:solidFill>
                  <a:schemeClr val="tx1"/>
                </a:solidFill>
              </a:rPr>
              <a:t>Thin skin on a stone skeleton</a:t>
            </a:r>
            <a:endParaRPr lang="en-US" sz="1600" dirty="0"/>
          </a:p>
        </p:txBody>
      </p:sp>
      <p:sp>
        <p:nvSpPr>
          <p:cNvPr id="20" name="Hairline"/>
          <p:cNvSpPr/>
          <p:nvPr/>
        </p:nvSpPr>
        <p:spPr>
          <a:xfrm>
            <a:off x="640080" y="5376672"/>
            <a:ext cx="6492240" cy="0"/>
          </a:xfrm>
          <a:prstGeom prst="line">
            <a:avLst/>
          </a:prstGeom>
          <a:noFill/>
          <a:ln w="9525">
            <a:solidFill>
              <a:srgbClr val="CFCABD"/>
            </a:solidFill>
            <a:prstDash val="solid"/>
          </a:ln>
        </p:spPr>
      </p:sp>
      <p:sp>
        <p:nvSpPr>
          <p:cNvPr id="21" name="Text 17"/>
          <p:cNvSpPr txBox="1"/>
          <p:nvPr/>
        </p:nvSpPr>
        <p:spPr>
          <a:xfrm>
            <a:off x="640080" y="5394960"/>
            <a:ext cx="2011680" cy="420624"/>
          </a:xfrm>
          <a:prstGeom prst="rect">
            <a:avLst/>
          </a:prstGeom>
          <a:noFill/>
          <a:ln/>
        </p:spPr>
        <p:txBody>
          <a:bodyPr wrap="square" lIns="0" tIns="0" rIns="0" bIns="0" rtlCol="0" anchor="ctr"/>
          <a:lstStyle/>
          <a:p>
            <a:pPr indent="0" marL="0">
              <a:buNone/>
            </a:pPr>
            <a:r>
              <a:rPr lang="en-US" sz="1400" b="1" spc="200" kern="0" dirty="0">
                <a:solidFill>
                  <a:schemeClr val="accent2"/>
                </a:solidFill>
              </a:rPr>
              <a:t>WINDOWS</a:t>
            </a:r>
            <a:endParaRPr lang="en-US" sz="1400" dirty="0"/>
          </a:p>
        </p:txBody>
      </p:sp>
      <p:sp>
        <p:nvSpPr>
          <p:cNvPr id="22" name="Text 18"/>
          <p:cNvSpPr txBox="1"/>
          <p:nvPr/>
        </p:nvSpPr>
        <p:spPr>
          <a:xfrm>
            <a:off x="2926080" y="5394960"/>
            <a:ext cx="4206240" cy="420624"/>
          </a:xfrm>
          <a:prstGeom prst="rect">
            <a:avLst/>
          </a:prstGeom>
          <a:noFill/>
          <a:ln/>
        </p:spPr>
        <p:txBody>
          <a:bodyPr wrap="square" lIns="0" tIns="0" rIns="0" bIns="0" rtlCol="0" anchor="ctr"/>
          <a:lstStyle/>
          <a:p>
            <a:pPr algn="ctr" indent="0" marL="0">
              <a:buNone/>
            </a:pPr>
            <a:r>
              <a:rPr lang="en-US" sz="1600" dirty="0">
                <a:solidFill>
                  <a:schemeClr val="tx1"/>
                </a:solidFill>
              </a:rPr>
              <a:t>Small and few</a:t>
            </a:r>
            <a:endParaRPr lang="en-US" sz="1600" dirty="0"/>
          </a:p>
        </p:txBody>
      </p:sp>
      <p:sp>
        <p:nvSpPr>
          <p:cNvPr id="23" name="Text 19"/>
          <p:cNvSpPr txBox="1"/>
          <p:nvPr/>
        </p:nvSpPr>
        <p:spPr>
          <a:xfrm>
            <a:off x="7498080" y="5394960"/>
            <a:ext cx="4206240" cy="420624"/>
          </a:xfrm>
          <a:prstGeom prst="rect">
            <a:avLst/>
          </a:prstGeom>
          <a:noFill/>
          <a:ln/>
        </p:spPr>
        <p:txBody>
          <a:bodyPr wrap="square" lIns="0" tIns="0" rIns="0" bIns="0" rtlCol="0" anchor="ctr"/>
          <a:lstStyle/>
          <a:p>
            <a:pPr algn="ctr" indent="0" marL="0">
              <a:buNone/>
            </a:pPr>
            <a:r>
              <a:rPr lang="en-US" sz="1600" b="1" dirty="0">
                <a:solidFill>
                  <a:schemeClr val="tx1"/>
                </a:solidFill>
              </a:rPr>
              <a:t>Huge, filled with coloured glass</a:t>
            </a:r>
            <a:endParaRPr lang="en-US" sz="1600" dirty="0"/>
          </a:p>
        </p:txBody>
      </p:sp>
      <p:sp>
        <p:nvSpPr>
          <p:cNvPr id="24" name="Hairline"/>
          <p:cNvSpPr/>
          <p:nvPr/>
        </p:nvSpPr>
        <p:spPr>
          <a:xfrm>
            <a:off x="640080" y="5833872"/>
            <a:ext cx="6492240" cy="0"/>
          </a:xfrm>
          <a:prstGeom prst="line">
            <a:avLst/>
          </a:prstGeom>
          <a:noFill/>
          <a:ln w="9525">
            <a:solidFill>
              <a:srgbClr val="CFCABD"/>
            </a:solidFill>
            <a:prstDash val="solid"/>
          </a:ln>
        </p:spPr>
      </p:sp>
      <p:sp>
        <p:nvSpPr>
          <p:cNvPr id="25" name="Text 21"/>
          <p:cNvSpPr txBox="1"/>
          <p:nvPr/>
        </p:nvSpPr>
        <p:spPr>
          <a:xfrm>
            <a:off x="640080" y="5852160"/>
            <a:ext cx="2011680" cy="420624"/>
          </a:xfrm>
          <a:prstGeom prst="rect">
            <a:avLst/>
          </a:prstGeom>
          <a:noFill/>
          <a:ln/>
        </p:spPr>
        <p:txBody>
          <a:bodyPr wrap="square" lIns="0" tIns="0" rIns="0" bIns="0" rtlCol="0" anchor="ctr"/>
          <a:lstStyle/>
          <a:p>
            <a:pPr indent="0" marL="0">
              <a:buNone/>
            </a:pPr>
            <a:r>
              <a:rPr lang="en-US" sz="1400" b="1" spc="200" kern="0" dirty="0">
                <a:solidFill>
                  <a:schemeClr val="accent2"/>
                </a:solidFill>
              </a:rPr>
              <a:t>FEELING</a:t>
            </a:r>
            <a:endParaRPr lang="en-US" sz="1400" dirty="0"/>
          </a:p>
        </p:txBody>
      </p:sp>
      <p:sp>
        <p:nvSpPr>
          <p:cNvPr id="26" name="Text 22"/>
          <p:cNvSpPr txBox="1"/>
          <p:nvPr/>
        </p:nvSpPr>
        <p:spPr>
          <a:xfrm>
            <a:off x="2926080" y="5852160"/>
            <a:ext cx="4206240" cy="420624"/>
          </a:xfrm>
          <a:prstGeom prst="rect">
            <a:avLst/>
          </a:prstGeom>
          <a:noFill/>
          <a:ln/>
        </p:spPr>
        <p:txBody>
          <a:bodyPr wrap="square" lIns="0" tIns="0" rIns="0" bIns="0" rtlCol="0" anchor="ctr"/>
          <a:lstStyle/>
          <a:p>
            <a:pPr algn="ctr" indent="0" marL="0">
              <a:buNone/>
            </a:pPr>
            <a:r>
              <a:rPr lang="en-US" sz="1600" dirty="0">
                <a:solidFill>
                  <a:schemeClr val="tx1"/>
                </a:solidFill>
              </a:rPr>
              <a:t>Solid, protective, earthly</a:t>
            </a:r>
            <a:endParaRPr lang="en-US" sz="1600" dirty="0"/>
          </a:p>
        </p:txBody>
      </p:sp>
      <p:sp>
        <p:nvSpPr>
          <p:cNvPr id="27" name="Text 23"/>
          <p:cNvSpPr txBox="1"/>
          <p:nvPr/>
        </p:nvSpPr>
        <p:spPr>
          <a:xfrm>
            <a:off x="7498080" y="5852160"/>
            <a:ext cx="4206240" cy="420624"/>
          </a:xfrm>
          <a:prstGeom prst="rect">
            <a:avLst/>
          </a:prstGeom>
          <a:noFill/>
          <a:ln/>
        </p:spPr>
        <p:txBody>
          <a:bodyPr wrap="square" lIns="0" tIns="0" rIns="0" bIns="0" rtlCol="0" anchor="ctr"/>
          <a:lstStyle/>
          <a:p>
            <a:pPr algn="ctr" indent="0" marL="0">
              <a:buNone/>
            </a:pPr>
            <a:r>
              <a:rPr lang="en-US" sz="1600" b="1" dirty="0">
                <a:solidFill>
                  <a:schemeClr val="tx1"/>
                </a:solidFill>
              </a:rPr>
              <a:t>Soaring, bright, heavenly</a:t>
            </a:r>
            <a:endParaRPr lang="en-US" sz="16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877"/>
                </a:solidFill>
              </a:defRPr>
            </a:lvl1pPr>
          </a:lstStyle>
          <a:p>
            <a:pPr algn="r"/>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347472"/>
            <a:ext cx="7315200" cy="274320"/>
          </a:xfrm>
          <a:prstGeom prst="rect">
            <a:avLst/>
          </a:prstGeom>
          <a:noFill/>
          <a:ln/>
        </p:spPr>
        <p:txBody>
          <a:bodyPr wrap="square" lIns="0" tIns="0" rIns="0" bIns="0" rtlCol="0" anchor="t"/>
          <a:lstStyle/>
          <a:p>
            <a:pPr indent="0" marL="0">
              <a:buNone/>
            </a:pPr>
            <a:r>
              <a:rPr lang="en-US" sz="1200" b="1" spc="400" kern="0" dirty="0">
                <a:solidFill>
                  <a:schemeClr val="accent2"/>
                </a:solidFill>
              </a:rPr>
              <a:t>STRUCTURE</a:t>
            </a:r>
            <a:endParaRPr lang="en-US" sz="1200" dirty="0"/>
          </a:p>
        </p:txBody>
      </p:sp>
      <p:sp>
        <p:nvSpPr>
          <p:cNvPr id="3" name="Text 0"/>
          <p:cNvSpPr/>
          <p:nvPr>
            <p:ph idx="100" type="title" hasCustomPrompt="1"/>
          </p:nvPr>
        </p:nvSpPr>
        <p:spPr>
          <a:xfrm>
            <a:off x="640080" y="621792"/>
            <a:ext cx="10881360" cy="731520"/>
          </a:xfrm>
          <a:prstGeom prst="rect">
            <a:avLst/>
          </a:prstGeom>
          <a:noFill/>
          <a:ln/>
        </p:spPr>
        <p:txBody>
          <a:bodyPr wrap="square" lIns="0" tIns="0" rIns="0" bIns="0" rtlCol="0" anchor="ctr"/>
          <a:lstStyle/>
          <a:p>
            <a:pPr algn="l" indent="0" marL="0">
              <a:buNone/>
            </a:pPr>
            <a:r>
              <a:rPr lang="en-US" sz="3400" b="1" dirty="0">
                <a:solidFill>
                  <a:schemeClr val="tx1"/>
                </a:solidFill>
              </a:rPr>
              <a:t>Three ideas that changed everything</a:t>
            </a:r>
            <a:endParaRPr lang="en-US" sz="3400" dirty="0"/>
          </a:p>
        </p:txBody>
      </p:sp>
      <p:sp>
        <p:nvSpPr>
          <p:cNvPr id="4" name="Invention arch 1"/>
          <p:cNvSpPr/>
          <p:nvPr/>
        </p:nvSpPr>
        <p:spPr>
          <a:xfrm>
            <a:off x="548640" y="1508760"/>
            <a:ext cx="3520440" cy="4754880"/>
          </a:xfrm>
          <a:custGeom>
            <a:avLst/>
            <a:gdLst/>
            <a:ahLst/>
            <a:cxnLst/>
            <a:rect l="l" t="t" r="r" b="b"/>
            <a:pathLst>
              <a:path w="3520440" h="4754880">
                <a:moveTo>
                  <a:pt x="0" y="4754880"/>
                </a:moveTo>
                <a:lnTo>
                  <a:pt x="0" y="3048701"/>
                </a:lnTo>
                <a:cubicBezTo>
                  <a:pt x="0" y="1790848"/>
                  <a:pt x="670996" y="628751"/>
                  <a:pt x="1760220" y="0"/>
                </a:cubicBezTo>
                <a:cubicBezTo>
                  <a:pt x="2849444" y="628751"/>
                  <a:pt x="3520440" y="1790848"/>
                  <a:pt x="3520440" y="3048701"/>
                </a:cubicBezTo>
                <a:lnTo>
                  <a:pt x="3520440" y="4754880"/>
                </a:lnTo>
                <a:close/>
              </a:path>
            </a:pathLst>
          </a:custGeom>
          <a:solidFill>
            <a:srgbClr val="E9E5DC"/>
          </a:solidFill>
          <a:ln w="12700">
            <a:solidFill>
              <a:schemeClr val="tx1"/>
            </a:solidFill>
            <a:prstDash val="solid"/>
          </a:ln>
        </p:spPr>
      </p:sp>
      <p:pic>
        <p:nvPicPr>
          <p:cNvPr id="5" name="Image 0" descr="1  Pointed arch">    </p:cNvPr>
          <p:cNvPicPr>
            <a:picLocks noChangeAspect="1"/>
          </p:cNvPicPr>
          <p:nvPr/>
        </p:nvPicPr>
        <p:blipFill>
          <a:blip r:embed="rId1"/>
          <a:stretch>
            <a:fillRect/>
          </a:stretch>
        </p:blipFill>
        <p:spPr>
          <a:xfrm>
            <a:off x="1303020" y="2377440"/>
            <a:ext cx="2011680" cy="2011680"/>
          </a:xfrm>
          <a:prstGeom prst="rect">
            <a:avLst/>
          </a:prstGeom>
        </p:spPr>
      </p:pic>
      <p:sp>
        <p:nvSpPr>
          <p:cNvPr id="6" name="Text 3"/>
          <p:cNvSpPr txBox="1"/>
          <p:nvPr/>
        </p:nvSpPr>
        <p:spPr>
          <a:xfrm>
            <a:off x="822960" y="4480560"/>
            <a:ext cx="2971800" cy="411480"/>
          </a:xfrm>
          <a:prstGeom prst="rect">
            <a:avLst/>
          </a:prstGeom>
          <a:noFill/>
          <a:ln/>
        </p:spPr>
        <p:txBody>
          <a:bodyPr wrap="square" lIns="0" tIns="0" rIns="0" bIns="0" rtlCol="0" anchor="t"/>
          <a:lstStyle/>
          <a:p>
            <a:pPr algn="ctr" indent="0" marL="0">
              <a:buNone/>
            </a:pPr>
            <a:r>
              <a:rPr lang="en-US" sz="2200" b="1" dirty="0">
                <a:solidFill>
                  <a:schemeClr val="accent2"/>
                </a:solidFill>
                <a:latin typeface="Cambria" pitchFamily="34" charset="0"/>
                <a:ea typeface="Cambria" pitchFamily="34" charset="-122"/>
                <a:cs typeface="Cambria" pitchFamily="34" charset="-120"/>
              </a:rPr>
              <a:t>1  Pointed arch</a:t>
            </a:r>
            <a:endParaRPr lang="en-US" sz="2200" dirty="0"/>
          </a:p>
        </p:txBody>
      </p:sp>
      <p:sp>
        <p:nvSpPr>
          <p:cNvPr id="7" name="Text 4"/>
          <p:cNvSpPr txBox="1"/>
          <p:nvPr/>
        </p:nvSpPr>
        <p:spPr>
          <a:xfrm>
            <a:off x="822960" y="4937760"/>
            <a:ext cx="2971800" cy="1188720"/>
          </a:xfrm>
          <a:prstGeom prst="rect">
            <a:avLst/>
          </a:prstGeom>
          <a:noFill/>
          <a:ln/>
        </p:spPr>
        <p:txBody>
          <a:bodyPr wrap="square" lIns="0" tIns="0" rIns="0" bIns="0" rtlCol="0" anchor="t"/>
          <a:lstStyle/>
          <a:p>
            <a:pPr algn="ctr" indent="0" marL="0">
              <a:buNone/>
            </a:pPr>
            <a:r>
              <a:rPr lang="en-US" sz="1500" dirty="0">
                <a:solidFill>
                  <a:schemeClr val="tx1"/>
                </a:solidFill>
              </a:rPr>
              <a:t>Steeper sides push the load down, not out. Any width can reach any height.</a:t>
            </a:r>
            <a:endParaRPr lang="en-US" sz="1500" dirty="0"/>
          </a:p>
        </p:txBody>
      </p:sp>
      <p:sp>
        <p:nvSpPr>
          <p:cNvPr id="8" name="Invention arch 2"/>
          <p:cNvSpPr/>
          <p:nvPr/>
        </p:nvSpPr>
        <p:spPr>
          <a:xfrm>
            <a:off x="4343400" y="1508760"/>
            <a:ext cx="3520440" cy="4754880"/>
          </a:xfrm>
          <a:custGeom>
            <a:avLst/>
            <a:gdLst/>
            <a:ahLst/>
            <a:cxnLst/>
            <a:rect l="l" t="t" r="r" b="b"/>
            <a:pathLst>
              <a:path w="3520440" h="4754880">
                <a:moveTo>
                  <a:pt x="0" y="4754880"/>
                </a:moveTo>
                <a:lnTo>
                  <a:pt x="0" y="3048701"/>
                </a:lnTo>
                <a:cubicBezTo>
                  <a:pt x="0" y="1790848"/>
                  <a:pt x="670996" y="628751"/>
                  <a:pt x="1760220" y="0"/>
                </a:cubicBezTo>
                <a:cubicBezTo>
                  <a:pt x="2849444" y="628751"/>
                  <a:pt x="3520440" y="1790848"/>
                  <a:pt x="3520440" y="3048701"/>
                </a:cubicBezTo>
                <a:lnTo>
                  <a:pt x="3520440" y="4754880"/>
                </a:lnTo>
                <a:close/>
              </a:path>
            </a:pathLst>
          </a:custGeom>
          <a:solidFill>
            <a:srgbClr val="E9E5DC"/>
          </a:solidFill>
          <a:ln w="12700">
            <a:solidFill>
              <a:schemeClr val="tx1"/>
            </a:solidFill>
            <a:prstDash val="solid"/>
          </a:ln>
        </p:spPr>
      </p:sp>
      <p:pic>
        <p:nvPicPr>
          <p:cNvPr id="9" name="Image 1" descr="2  Ribbed vault">    </p:cNvPr>
          <p:cNvPicPr>
            <a:picLocks noChangeAspect="1"/>
          </p:cNvPicPr>
          <p:nvPr/>
        </p:nvPicPr>
        <p:blipFill>
          <a:blip r:embed="rId2"/>
          <a:stretch>
            <a:fillRect/>
          </a:stretch>
        </p:blipFill>
        <p:spPr>
          <a:xfrm>
            <a:off x="5097780" y="2377440"/>
            <a:ext cx="2011680" cy="2011680"/>
          </a:xfrm>
          <a:prstGeom prst="rect">
            <a:avLst/>
          </a:prstGeom>
        </p:spPr>
      </p:pic>
      <p:sp>
        <p:nvSpPr>
          <p:cNvPr id="10" name="Text 6"/>
          <p:cNvSpPr txBox="1"/>
          <p:nvPr/>
        </p:nvSpPr>
        <p:spPr>
          <a:xfrm>
            <a:off x="4617720" y="4480560"/>
            <a:ext cx="2971800" cy="411480"/>
          </a:xfrm>
          <a:prstGeom prst="rect">
            <a:avLst/>
          </a:prstGeom>
          <a:noFill/>
          <a:ln/>
        </p:spPr>
        <p:txBody>
          <a:bodyPr wrap="square" lIns="0" tIns="0" rIns="0" bIns="0" rtlCol="0" anchor="t"/>
          <a:lstStyle/>
          <a:p>
            <a:pPr algn="ctr" indent="0" marL="0">
              <a:buNone/>
            </a:pPr>
            <a:r>
              <a:rPr lang="en-US" sz="2200" b="1" dirty="0">
                <a:solidFill>
                  <a:schemeClr val="accent2"/>
                </a:solidFill>
                <a:latin typeface="Cambria" pitchFamily="34" charset="0"/>
                <a:ea typeface="Cambria" pitchFamily="34" charset="-122"/>
                <a:cs typeface="Cambria" pitchFamily="34" charset="-120"/>
              </a:rPr>
              <a:t>2  Ribbed vault</a:t>
            </a:r>
            <a:endParaRPr lang="en-US" sz="2200" dirty="0"/>
          </a:p>
        </p:txBody>
      </p:sp>
      <p:sp>
        <p:nvSpPr>
          <p:cNvPr id="11" name="Text 7"/>
          <p:cNvSpPr txBox="1"/>
          <p:nvPr/>
        </p:nvSpPr>
        <p:spPr>
          <a:xfrm>
            <a:off x="4617720" y="4937760"/>
            <a:ext cx="2971800" cy="1188720"/>
          </a:xfrm>
          <a:prstGeom prst="rect">
            <a:avLst/>
          </a:prstGeom>
          <a:noFill/>
          <a:ln/>
        </p:spPr>
        <p:txBody>
          <a:bodyPr wrap="square" lIns="0" tIns="0" rIns="0" bIns="0" rtlCol="0" anchor="t"/>
          <a:lstStyle/>
          <a:p>
            <a:pPr algn="ctr" indent="0" marL="0">
              <a:buNone/>
            </a:pPr>
            <a:r>
              <a:rPr lang="en-US" sz="1500" dirty="0">
                <a:solidFill>
                  <a:schemeClr val="tx1"/>
                </a:solidFill>
              </a:rPr>
              <a:t>Stone ribs form a skeleton with thin panels between. Loads flow to the piers.</a:t>
            </a:r>
            <a:endParaRPr lang="en-US" sz="1500" dirty="0"/>
          </a:p>
        </p:txBody>
      </p:sp>
      <p:sp>
        <p:nvSpPr>
          <p:cNvPr id="12" name="Invention arch 3"/>
          <p:cNvSpPr/>
          <p:nvPr/>
        </p:nvSpPr>
        <p:spPr>
          <a:xfrm>
            <a:off x="8138160" y="1508760"/>
            <a:ext cx="3520440" cy="4754880"/>
          </a:xfrm>
          <a:custGeom>
            <a:avLst/>
            <a:gdLst/>
            <a:ahLst/>
            <a:cxnLst/>
            <a:rect l="l" t="t" r="r" b="b"/>
            <a:pathLst>
              <a:path w="3520440" h="4754880">
                <a:moveTo>
                  <a:pt x="0" y="4754880"/>
                </a:moveTo>
                <a:lnTo>
                  <a:pt x="0" y="3048701"/>
                </a:lnTo>
                <a:cubicBezTo>
                  <a:pt x="0" y="1790848"/>
                  <a:pt x="670996" y="628751"/>
                  <a:pt x="1760220" y="0"/>
                </a:cubicBezTo>
                <a:cubicBezTo>
                  <a:pt x="2849444" y="628751"/>
                  <a:pt x="3520440" y="1790848"/>
                  <a:pt x="3520440" y="3048701"/>
                </a:cubicBezTo>
                <a:lnTo>
                  <a:pt x="3520440" y="4754880"/>
                </a:lnTo>
                <a:close/>
              </a:path>
            </a:pathLst>
          </a:custGeom>
          <a:solidFill>
            <a:srgbClr val="E9E5DC"/>
          </a:solidFill>
          <a:ln w="12700">
            <a:solidFill>
              <a:schemeClr val="tx1"/>
            </a:solidFill>
            <a:prstDash val="solid"/>
          </a:ln>
        </p:spPr>
      </p:sp>
      <p:pic>
        <p:nvPicPr>
          <p:cNvPr id="13" name="Image 2" descr="3  Flying buttress">    </p:cNvPr>
          <p:cNvPicPr>
            <a:picLocks noChangeAspect="1"/>
          </p:cNvPicPr>
          <p:nvPr/>
        </p:nvPicPr>
        <p:blipFill>
          <a:blip r:embed="rId3"/>
          <a:stretch>
            <a:fillRect/>
          </a:stretch>
        </p:blipFill>
        <p:spPr>
          <a:xfrm>
            <a:off x="9074447" y="2377440"/>
            <a:ext cx="1647866" cy="2011680"/>
          </a:xfrm>
          <a:prstGeom prst="rect">
            <a:avLst/>
          </a:prstGeom>
        </p:spPr>
      </p:pic>
      <p:sp>
        <p:nvSpPr>
          <p:cNvPr id="14" name="Text 9"/>
          <p:cNvSpPr txBox="1"/>
          <p:nvPr/>
        </p:nvSpPr>
        <p:spPr>
          <a:xfrm>
            <a:off x="8412480" y="4480560"/>
            <a:ext cx="2971800" cy="411480"/>
          </a:xfrm>
          <a:prstGeom prst="rect">
            <a:avLst/>
          </a:prstGeom>
          <a:noFill/>
          <a:ln/>
        </p:spPr>
        <p:txBody>
          <a:bodyPr wrap="square" lIns="0" tIns="0" rIns="0" bIns="0" rtlCol="0" anchor="t"/>
          <a:lstStyle/>
          <a:p>
            <a:pPr algn="ctr" indent="0" marL="0">
              <a:buNone/>
            </a:pPr>
            <a:r>
              <a:rPr lang="en-US" sz="2200" b="1" dirty="0">
                <a:solidFill>
                  <a:schemeClr val="accent2"/>
                </a:solidFill>
                <a:latin typeface="Cambria" pitchFamily="34" charset="0"/>
                <a:ea typeface="Cambria" pitchFamily="34" charset="-122"/>
                <a:cs typeface="Cambria" pitchFamily="34" charset="-120"/>
              </a:rPr>
              <a:t>3  Flying buttress</a:t>
            </a:r>
            <a:endParaRPr lang="en-US" sz="2200" dirty="0"/>
          </a:p>
        </p:txBody>
      </p:sp>
      <p:sp>
        <p:nvSpPr>
          <p:cNvPr id="15" name="Text 10"/>
          <p:cNvSpPr txBox="1"/>
          <p:nvPr/>
        </p:nvSpPr>
        <p:spPr>
          <a:xfrm>
            <a:off x="8412480" y="4937760"/>
            <a:ext cx="2971800" cy="1188720"/>
          </a:xfrm>
          <a:prstGeom prst="rect">
            <a:avLst/>
          </a:prstGeom>
          <a:noFill/>
          <a:ln/>
        </p:spPr>
        <p:txBody>
          <a:bodyPr wrap="square" lIns="0" tIns="0" rIns="0" bIns="0" rtlCol="0" anchor="t"/>
          <a:lstStyle/>
          <a:p>
            <a:pPr algn="ctr" indent="0" marL="0">
              <a:buNone/>
            </a:pPr>
            <a:r>
              <a:rPr lang="en-US" sz="1500" dirty="0">
                <a:solidFill>
                  <a:schemeClr val="tx1"/>
                </a:solidFill>
              </a:rPr>
              <a:t>An arch outside the wall catches the roof's push and carries it to a heavy pier.</a:t>
            </a:r>
            <a:endParaRPr lang="en-US" sz="15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877"/>
                </a:solidFill>
              </a:defRPr>
            </a:lvl1pPr>
          </a:lstStyle>
          <a:p>
            <a:pPr algn="r"/>
            <a:fld id="{F7021451-1387-4CA6-816F-3879F97B5CBC}" type="slidenum">
              <a:rPr b="0" lang="en-US"/>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347472"/>
            <a:ext cx="7315200" cy="274320"/>
          </a:xfrm>
          <a:prstGeom prst="rect">
            <a:avLst/>
          </a:prstGeom>
          <a:noFill/>
          <a:ln/>
        </p:spPr>
        <p:txBody>
          <a:bodyPr wrap="square" lIns="0" tIns="0" rIns="0" bIns="0" rtlCol="0" anchor="t"/>
          <a:lstStyle/>
          <a:p>
            <a:pPr indent="0" marL="0">
              <a:buNone/>
            </a:pPr>
            <a:r>
              <a:rPr lang="en-US" sz="1200" b="1" spc="400" kern="0" dirty="0">
                <a:solidFill>
                  <a:schemeClr val="accent2"/>
                </a:solidFill>
              </a:rPr>
              <a:t>STRUCTURE</a:t>
            </a:r>
            <a:endParaRPr lang="en-US" sz="1200" dirty="0"/>
          </a:p>
        </p:txBody>
      </p:sp>
      <p:sp>
        <p:nvSpPr>
          <p:cNvPr id="3" name="Text 0"/>
          <p:cNvSpPr/>
          <p:nvPr>
            <p:ph idx="100" type="title" hasCustomPrompt="1"/>
          </p:nvPr>
        </p:nvSpPr>
        <p:spPr>
          <a:xfrm>
            <a:off x="640080" y="621792"/>
            <a:ext cx="10881360" cy="731520"/>
          </a:xfrm>
          <a:prstGeom prst="rect">
            <a:avLst/>
          </a:prstGeom>
          <a:noFill/>
          <a:ln/>
        </p:spPr>
        <p:txBody>
          <a:bodyPr wrap="square" lIns="0" tIns="0" rIns="0" bIns="0" rtlCol="0" anchor="ctr"/>
          <a:lstStyle/>
          <a:p>
            <a:pPr algn="l" indent="0" marL="0">
              <a:buNone/>
            </a:pPr>
            <a:r>
              <a:rPr lang="en-US" sz="3400" b="1" dirty="0">
                <a:solidFill>
                  <a:schemeClr val="tx1"/>
                </a:solidFill>
              </a:rPr>
              <a:t>Follow the force</a:t>
            </a:r>
            <a:endParaRPr lang="en-US" sz="3400" dirty="0"/>
          </a:p>
        </p:txBody>
      </p:sp>
      <p:pic>
        <p:nvPicPr>
          <p:cNvPr id="4" name="Image 0" descr="Cross-section of a Gothic nave showing how thrust flows through the flying buttress to the ground">    </p:cNvPr>
          <p:cNvPicPr>
            <a:picLocks noChangeAspect="1"/>
          </p:cNvPicPr>
          <p:nvPr/>
        </p:nvPicPr>
        <p:blipFill>
          <a:blip r:embed="rId1"/>
          <a:stretch>
            <a:fillRect/>
          </a:stretch>
        </p:blipFill>
        <p:spPr>
          <a:xfrm>
            <a:off x="548640" y="1463040"/>
            <a:ext cx="6583680" cy="5003597"/>
          </a:xfrm>
          <a:prstGeom prst="rect">
            <a:avLst/>
          </a:prstGeom>
        </p:spPr>
      </p:pic>
      <p:sp>
        <p:nvSpPr>
          <p:cNvPr id="5" name="Text 2"/>
          <p:cNvSpPr txBox="1"/>
          <p:nvPr/>
        </p:nvSpPr>
        <p:spPr>
          <a:xfrm>
            <a:off x="3116275" y="3959352"/>
            <a:ext cx="1448410" cy="274320"/>
          </a:xfrm>
          <a:prstGeom prst="rect">
            <a:avLst/>
          </a:prstGeom>
          <a:noFill/>
          <a:ln/>
        </p:spPr>
        <p:txBody>
          <a:bodyPr wrap="square" lIns="0" tIns="0" rIns="0" bIns="0" rtlCol="0" anchor="ctr"/>
          <a:lstStyle/>
          <a:p>
            <a:pPr algn="ctr" indent="0" marL="0">
              <a:buNone/>
            </a:pPr>
            <a:r>
              <a:rPr lang="en-US" sz="1200" b="1" spc="200" kern="0" dirty="0">
                <a:solidFill>
                  <a:schemeClr val="accent2"/>
                </a:solidFill>
              </a:rPr>
              <a:t>CLERESTORY</a:t>
            </a:r>
            <a:endParaRPr lang="en-US" sz="1200" dirty="0"/>
          </a:p>
        </p:txBody>
      </p:sp>
      <p:sp>
        <p:nvSpPr>
          <p:cNvPr id="6" name="Text 3"/>
          <p:cNvSpPr txBox="1"/>
          <p:nvPr/>
        </p:nvSpPr>
        <p:spPr>
          <a:xfrm>
            <a:off x="3116275" y="4584802"/>
            <a:ext cx="1448410" cy="274320"/>
          </a:xfrm>
          <a:prstGeom prst="rect">
            <a:avLst/>
          </a:prstGeom>
          <a:noFill/>
          <a:ln/>
        </p:spPr>
        <p:txBody>
          <a:bodyPr wrap="square" lIns="0" tIns="0" rIns="0" bIns="0" rtlCol="0" anchor="ctr"/>
          <a:lstStyle/>
          <a:p>
            <a:pPr algn="ctr" indent="0" marL="0">
              <a:buNone/>
            </a:pPr>
            <a:r>
              <a:rPr lang="en-US" sz="1200" b="1" spc="200" kern="0" dirty="0">
                <a:solidFill>
                  <a:schemeClr val="accent2"/>
                </a:solidFill>
              </a:rPr>
              <a:t>TRIFORIUM</a:t>
            </a:r>
            <a:endParaRPr lang="en-US" sz="1200" dirty="0"/>
          </a:p>
        </p:txBody>
      </p:sp>
      <p:sp>
        <p:nvSpPr>
          <p:cNvPr id="7" name="Text 4"/>
          <p:cNvSpPr txBox="1"/>
          <p:nvPr/>
        </p:nvSpPr>
        <p:spPr>
          <a:xfrm>
            <a:off x="3116275" y="5407762"/>
            <a:ext cx="1448410" cy="274320"/>
          </a:xfrm>
          <a:prstGeom prst="rect">
            <a:avLst/>
          </a:prstGeom>
          <a:noFill/>
          <a:ln/>
        </p:spPr>
        <p:txBody>
          <a:bodyPr wrap="square" lIns="0" tIns="0" rIns="0" bIns="0" rtlCol="0" anchor="ctr"/>
          <a:lstStyle/>
          <a:p>
            <a:pPr algn="ctr" indent="0" marL="0">
              <a:buNone/>
            </a:pPr>
            <a:r>
              <a:rPr lang="en-US" sz="1200" b="1" spc="200" kern="0" dirty="0">
                <a:solidFill>
                  <a:schemeClr val="accent2"/>
                </a:solidFill>
              </a:rPr>
              <a:t>ARCADE</a:t>
            </a:r>
            <a:endParaRPr lang="en-US" sz="1200" dirty="0"/>
          </a:p>
        </p:txBody>
      </p:sp>
      <p:sp>
        <p:nvSpPr>
          <p:cNvPr id="8" name="Number 1"/>
          <p:cNvSpPr/>
          <p:nvPr/>
        </p:nvSpPr>
        <p:spPr>
          <a:xfrm>
            <a:off x="7498080" y="1554480"/>
            <a:ext cx="502920" cy="502920"/>
          </a:xfrm>
          <a:prstGeom prst="ellipse">
            <a:avLst/>
          </a:prstGeom>
          <a:solidFill>
            <a:schemeClr val="accent1"/>
          </a:solidFill>
          <a:ln w="6350">
            <a:solidFill>
              <a:schemeClr val="accent1"/>
            </a:solidFill>
            <a:prstDash val="solid"/>
          </a:ln>
        </p:spPr>
      </p:sp>
      <p:sp>
        <p:nvSpPr>
          <p:cNvPr id="9" name="Text 6"/>
          <p:cNvSpPr txBox="1"/>
          <p:nvPr/>
        </p:nvSpPr>
        <p:spPr>
          <a:xfrm>
            <a:off x="7498080" y="1554480"/>
            <a:ext cx="502920" cy="502920"/>
          </a:xfrm>
          <a:prstGeom prst="rect">
            <a:avLst/>
          </a:prstGeom>
          <a:noFill/>
          <a:ln/>
        </p:spPr>
        <p:txBody>
          <a:bodyPr wrap="square" lIns="0" tIns="0" rIns="0" bIns="0" rtlCol="0" anchor="ctr"/>
          <a:lstStyle/>
          <a:p>
            <a:pPr algn="ctr" indent="0" marL="0">
              <a:buNone/>
            </a:pPr>
            <a:r>
              <a:rPr lang="en-US" sz="2000" b="1" dirty="0">
                <a:solidFill>
                  <a:srgbClr val="14131C"/>
                </a:solidFill>
                <a:latin typeface="Cambria" pitchFamily="34" charset="0"/>
                <a:ea typeface="Cambria" pitchFamily="34" charset="-122"/>
                <a:cs typeface="Cambria" pitchFamily="34" charset="-120"/>
              </a:rPr>
              <a:t>1</a:t>
            </a:r>
            <a:endParaRPr lang="en-US" sz="2000" dirty="0"/>
          </a:p>
        </p:txBody>
      </p:sp>
      <p:sp>
        <p:nvSpPr>
          <p:cNvPr id="10" name="Text 7"/>
          <p:cNvSpPr txBox="1"/>
          <p:nvPr/>
        </p:nvSpPr>
        <p:spPr>
          <a:xfrm>
            <a:off x="8229600" y="1508760"/>
            <a:ext cx="338328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The vault pushes</a:t>
            </a:r>
            <a:endParaRPr lang="en-US" sz="1800" dirty="0"/>
          </a:p>
        </p:txBody>
      </p:sp>
      <p:sp>
        <p:nvSpPr>
          <p:cNvPr id="11" name="Text 8"/>
          <p:cNvSpPr txBox="1"/>
          <p:nvPr/>
        </p:nvSpPr>
        <p:spPr>
          <a:xfrm>
            <a:off x="8229600" y="1892808"/>
            <a:ext cx="3383280" cy="594360"/>
          </a:xfrm>
          <a:prstGeom prst="rect">
            <a:avLst/>
          </a:prstGeom>
          <a:noFill/>
          <a:ln/>
        </p:spPr>
        <p:txBody>
          <a:bodyPr wrap="square" lIns="0" tIns="0" rIns="0" bIns="0" rtlCol="0" anchor="t"/>
          <a:lstStyle/>
          <a:p>
            <a:pPr indent="0" marL="0">
              <a:buNone/>
            </a:pPr>
            <a:r>
              <a:rPr lang="en-US" sz="1400" dirty="0">
                <a:solidFill>
                  <a:schemeClr val="tx1"/>
                </a:solidFill>
              </a:rPr>
              <a:t>Heavy stone presses down and outwards at the top of the wall.</a:t>
            </a:r>
            <a:endParaRPr lang="en-US" sz="1400" dirty="0"/>
          </a:p>
        </p:txBody>
      </p:sp>
      <p:sp>
        <p:nvSpPr>
          <p:cNvPr id="12" name="Number 2"/>
          <p:cNvSpPr/>
          <p:nvPr/>
        </p:nvSpPr>
        <p:spPr>
          <a:xfrm>
            <a:off x="7498080" y="2606040"/>
            <a:ext cx="502920" cy="502920"/>
          </a:xfrm>
          <a:prstGeom prst="ellipse">
            <a:avLst/>
          </a:prstGeom>
          <a:solidFill>
            <a:schemeClr val="accent1"/>
          </a:solidFill>
          <a:ln w="6350">
            <a:solidFill>
              <a:schemeClr val="accent1"/>
            </a:solidFill>
            <a:prstDash val="solid"/>
          </a:ln>
        </p:spPr>
      </p:sp>
      <p:sp>
        <p:nvSpPr>
          <p:cNvPr id="13" name="Text 10"/>
          <p:cNvSpPr txBox="1"/>
          <p:nvPr/>
        </p:nvSpPr>
        <p:spPr>
          <a:xfrm>
            <a:off x="7498080" y="2606040"/>
            <a:ext cx="502920" cy="502920"/>
          </a:xfrm>
          <a:prstGeom prst="rect">
            <a:avLst/>
          </a:prstGeom>
          <a:noFill/>
          <a:ln/>
        </p:spPr>
        <p:txBody>
          <a:bodyPr wrap="square" lIns="0" tIns="0" rIns="0" bIns="0" rtlCol="0" anchor="ctr"/>
          <a:lstStyle/>
          <a:p>
            <a:pPr algn="ctr" indent="0" marL="0">
              <a:buNone/>
            </a:pPr>
            <a:r>
              <a:rPr lang="en-US" sz="2000" b="1" dirty="0">
                <a:solidFill>
                  <a:srgbClr val="14131C"/>
                </a:solidFill>
                <a:latin typeface="Cambria" pitchFamily="34" charset="0"/>
                <a:ea typeface="Cambria" pitchFamily="34" charset="-122"/>
                <a:cs typeface="Cambria" pitchFamily="34" charset="-120"/>
              </a:rPr>
              <a:t>2</a:t>
            </a:r>
            <a:endParaRPr lang="en-US" sz="2000" dirty="0"/>
          </a:p>
        </p:txBody>
      </p:sp>
      <p:sp>
        <p:nvSpPr>
          <p:cNvPr id="14" name="Text 11"/>
          <p:cNvSpPr txBox="1"/>
          <p:nvPr/>
        </p:nvSpPr>
        <p:spPr>
          <a:xfrm>
            <a:off x="8229600" y="2560320"/>
            <a:ext cx="338328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The flying buttress catches it</a:t>
            </a:r>
            <a:endParaRPr lang="en-US" sz="1800" dirty="0"/>
          </a:p>
        </p:txBody>
      </p:sp>
      <p:sp>
        <p:nvSpPr>
          <p:cNvPr id="15" name="Text 12"/>
          <p:cNvSpPr txBox="1"/>
          <p:nvPr/>
        </p:nvSpPr>
        <p:spPr>
          <a:xfrm>
            <a:off x="8229600" y="2944368"/>
            <a:ext cx="3383280" cy="594360"/>
          </a:xfrm>
          <a:prstGeom prst="rect">
            <a:avLst/>
          </a:prstGeom>
          <a:noFill/>
          <a:ln/>
        </p:spPr>
        <p:txBody>
          <a:bodyPr wrap="square" lIns="0" tIns="0" rIns="0" bIns="0" rtlCol="0" anchor="t"/>
          <a:lstStyle/>
          <a:p>
            <a:pPr indent="0" marL="0">
              <a:buNone/>
            </a:pPr>
            <a:r>
              <a:rPr lang="en-US" sz="1400" dirty="0">
                <a:solidFill>
                  <a:schemeClr val="tx1"/>
                </a:solidFill>
              </a:rPr>
              <a:t>A half-arch sends the thrust over the aisle.</a:t>
            </a:r>
            <a:endParaRPr lang="en-US" sz="1400" dirty="0"/>
          </a:p>
        </p:txBody>
      </p:sp>
      <p:sp>
        <p:nvSpPr>
          <p:cNvPr id="16" name="Number 3"/>
          <p:cNvSpPr/>
          <p:nvPr/>
        </p:nvSpPr>
        <p:spPr>
          <a:xfrm>
            <a:off x="7498080" y="3657600"/>
            <a:ext cx="502920" cy="502920"/>
          </a:xfrm>
          <a:prstGeom prst="ellipse">
            <a:avLst/>
          </a:prstGeom>
          <a:solidFill>
            <a:schemeClr val="accent1"/>
          </a:solidFill>
          <a:ln w="6350">
            <a:solidFill>
              <a:schemeClr val="accent1"/>
            </a:solidFill>
            <a:prstDash val="solid"/>
          </a:ln>
        </p:spPr>
      </p:sp>
      <p:sp>
        <p:nvSpPr>
          <p:cNvPr id="17" name="Text 14"/>
          <p:cNvSpPr txBox="1"/>
          <p:nvPr/>
        </p:nvSpPr>
        <p:spPr>
          <a:xfrm>
            <a:off x="7498080" y="3657600"/>
            <a:ext cx="502920" cy="502920"/>
          </a:xfrm>
          <a:prstGeom prst="rect">
            <a:avLst/>
          </a:prstGeom>
          <a:noFill/>
          <a:ln/>
        </p:spPr>
        <p:txBody>
          <a:bodyPr wrap="square" lIns="0" tIns="0" rIns="0" bIns="0" rtlCol="0" anchor="ctr"/>
          <a:lstStyle/>
          <a:p>
            <a:pPr algn="ctr" indent="0" marL="0">
              <a:buNone/>
            </a:pPr>
            <a:r>
              <a:rPr lang="en-US" sz="2000" b="1" dirty="0">
                <a:solidFill>
                  <a:srgbClr val="14131C"/>
                </a:solidFill>
                <a:latin typeface="Cambria" pitchFamily="34" charset="0"/>
                <a:ea typeface="Cambria" pitchFamily="34" charset="-122"/>
                <a:cs typeface="Cambria" pitchFamily="34" charset="-120"/>
              </a:rPr>
              <a:t>3</a:t>
            </a:r>
            <a:endParaRPr lang="en-US" sz="2000" dirty="0"/>
          </a:p>
        </p:txBody>
      </p:sp>
      <p:sp>
        <p:nvSpPr>
          <p:cNvPr id="18" name="Text 15"/>
          <p:cNvSpPr txBox="1"/>
          <p:nvPr/>
        </p:nvSpPr>
        <p:spPr>
          <a:xfrm>
            <a:off x="8229600" y="3611880"/>
            <a:ext cx="338328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The pinnacle adds weight</a:t>
            </a:r>
            <a:endParaRPr lang="en-US" sz="1800" dirty="0"/>
          </a:p>
        </p:txBody>
      </p:sp>
      <p:sp>
        <p:nvSpPr>
          <p:cNvPr id="19" name="Text 16"/>
          <p:cNvSpPr txBox="1"/>
          <p:nvPr/>
        </p:nvSpPr>
        <p:spPr>
          <a:xfrm>
            <a:off x="8229600" y="3995928"/>
            <a:ext cx="3383280" cy="594360"/>
          </a:xfrm>
          <a:prstGeom prst="rect">
            <a:avLst/>
          </a:prstGeom>
          <a:noFill/>
          <a:ln/>
        </p:spPr>
        <p:txBody>
          <a:bodyPr wrap="square" lIns="0" tIns="0" rIns="0" bIns="0" rtlCol="0" anchor="t"/>
          <a:lstStyle/>
          <a:p>
            <a:pPr indent="0" marL="0">
              <a:buNone/>
            </a:pPr>
            <a:r>
              <a:rPr lang="en-US" sz="1400" dirty="0">
                <a:solidFill>
                  <a:schemeClr val="tx1"/>
                </a:solidFill>
              </a:rPr>
              <a:t>It keeps the line of force inside the pier.</a:t>
            </a:r>
            <a:endParaRPr lang="en-US" sz="1400" dirty="0"/>
          </a:p>
        </p:txBody>
      </p:sp>
      <p:sp>
        <p:nvSpPr>
          <p:cNvPr id="20" name="Number 4"/>
          <p:cNvSpPr/>
          <p:nvPr/>
        </p:nvSpPr>
        <p:spPr>
          <a:xfrm>
            <a:off x="7498080" y="4709160"/>
            <a:ext cx="502920" cy="502920"/>
          </a:xfrm>
          <a:prstGeom prst="ellipse">
            <a:avLst/>
          </a:prstGeom>
          <a:solidFill>
            <a:schemeClr val="accent1"/>
          </a:solidFill>
          <a:ln w="6350">
            <a:solidFill>
              <a:schemeClr val="accent1"/>
            </a:solidFill>
            <a:prstDash val="solid"/>
          </a:ln>
        </p:spPr>
      </p:sp>
      <p:sp>
        <p:nvSpPr>
          <p:cNvPr id="21" name="Text 18"/>
          <p:cNvSpPr txBox="1"/>
          <p:nvPr/>
        </p:nvSpPr>
        <p:spPr>
          <a:xfrm>
            <a:off x="7498080" y="4709160"/>
            <a:ext cx="502920" cy="502920"/>
          </a:xfrm>
          <a:prstGeom prst="rect">
            <a:avLst/>
          </a:prstGeom>
          <a:noFill/>
          <a:ln/>
        </p:spPr>
        <p:txBody>
          <a:bodyPr wrap="square" lIns="0" tIns="0" rIns="0" bIns="0" rtlCol="0" anchor="ctr"/>
          <a:lstStyle/>
          <a:p>
            <a:pPr algn="ctr" indent="0" marL="0">
              <a:buNone/>
            </a:pPr>
            <a:r>
              <a:rPr lang="en-US" sz="2000" b="1" dirty="0">
                <a:solidFill>
                  <a:srgbClr val="14131C"/>
                </a:solidFill>
                <a:latin typeface="Cambria" pitchFamily="34" charset="0"/>
                <a:ea typeface="Cambria" pitchFamily="34" charset="-122"/>
                <a:cs typeface="Cambria" pitchFamily="34" charset="-120"/>
              </a:rPr>
              <a:t>4</a:t>
            </a:r>
            <a:endParaRPr lang="en-US" sz="2000" dirty="0"/>
          </a:p>
        </p:txBody>
      </p:sp>
      <p:sp>
        <p:nvSpPr>
          <p:cNvPr id="22" name="Text 19"/>
          <p:cNvSpPr txBox="1"/>
          <p:nvPr/>
        </p:nvSpPr>
        <p:spPr>
          <a:xfrm>
            <a:off x="8229600" y="4663440"/>
            <a:ext cx="338328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The pier reaches the ground</a:t>
            </a:r>
            <a:endParaRPr lang="en-US" sz="1800" dirty="0"/>
          </a:p>
        </p:txBody>
      </p:sp>
      <p:sp>
        <p:nvSpPr>
          <p:cNvPr id="23" name="Text 20"/>
          <p:cNvSpPr txBox="1"/>
          <p:nvPr/>
        </p:nvSpPr>
        <p:spPr>
          <a:xfrm>
            <a:off x="8229600" y="5047488"/>
            <a:ext cx="3383280" cy="594360"/>
          </a:xfrm>
          <a:prstGeom prst="rect">
            <a:avLst/>
          </a:prstGeom>
          <a:noFill/>
          <a:ln/>
        </p:spPr>
        <p:txBody>
          <a:bodyPr wrap="square" lIns="0" tIns="0" rIns="0" bIns="0" rtlCol="0" anchor="t"/>
          <a:lstStyle/>
          <a:p>
            <a:pPr indent="0" marL="0">
              <a:buNone/>
            </a:pPr>
            <a:r>
              <a:rPr lang="en-US" sz="1400" dirty="0">
                <a:solidFill>
                  <a:schemeClr val="tx1"/>
                </a:solidFill>
              </a:rPr>
              <a:t>The wall itself carries almost nothing.</a:t>
            </a:r>
            <a:endParaRPr lang="en-US" sz="1400" dirty="0"/>
          </a:p>
        </p:txBody>
      </p:sp>
      <p:sp>
        <p:nvSpPr>
          <p:cNvPr id="24" name="Takeaway"/>
          <p:cNvSpPr/>
          <p:nvPr/>
        </p:nvSpPr>
        <p:spPr>
          <a:xfrm>
            <a:off x="7498080" y="5623560"/>
            <a:ext cx="4114800" cy="594360"/>
          </a:xfrm>
          <a:prstGeom prst="roundRect">
            <a:avLst>
              <a:gd name="adj" fmla="val 15385"/>
            </a:avLst>
          </a:prstGeom>
          <a:solidFill>
            <a:schemeClr val="bg2"/>
          </a:solidFill>
          <a:ln w="6350">
            <a:solidFill>
              <a:schemeClr val="bg2"/>
            </a:solidFill>
            <a:prstDash val="solid"/>
          </a:ln>
        </p:spPr>
      </p:sp>
      <p:sp>
        <p:nvSpPr>
          <p:cNvPr id="25" name="Text 22"/>
          <p:cNvSpPr txBox="1"/>
          <p:nvPr/>
        </p:nvSpPr>
        <p:spPr>
          <a:xfrm>
            <a:off x="7680960" y="5623560"/>
            <a:ext cx="3749040" cy="594360"/>
          </a:xfrm>
          <a:prstGeom prst="rect">
            <a:avLst/>
          </a:prstGeom>
          <a:noFill/>
          <a:ln/>
        </p:spPr>
        <p:txBody>
          <a:bodyPr wrap="square" lIns="0" tIns="0" rIns="0" bIns="0" rtlCol="0" anchor="ctr"/>
          <a:lstStyle/>
          <a:p>
            <a:pPr indent="0" marL="0">
              <a:buNone/>
            </a:pPr>
            <a:r>
              <a:rPr lang="en-US" sz="1700" i="1" dirty="0">
                <a:solidFill>
                  <a:schemeClr val="accent2"/>
                </a:solidFill>
                <a:latin typeface="Cambria" pitchFamily="34" charset="0"/>
                <a:ea typeface="Cambria" pitchFamily="34" charset="-122"/>
                <a:cs typeface="Cambria" pitchFamily="34" charset="-120"/>
              </a:rPr>
              <a:t>A cathedral is an exoskeleton.</a:t>
            </a:r>
            <a:endParaRPr lang="en-US" sz="17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877"/>
                </a:solidFill>
              </a:defRPr>
            </a:lvl1pPr>
          </a:lstStyle>
          <a:p>
            <a:pPr algn="r"/>
            <a:fld id="{F7021451-1387-4CA6-816F-3879F97B5CBC}" type="slidenum">
              <a:rPr b="0" lang="en-US"/>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Rose window in jewel-coloured stained glass">    </p:cNvPr>
          <p:cNvPicPr>
            <a:picLocks noChangeAspect="1"/>
          </p:cNvPicPr>
          <p:nvPr/>
        </p:nvPicPr>
        <p:blipFill>
          <a:blip r:embed="rId1"/>
          <a:stretch>
            <a:fillRect/>
          </a:stretch>
        </p:blipFill>
        <p:spPr>
          <a:xfrm>
            <a:off x="457200" y="1005840"/>
            <a:ext cx="4846320" cy="4846320"/>
          </a:xfrm>
          <a:prstGeom prst="rect">
            <a:avLst/>
          </a:prstGeom>
        </p:spPr>
      </p:pic>
      <p:sp>
        <p:nvSpPr>
          <p:cNvPr id="3" name="Text 0"/>
          <p:cNvSpPr txBox="1"/>
          <p:nvPr/>
        </p:nvSpPr>
        <p:spPr>
          <a:xfrm>
            <a:off x="5486400" y="347472"/>
            <a:ext cx="7315200" cy="274320"/>
          </a:xfrm>
          <a:prstGeom prst="rect">
            <a:avLst/>
          </a:prstGeom>
          <a:noFill/>
          <a:ln/>
        </p:spPr>
        <p:txBody>
          <a:bodyPr wrap="square" lIns="0" tIns="0" rIns="0" bIns="0" rtlCol="0" anchor="t"/>
          <a:lstStyle/>
          <a:p>
            <a:pPr indent="0" marL="0">
              <a:buNone/>
            </a:pPr>
            <a:r>
              <a:rPr lang="en-US" sz="1200" b="1" spc="400" kern="0" dirty="0">
                <a:solidFill>
                  <a:srgbClr val="F0B35A"/>
                </a:solidFill>
              </a:rPr>
              <a:t>SPACE AND MAKING</a:t>
            </a:r>
            <a:endParaRPr lang="en-US" sz="1200" dirty="0"/>
          </a:p>
        </p:txBody>
      </p:sp>
      <p:sp>
        <p:nvSpPr>
          <p:cNvPr id="4" name="Text 0"/>
          <p:cNvSpPr/>
          <p:nvPr>
            <p:ph idx="100" type="title" hasCustomPrompt="1"/>
          </p:nvPr>
        </p:nvSpPr>
        <p:spPr>
          <a:xfrm>
            <a:off x="5486400" y="640080"/>
            <a:ext cx="6126480" cy="1280160"/>
          </a:xfrm>
          <a:prstGeom prst="rect">
            <a:avLst/>
          </a:prstGeom>
          <a:noFill/>
          <a:ln/>
        </p:spPr>
        <p:txBody>
          <a:bodyPr wrap="square" lIns="0" tIns="0" rIns="0" bIns="0" rtlCol="0" anchor="t"/>
          <a:lstStyle/>
          <a:p>
            <a:pPr algn="l" indent="0" marL="0">
              <a:buNone/>
            </a:pPr>
            <a:r>
              <a:rPr lang="en-US" sz="3400" b="1" dirty="0">
                <a:solidFill>
                  <a:srgbClr val="F7F3EA"/>
                </a:solidFill>
              </a:rPr>
              <a:t>Walls made of light</a:t>
            </a:r>
            <a:endParaRPr lang="en-US" sz="3400" dirty="0"/>
          </a:p>
        </p:txBody>
      </p:sp>
      <p:sp>
        <p:nvSpPr>
          <p:cNvPr id="5" name="Hairline"/>
          <p:cNvSpPr/>
          <p:nvPr/>
        </p:nvSpPr>
        <p:spPr>
          <a:xfrm>
            <a:off x="5486400" y="1737360"/>
            <a:ext cx="6126480" cy="0"/>
          </a:xfrm>
          <a:prstGeom prst="line">
            <a:avLst/>
          </a:prstGeom>
          <a:noFill/>
          <a:ln w="9525">
            <a:solidFill>
              <a:srgbClr val="3A3D5C"/>
            </a:solidFill>
            <a:prstDash val="solid"/>
          </a:ln>
        </p:spPr>
      </p:sp>
      <p:sp>
        <p:nvSpPr>
          <p:cNvPr id="6" name="Text 3"/>
          <p:cNvSpPr txBox="1"/>
          <p:nvPr/>
        </p:nvSpPr>
        <p:spPr>
          <a:xfrm>
            <a:off x="5486400" y="1828800"/>
            <a:ext cx="2286000" cy="960120"/>
          </a:xfrm>
          <a:prstGeom prst="rect">
            <a:avLst/>
          </a:prstGeom>
          <a:noFill/>
          <a:ln/>
        </p:spPr>
        <p:txBody>
          <a:bodyPr wrap="square" lIns="0" tIns="0" rIns="0" bIns="0" rtlCol="0" anchor="ctr"/>
          <a:lstStyle/>
          <a:p>
            <a:pPr indent="0" marL="0">
              <a:buNone/>
            </a:pPr>
            <a:r>
              <a:rPr lang="en-US" sz="4000" b="1" dirty="0">
                <a:solidFill>
                  <a:srgbClr val="F0B35A"/>
                </a:solidFill>
                <a:latin typeface="Cambria" pitchFamily="34" charset="0"/>
                <a:ea typeface="Cambria" pitchFamily="34" charset="-122"/>
                <a:cs typeface="Cambria" pitchFamily="34" charset="-120"/>
              </a:rPr>
              <a:t>1,113</a:t>
            </a:r>
            <a:endParaRPr lang="en-US" sz="4000" dirty="0"/>
          </a:p>
        </p:txBody>
      </p:sp>
      <p:sp>
        <p:nvSpPr>
          <p:cNvPr id="7" name="Text 4"/>
          <p:cNvSpPr txBox="1"/>
          <p:nvPr/>
        </p:nvSpPr>
        <p:spPr>
          <a:xfrm>
            <a:off x="7955280" y="1828800"/>
            <a:ext cx="3657600" cy="960120"/>
          </a:xfrm>
          <a:prstGeom prst="rect">
            <a:avLst/>
          </a:prstGeom>
          <a:noFill/>
          <a:ln/>
        </p:spPr>
        <p:txBody>
          <a:bodyPr wrap="square" lIns="0" tIns="0" rIns="0" bIns="0" rtlCol="0" anchor="ctr"/>
          <a:lstStyle/>
          <a:p>
            <a:pPr indent="0" marL="0">
              <a:buNone/>
            </a:pPr>
            <a:r>
              <a:rPr lang="en-US" sz="1600" dirty="0">
                <a:solidFill>
                  <a:srgbClr val="F7F3EA"/>
                </a:solidFill>
              </a:rPr>
              <a:t>Bible scenes in the windows of the Sainte-Chapelle, Paris</a:t>
            </a:r>
            <a:endParaRPr lang="en-US" sz="1600" dirty="0"/>
          </a:p>
        </p:txBody>
      </p:sp>
      <p:sp>
        <p:nvSpPr>
          <p:cNvPr id="8" name="Hairline"/>
          <p:cNvSpPr/>
          <p:nvPr/>
        </p:nvSpPr>
        <p:spPr>
          <a:xfrm>
            <a:off x="5486400" y="2926080"/>
            <a:ext cx="6126480" cy="0"/>
          </a:xfrm>
          <a:prstGeom prst="line">
            <a:avLst/>
          </a:prstGeom>
          <a:noFill/>
          <a:ln w="9525">
            <a:solidFill>
              <a:srgbClr val="3A3D5C"/>
            </a:solidFill>
            <a:prstDash val="solid"/>
          </a:ln>
        </p:spPr>
      </p:sp>
      <p:sp>
        <p:nvSpPr>
          <p:cNvPr id="9" name="Text 6"/>
          <p:cNvSpPr txBox="1"/>
          <p:nvPr/>
        </p:nvSpPr>
        <p:spPr>
          <a:xfrm>
            <a:off x="5486400" y="3017520"/>
            <a:ext cx="2286000" cy="960120"/>
          </a:xfrm>
          <a:prstGeom prst="rect">
            <a:avLst/>
          </a:prstGeom>
          <a:noFill/>
          <a:ln/>
        </p:spPr>
        <p:txBody>
          <a:bodyPr wrap="square" lIns="0" tIns="0" rIns="0" bIns="0" rtlCol="0" anchor="ctr"/>
          <a:lstStyle/>
          <a:p>
            <a:pPr indent="0" marL="0">
              <a:buNone/>
            </a:pPr>
            <a:r>
              <a:rPr lang="en-US" sz="4000" b="1" dirty="0">
                <a:solidFill>
                  <a:srgbClr val="F0B35A"/>
                </a:solidFill>
                <a:latin typeface="Cambria" pitchFamily="34" charset="0"/>
                <a:ea typeface="Cambria" pitchFamily="34" charset="-122"/>
                <a:cs typeface="Cambria" pitchFamily="34" charset="-120"/>
              </a:rPr>
              <a:t>15 m</a:t>
            </a:r>
            <a:endParaRPr lang="en-US" sz="4000" dirty="0"/>
          </a:p>
        </p:txBody>
      </p:sp>
      <p:sp>
        <p:nvSpPr>
          <p:cNvPr id="10" name="Text 7"/>
          <p:cNvSpPr txBox="1"/>
          <p:nvPr/>
        </p:nvSpPr>
        <p:spPr>
          <a:xfrm>
            <a:off x="7955280" y="3017520"/>
            <a:ext cx="3657600" cy="960120"/>
          </a:xfrm>
          <a:prstGeom prst="rect">
            <a:avLst/>
          </a:prstGeom>
          <a:noFill/>
          <a:ln/>
        </p:spPr>
        <p:txBody>
          <a:bodyPr wrap="square" lIns="0" tIns="0" rIns="0" bIns="0" rtlCol="0" anchor="ctr"/>
          <a:lstStyle/>
          <a:p>
            <a:pPr indent="0" marL="0">
              <a:buNone/>
            </a:pPr>
            <a:r>
              <a:rPr lang="en-US" sz="1600" dirty="0">
                <a:solidFill>
                  <a:srgbClr val="F7F3EA"/>
                </a:solidFill>
              </a:rPr>
              <a:t>height of each window: glass replaces almost the whole wall</a:t>
            </a:r>
            <a:endParaRPr lang="en-US" sz="1600" dirty="0"/>
          </a:p>
        </p:txBody>
      </p:sp>
      <p:sp>
        <p:nvSpPr>
          <p:cNvPr id="11" name="Hairline"/>
          <p:cNvSpPr/>
          <p:nvPr/>
        </p:nvSpPr>
        <p:spPr>
          <a:xfrm>
            <a:off x="5486400" y="4114800"/>
            <a:ext cx="6126480" cy="0"/>
          </a:xfrm>
          <a:prstGeom prst="line">
            <a:avLst/>
          </a:prstGeom>
          <a:noFill/>
          <a:ln w="9525">
            <a:solidFill>
              <a:srgbClr val="3A3D5C"/>
            </a:solidFill>
            <a:prstDash val="solid"/>
          </a:ln>
        </p:spPr>
      </p:sp>
      <p:sp>
        <p:nvSpPr>
          <p:cNvPr id="12" name="Text 9"/>
          <p:cNvSpPr txBox="1"/>
          <p:nvPr/>
        </p:nvSpPr>
        <p:spPr>
          <a:xfrm>
            <a:off x="5486400" y="4206240"/>
            <a:ext cx="2286000" cy="960120"/>
          </a:xfrm>
          <a:prstGeom prst="rect">
            <a:avLst/>
          </a:prstGeom>
          <a:noFill/>
          <a:ln/>
        </p:spPr>
        <p:txBody>
          <a:bodyPr wrap="square" lIns="0" tIns="0" rIns="0" bIns="0" rtlCol="0" anchor="ctr"/>
          <a:lstStyle/>
          <a:p>
            <a:pPr indent="0" marL="0">
              <a:buNone/>
            </a:pPr>
            <a:r>
              <a:rPr lang="en-US" sz="4000" b="1" dirty="0">
                <a:solidFill>
                  <a:srgbClr val="F0B35A"/>
                </a:solidFill>
                <a:latin typeface="Cambria" pitchFamily="34" charset="0"/>
                <a:ea typeface="Cambria" pitchFamily="34" charset="-122"/>
                <a:cs typeface="Cambria" pitchFamily="34" charset="-120"/>
              </a:rPr>
              <a:t>≈ 7 yrs</a:t>
            </a:r>
            <a:endParaRPr lang="en-US" sz="4000" dirty="0"/>
          </a:p>
        </p:txBody>
      </p:sp>
      <p:sp>
        <p:nvSpPr>
          <p:cNvPr id="13" name="Text 10"/>
          <p:cNvSpPr txBox="1"/>
          <p:nvPr/>
        </p:nvSpPr>
        <p:spPr>
          <a:xfrm>
            <a:off x="7955280" y="4206240"/>
            <a:ext cx="3657600" cy="960120"/>
          </a:xfrm>
          <a:prstGeom prst="rect">
            <a:avLst/>
          </a:prstGeom>
          <a:noFill/>
          <a:ln/>
        </p:spPr>
        <p:txBody>
          <a:bodyPr wrap="square" lIns="0" tIns="0" rIns="0" bIns="0" rtlCol="0" anchor="ctr"/>
          <a:lstStyle/>
          <a:p>
            <a:pPr indent="0" marL="0">
              <a:buNone/>
            </a:pPr>
            <a:r>
              <a:rPr lang="en-US" sz="1600" dirty="0">
                <a:solidFill>
                  <a:srgbClr val="F7F3EA"/>
                </a:solidFill>
              </a:rPr>
              <a:t>to build it: 1241–1248, for King Louis IX</a:t>
            </a:r>
            <a:endParaRPr lang="en-US" sz="1600" dirty="0"/>
          </a:p>
        </p:txBody>
      </p:sp>
      <p:sp>
        <p:nvSpPr>
          <p:cNvPr id="14" name="Hairline"/>
          <p:cNvSpPr/>
          <p:nvPr/>
        </p:nvSpPr>
        <p:spPr>
          <a:xfrm>
            <a:off x="5486400" y="5394960"/>
            <a:ext cx="6126480" cy="0"/>
          </a:xfrm>
          <a:prstGeom prst="line">
            <a:avLst/>
          </a:prstGeom>
          <a:noFill/>
          <a:ln w="9525">
            <a:solidFill>
              <a:srgbClr val="3A3D5C"/>
            </a:solidFill>
            <a:prstDash val="solid"/>
          </a:ln>
        </p:spPr>
      </p:sp>
      <p:sp>
        <p:nvSpPr>
          <p:cNvPr id="15" name="Text 12"/>
          <p:cNvSpPr txBox="1"/>
          <p:nvPr/>
        </p:nvSpPr>
        <p:spPr>
          <a:xfrm>
            <a:off x="5486400" y="5532120"/>
            <a:ext cx="6126480" cy="457200"/>
          </a:xfrm>
          <a:prstGeom prst="rect">
            <a:avLst/>
          </a:prstGeom>
          <a:noFill/>
          <a:ln/>
        </p:spPr>
        <p:txBody>
          <a:bodyPr wrap="square" lIns="0" tIns="0" rIns="0" bIns="0" rtlCol="0" anchor="t"/>
          <a:lstStyle/>
          <a:p>
            <a:pPr indent="0" marL="0">
              <a:buNone/>
            </a:pPr>
            <a:r>
              <a:rPr lang="en-US" sz="1600" i="1" dirty="0">
                <a:solidFill>
                  <a:srgbClr val="B8B3C6"/>
                </a:solidFill>
              </a:rPr>
              <a:t>Metal oxides colour the glass: cobalt blue, copper red.</a:t>
            </a:r>
            <a:endParaRPr lang="en-US" sz="16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8B3C6"/>
                </a:solidFill>
              </a:defRPr>
            </a:lvl1pPr>
          </a:lstStyle>
          <a:p>
            <a:pPr algn="r"/>
            <a:fld id="{F7021451-1387-4CA6-816F-3879F97B5CBC}" type="slidenum">
              <a:rPr b="0" lang="en-US"/>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347472"/>
            <a:ext cx="7315200" cy="274320"/>
          </a:xfrm>
          <a:prstGeom prst="rect">
            <a:avLst/>
          </a:prstGeom>
          <a:noFill/>
          <a:ln/>
        </p:spPr>
        <p:txBody>
          <a:bodyPr wrap="square" lIns="0" tIns="0" rIns="0" bIns="0" rtlCol="0" anchor="t"/>
          <a:lstStyle/>
          <a:p>
            <a:pPr indent="0" marL="0">
              <a:buNone/>
            </a:pPr>
            <a:r>
              <a:rPr lang="en-US" sz="1200" b="1" spc="400" kern="0" dirty="0">
                <a:solidFill>
                  <a:schemeClr val="accent2"/>
                </a:solidFill>
              </a:rPr>
              <a:t>SPACE AND MAKING</a:t>
            </a:r>
            <a:endParaRPr lang="en-US" sz="1200" dirty="0"/>
          </a:p>
        </p:txBody>
      </p:sp>
      <p:sp>
        <p:nvSpPr>
          <p:cNvPr id="3" name="Text 0"/>
          <p:cNvSpPr/>
          <p:nvPr>
            <p:ph idx="100" type="title" hasCustomPrompt="1"/>
          </p:nvPr>
        </p:nvSpPr>
        <p:spPr>
          <a:xfrm>
            <a:off x="640080" y="621792"/>
            <a:ext cx="10881360" cy="731520"/>
          </a:xfrm>
          <a:prstGeom prst="rect">
            <a:avLst/>
          </a:prstGeom>
          <a:noFill/>
          <a:ln/>
        </p:spPr>
        <p:txBody>
          <a:bodyPr wrap="square" lIns="0" tIns="0" rIns="0" bIns="0" rtlCol="0" anchor="ctr"/>
          <a:lstStyle/>
          <a:p>
            <a:pPr algn="l" indent="0" marL="0">
              <a:buNone/>
            </a:pPr>
            <a:r>
              <a:rPr lang="en-US" sz="3400" b="1" dirty="0">
                <a:solidFill>
                  <a:schemeClr val="tx1"/>
                </a:solidFill>
              </a:rPr>
              <a:t>Reading a cathedral</a:t>
            </a:r>
            <a:endParaRPr lang="en-US" sz="3400" dirty="0"/>
          </a:p>
        </p:txBody>
      </p:sp>
      <p:pic>
        <p:nvPicPr>
          <p:cNvPr id="4" name="Image 0" descr="Floor plan of a Gothic cathedral shaped like a Latin cross">    </p:cNvPr>
          <p:cNvPicPr>
            <a:picLocks noChangeAspect="1"/>
          </p:cNvPicPr>
          <p:nvPr/>
        </p:nvPicPr>
        <p:blipFill>
          <a:blip r:embed="rId1"/>
          <a:stretch>
            <a:fillRect/>
          </a:stretch>
        </p:blipFill>
        <p:spPr>
          <a:xfrm>
            <a:off x="548640" y="1463040"/>
            <a:ext cx="2907792" cy="4846320"/>
          </a:xfrm>
          <a:prstGeom prst="rect">
            <a:avLst/>
          </a:prstGeom>
        </p:spPr>
      </p:pic>
      <p:pic>
        <p:nvPicPr>
          <p:cNvPr id="5" name="Image 1" descr="West facade with three portals, a rose window and two towers">    </p:cNvPr>
          <p:cNvPicPr>
            <a:picLocks noChangeAspect="1"/>
          </p:cNvPicPr>
          <p:nvPr/>
        </p:nvPicPr>
        <p:blipFill>
          <a:blip r:embed="rId2"/>
          <a:stretch>
            <a:fillRect/>
          </a:stretch>
        </p:blipFill>
        <p:spPr>
          <a:xfrm>
            <a:off x="3749040" y="1463040"/>
            <a:ext cx="3639312" cy="4846320"/>
          </a:xfrm>
          <a:prstGeom prst="rect">
            <a:avLst/>
          </a:prstGeom>
        </p:spPr>
      </p:pic>
      <p:sp>
        <p:nvSpPr>
          <p:cNvPr id="6" name="Text 2"/>
          <p:cNvSpPr txBox="1"/>
          <p:nvPr/>
        </p:nvSpPr>
        <p:spPr>
          <a:xfrm>
            <a:off x="7772400" y="1508760"/>
            <a:ext cx="3840480" cy="320040"/>
          </a:xfrm>
          <a:prstGeom prst="rect">
            <a:avLst/>
          </a:prstGeom>
          <a:noFill/>
          <a:ln/>
        </p:spPr>
        <p:txBody>
          <a:bodyPr wrap="square" lIns="0" tIns="0" rIns="0" bIns="0" rtlCol="0" anchor="t"/>
          <a:lstStyle/>
          <a:p>
            <a:pPr indent="0" marL="0">
              <a:buNone/>
            </a:pPr>
            <a:r>
              <a:rPr lang="en-US" sz="1300" b="1" spc="300" kern="0" dirty="0">
                <a:solidFill>
                  <a:schemeClr val="accent2"/>
                </a:solidFill>
              </a:rPr>
              <a:t>PLAN: A LATIN CROSS</a:t>
            </a:r>
            <a:endParaRPr lang="en-US" sz="1300" dirty="0"/>
          </a:p>
        </p:txBody>
      </p:sp>
      <p:sp>
        <p:nvSpPr>
          <p:cNvPr id="7" name="Number 1"/>
          <p:cNvSpPr/>
          <p:nvPr/>
        </p:nvSpPr>
        <p:spPr>
          <a:xfrm>
            <a:off x="7772400" y="1929384"/>
            <a:ext cx="365760" cy="365760"/>
          </a:xfrm>
          <a:prstGeom prst="ellipse">
            <a:avLst/>
          </a:prstGeom>
          <a:solidFill>
            <a:schemeClr val="accent1"/>
          </a:solidFill>
          <a:ln w="6350">
            <a:solidFill>
              <a:schemeClr val="accent1"/>
            </a:solidFill>
            <a:prstDash val="solid"/>
          </a:ln>
        </p:spPr>
      </p:sp>
      <p:sp>
        <p:nvSpPr>
          <p:cNvPr id="8" name="Text 4"/>
          <p:cNvSpPr txBox="1"/>
          <p:nvPr/>
        </p:nvSpPr>
        <p:spPr>
          <a:xfrm>
            <a:off x="7772400" y="1929384"/>
            <a:ext cx="365760" cy="365760"/>
          </a:xfrm>
          <a:prstGeom prst="rect">
            <a:avLst/>
          </a:prstGeom>
          <a:noFill/>
          <a:ln/>
        </p:spPr>
        <p:txBody>
          <a:bodyPr wrap="square" lIns="0" tIns="0" rIns="0" bIns="0" rtlCol="0" anchor="ctr"/>
          <a:lstStyle/>
          <a:p>
            <a:pPr algn="ctr" indent="0" marL="0">
              <a:buNone/>
            </a:pPr>
            <a:r>
              <a:rPr lang="en-US" sz="1400" b="1" dirty="0">
                <a:solidFill>
                  <a:srgbClr val="14131C"/>
                </a:solidFill>
                <a:latin typeface="Cambria" pitchFamily="34" charset="0"/>
                <a:ea typeface="Cambria" pitchFamily="34" charset="-122"/>
                <a:cs typeface="Cambria" pitchFamily="34" charset="-120"/>
              </a:rPr>
              <a:t>1</a:t>
            </a:r>
            <a:endParaRPr lang="en-US" sz="1400" dirty="0"/>
          </a:p>
        </p:txBody>
      </p:sp>
      <p:sp>
        <p:nvSpPr>
          <p:cNvPr id="9" name="Text 5"/>
          <p:cNvSpPr txBox="1"/>
          <p:nvPr/>
        </p:nvSpPr>
        <p:spPr>
          <a:xfrm>
            <a:off x="8321040" y="1892808"/>
            <a:ext cx="3291840" cy="438912"/>
          </a:xfrm>
          <a:prstGeom prst="rect">
            <a:avLst/>
          </a:prstGeom>
          <a:noFill/>
          <a:ln/>
        </p:spPr>
        <p:txBody>
          <a:bodyPr wrap="square" lIns="0" tIns="0" rIns="0" bIns="0" rtlCol="0" anchor="ctr"/>
          <a:lstStyle/>
          <a:p>
            <a:pPr indent="0" marL="0">
              <a:buNone/>
            </a:pPr>
            <a:r>
              <a:rPr lang="en-US" sz="1400" b="1" dirty="0">
                <a:solidFill>
                  <a:schemeClr val="tx1"/>
                </a:solidFill>
              </a:rPr>
              <a:t>Nave &amp; aisles  </a:t>
            </a:r>
            <a:pPr indent="0" marL="0">
              <a:buNone/>
            </a:pPr>
            <a:r>
              <a:rPr lang="en-US" sz="1400" dirty="0">
                <a:solidFill>
                  <a:schemeClr val="tx2"/>
                </a:solidFill>
              </a:rPr>
              <a:t>hall for the people</a:t>
            </a:r>
            <a:endParaRPr lang="en-US" sz="1400" dirty="0"/>
          </a:p>
        </p:txBody>
      </p:sp>
      <p:sp>
        <p:nvSpPr>
          <p:cNvPr id="10" name="Number 2"/>
          <p:cNvSpPr/>
          <p:nvPr/>
        </p:nvSpPr>
        <p:spPr>
          <a:xfrm>
            <a:off x="7772400" y="2386584"/>
            <a:ext cx="365760" cy="365760"/>
          </a:xfrm>
          <a:prstGeom prst="ellipse">
            <a:avLst/>
          </a:prstGeom>
          <a:solidFill>
            <a:schemeClr val="accent1"/>
          </a:solidFill>
          <a:ln w="6350">
            <a:solidFill>
              <a:schemeClr val="accent1"/>
            </a:solidFill>
            <a:prstDash val="solid"/>
          </a:ln>
        </p:spPr>
      </p:sp>
      <p:sp>
        <p:nvSpPr>
          <p:cNvPr id="11" name="Text 7"/>
          <p:cNvSpPr txBox="1"/>
          <p:nvPr/>
        </p:nvSpPr>
        <p:spPr>
          <a:xfrm>
            <a:off x="7772400" y="2386584"/>
            <a:ext cx="365760" cy="365760"/>
          </a:xfrm>
          <a:prstGeom prst="rect">
            <a:avLst/>
          </a:prstGeom>
          <a:noFill/>
          <a:ln/>
        </p:spPr>
        <p:txBody>
          <a:bodyPr wrap="square" lIns="0" tIns="0" rIns="0" bIns="0" rtlCol="0" anchor="ctr"/>
          <a:lstStyle/>
          <a:p>
            <a:pPr algn="ctr" indent="0" marL="0">
              <a:buNone/>
            </a:pPr>
            <a:r>
              <a:rPr lang="en-US" sz="1400" b="1" dirty="0">
                <a:solidFill>
                  <a:srgbClr val="14131C"/>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8321040" y="2350008"/>
            <a:ext cx="3291840" cy="438912"/>
          </a:xfrm>
          <a:prstGeom prst="rect">
            <a:avLst/>
          </a:prstGeom>
          <a:noFill/>
          <a:ln/>
        </p:spPr>
        <p:txBody>
          <a:bodyPr wrap="square" lIns="0" tIns="0" rIns="0" bIns="0" rtlCol="0" anchor="ctr"/>
          <a:lstStyle/>
          <a:p>
            <a:pPr indent="0" marL="0">
              <a:buNone/>
            </a:pPr>
            <a:r>
              <a:rPr lang="en-US" sz="1400" b="1" dirty="0">
                <a:solidFill>
                  <a:schemeClr val="tx1"/>
                </a:solidFill>
              </a:rPr>
              <a:t>Transept  </a:t>
            </a:r>
            <a:pPr indent="0" marL="0">
              <a:buNone/>
            </a:pPr>
            <a:r>
              <a:rPr lang="en-US" sz="1400" dirty="0">
                <a:solidFill>
                  <a:schemeClr val="tx2"/>
                </a:solidFill>
              </a:rPr>
              <a:t>arms of the cross</a:t>
            </a:r>
            <a:endParaRPr lang="en-US" sz="1400" dirty="0"/>
          </a:p>
        </p:txBody>
      </p:sp>
      <p:sp>
        <p:nvSpPr>
          <p:cNvPr id="13" name="Number 3"/>
          <p:cNvSpPr/>
          <p:nvPr/>
        </p:nvSpPr>
        <p:spPr>
          <a:xfrm>
            <a:off x="7772400" y="2843784"/>
            <a:ext cx="365760" cy="365760"/>
          </a:xfrm>
          <a:prstGeom prst="ellipse">
            <a:avLst/>
          </a:prstGeom>
          <a:solidFill>
            <a:schemeClr val="accent1"/>
          </a:solidFill>
          <a:ln w="6350">
            <a:solidFill>
              <a:schemeClr val="accent1"/>
            </a:solidFill>
            <a:prstDash val="solid"/>
          </a:ln>
        </p:spPr>
      </p:sp>
      <p:sp>
        <p:nvSpPr>
          <p:cNvPr id="14" name="Text 10"/>
          <p:cNvSpPr txBox="1"/>
          <p:nvPr/>
        </p:nvSpPr>
        <p:spPr>
          <a:xfrm>
            <a:off x="7772400" y="2843784"/>
            <a:ext cx="365760" cy="365760"/>
          </a:xfrm>
          <a:prstGeom prst="rect">
            <a:avLst/>
          </a:prstGeom>
          <a:noFill/>
          <a:ln/>
        </p:spPr>
        <p:txBody>
          <a:bodyPr wrap="square" lIns="0" tIns="0" rIns="0" bIns="0" rtlCol="0" anchor="ctr"/>
          <a:lstStyle/>
          <a:p>
            <a:pPr algn="ctr" indent="0" marL="0">
              <a:buNone/>
            </a:pPr>
            <a:r>
              <a:rPr lang="en-US" sz="1400" b="1" dirty="0">
                <a:solidFill>
                  <a:srgbClr val="14131C"/>
                </a:solidFill>
                <a:latin typeface="Cambria" pitchFamily="34" charset="0"/>
                <a:ea typeface="Cambria" pitchFamily="34" charset="-122"/>
                <a:cs typeface="Cambria" pitchFamily="34" charset="-120"/>
              </a:rPr>
              <a:t>3</a:t>
            </a:r>
            <a:endParaRPr lang="en-US" sz="1400" dirty="0"/>
          </a:p>
        </p:txBody>
      </p:sp>
      <p:sp>
        <p:nvSpPr>
          <p:cNvPr id="15" name="Text 11"/>
          <p:cNvSpPr txBox="1"/>
          <p:nvPr/>
        </p:nvSpPr>
        <p:spPr>
          <a:xfrm>
            <a:off x="8321040" y="2807208"/>
            <a:ext cx="3291840" cy="438912"/>
          </a:xfrm>
          <a:prstGeom prst="rect">
            <a:avLst/>
          </a:prstGeom>
          <a:noFill/>
          <a:ln/>
        </p:spPr>
        <p:txBody>
          <a:bodyPr wrap="square" lIns="0" tIns="0" rIns="0" bIns="0" rtlCol="0" anchor="ctr"/>
          <a:lstStyle/>
          <a:p>
            <a:pPr indent="0" marL="0">
              <a:buNone/>
            </a:pPr>
            <a:r>
              <a:rPr lang="en-US" sz="1400" b="1" dirty="0">
                <a:solidFill>
                  <a:schemeClr val="tx1"/>
                </a:solidFill>
              </a:rPr>
              <a:t>Choir  </a:t>
            </a:r>
            <a:pPr indent="0" marL="0">
              <a:buNone/>
            </a:pPr>
            <a:r>
              <a:rPr lang="en-US" sz="1400" dirty="0">
                <a:solidFill>
                  <a:schemeClr val="tx2"/>
                </a:solidFill>
              </a:rPr>
              <a:t>clergy and altar, east</a:t>
            </a:r>
            <a:endParaRPr lang="en-US" sz="1400" dirty="0"/>
          </a:p>
        </p:txBody>
      </p:sp>
      <p:sp>
        <p:nvSpPr>
          <p:cNvPr id="16" name="Number 4"/>
          <p:cNvSpPr/>
          <p:nvPr/>
        </p:nvSpPr>
        <p:spPr>
          <a:xfrm>
            <a:off x="7772400" y="3300984"/>
            <a:ext cx="365760" cy="365760"/>
          </a:xfrm>
          <a:prstGeom prst="ellipse">
            <a:avLst/>
          </a:prstGeom>
          <a:solidFill>
            <a:schemeClr val="accent1"/>
          </a:solidFill>
          <a:ln w="6350">
            <a:solidFill>
              <a:schemeClr val="accent1"/>
            </a:solidFill>
            <a:prstDash val="solid"/>
          </a:ln>
        </p:spPr>
      </p:sp>
      <p:sp>
        <p:nvSpPr>
          <p:cNvPr id="17" name="Text 13"/>
          <p:cNvSpPr txBox="1"/>
          <p:nvPr/>
        </p:nvSpPr>
        <p:spPr>
          <a:xfrm>
            <a:off x="7772400" y="3300984"/>
            <a:ext cx="365760" cy="365760"/>
          </a:xfrm>
          <a:prstGeom prst="rect">
            <a:avLst/>
          </a:prstGeom>
          <a:noFill/>
          <a:ln/>
        </p:spPr>
        <p:txBody>
          <a:bodyPr wrap="square" lIns="0" tIns="0" rIns="0" bIns="0" rtlCol="0" anchor="ctr"/>
          <a:lstStyle/>
          <a:p>
            <a:pPr algn="ctr" indent="0" marL="0">
              <a:buNone/>
            </a:pPr>
            <a:r>
              <a:rPr lang="en-US" sz="1400" b="1" dirty="0">
                <a:solidFill>
                  <a:srgbClr val="14131C"/>
                </a:solidFill>
                <a:latin typeface="Cambria" pitchFamily="34" charset="0"/>
                <a:ea typeface="Cambria" pitchFamily="34" charset="-122"/>
                <a:cs typeface="Cambria" pitchFamily="34" charset="-120"/>
              </a:rPr>
              <a:t>4</a:t>
            </a:r>
            <a:endParaRPr lang="en-US" sz="1400" dirty="0"/>
          </a:p>
        </p:txBody>
      </p:sp>
      <p:sp>
        <p:nvSpPr>
          <p:cNvPr id="18" name="Text 14"/>
          <p:cNvSpPr txBox="1"/>
          <p:nvPr/>
        </p:nvSpPr>
        <p:spPr>
          <a:xfrm>
            <a:off x="8321040" y="3264408"/>
            <a:ext cx="3291840" cy="438912"/>
          </a:xfrm>
          <a:prstGeom prst="rect">
            <a:avLst/>
          </a:prstGeom>
          <a:noFill/>
          <a:ln/>
        </p:spPr>
        <p:txBody>
          <a:bodyPr wrap="square" lIns="0" tIns="0" rIns="0" bIns="0" rtlCol="0" anchor="ctr"/>
          <a:lstStyle/>
          <a:p>
            <a:pPr indent="0" marL="0">
              <a:buNone/>
            </a:pPr>
            <a:r>
              <a:rPr lang="en-US" sz="1400" b="1" dirty="0">
                <a:solidFill>
                  <a:schemeClr val="tx1"/>
                </a:solidFill>
              </a:rPr>
              <a:t>Ambulatory  </a:t>
            </a:r>
            <a:pPr indent="0" marL="0">
              <a:buNone/>
            </a:pPr>
            <a:r>
              <a:rPr lang="en-US" sz="1400" dirty="0">
                <a:solidFill>
                  <a:schemeClr val="tx2"/>
                </a:solidFill>
              </a:rPr>
              <a:t>walkway to relic chapels</a:t>
            </a:r>
            <a:endParaRPr lang="en-US" sz="1400" dirty="0"/>
          </a:p>
        </p:txBody>
      </p:sp>
      <p:sp>
        <p:nvSpPr>
          <p:cNvPr id="19" name="Number 5"/>
          <p:cNvSpPr/>
          <p:nvPr/>
        </p:nvSpPr>
        <p:spPr>
          <a:xfrm>
            <a:off x="7772400" y="3758184"/>
            <a:ext cx="365760" cy="365760"/>
          </a:xfrm>
          <a:prstGeom prst="ellipse">
            <a:avLst/>
          </a:prstGeom>
          <a:solidFill>
            <a:schemeClr val="accent1"/>
          </a:solidFill>
          <a:ln w="6350">
            <a:solidFill>
              <a:schemeClr val="accent1"/>
            </a:solidFill>
            <a:prstDash val="solid"/>
          </a:ln>
        </p:spPr>
      </p:sp>
      <p:sp>
        <p:nvSpPr>
          <p:cNvPr id="20" name="Text 16"/>
          <p:cNvSpPr txBox="1"/>
          <p:nvPr/>
        </p:nvSpPr>
        <p:spPr>
          <a:xfrm>
            <a:off x="7772400" y="3758184"/>
            <a:ext cx="365760" cy="365760"/>
          </a:xfrm>
          <a:prstGeom prst="rect">
            <a:avLst/>
          </a:prstGeom>
          <a:noFill/>
          <a:ln/>
        </p:spPr>
        <p:txBody>
          <a:bodyPr wrap="square" lIns="0" tIns="0" rIns="0" bIns="0" rtlCol="0" anchor="ctr"/>
          <a:lstStyle/>
          <a:p>
            <a:pPr algn="ctr" indent="0" marL="0">
              <a:buNone/>
            </a:pPr>
            <a:r>
              <a:rPr lang="en-US" sz="1400" b="1" dirty="0">
                <a:solidFill>
                  <a:srgbClr val="14131C"/>
                </a:solidFill>
                <a:latin typeface="Cambria" pitchFamily="34" charset="0"/>
                <a:ea typeface="Cambria" pitchFamily="34" charset="-122"/>
                <a:cs typeface="Cambria" pitchFamily="34" charset="-120"/>
              </a:rPr>
              <a:t>5</a:t>
            </a:r>
            <a:endParaRPr lang="en-US" sz="1400" dirty="0"/>
          </a:p>
        </p:txBody>
      </p:sp>
      <p:sp>
        <p:nvSpPr>
          <p:cNvPr id="21" name="Text 17"/>
          <p:cNvSpPr txBox="1"/>
          <p:nvPr/>
        </p:nvSpPr>
        <p:spPr>
          <a:xfrm>
            <a:off x="8321040" y="3721608"/>
            <a:ext cx="3291840" cy="438912"/>
          </a:xfrm>
          <a:prstGeom prst="rect">
            <a:avLst/>
          </a:prstGeom>
          <a:noFill/>
          <a:ln/>
        </p:spPr>
        <p:txBody>
          <a:bodyPr wrap="square" lIns="0" tIns="0" rIns="0" bIns="0" rtlCol="0" anchor="ctr"/>
          <a:lstStyle/>
          <a:p>
            <a:pPr indent="0" marL="0">
              <a:buNone/>
            </a:pPr>
            <a:r>
              <a:rPr lang="en-US" sz="1400" b="1" dirty="0">
                <a:solidFill>
                  <a:schemeClr val="tx1"/>
                </a:solidFill>
              </a:rPr>
              <a:t>West front  </a:t>
            </a:r>
            <a:pPr indent="0" marL="0">
              <a:buNone/>
            </a:pPr>
            <a:r>
              <a:rPr lang="en-US" sz="1400" dirty="0">
                <a:solidFill>
                  <a:schemeClr val="tx2"/>
                </a:solidFill>
              </a:rPr>
              <a:t>main entrance</a:t>
            </a:r>
            <a:endParaRPr lang="en-US" sz="1400" dirty="0"/>
          </a:p>
        </p:txBody>
      </p:sp>
      <p:sp>
        <p:nvSpPr>
          <p:cNvPr id="22" name="Text 18"/>
          <p:cNvSpPr txBox="1"/>
          <p:nvPr/>
        </p:nvSpPr>
        <p:spPr>
          <a:xfrm>
            <a:off x="7772400" y="4343400"/>
            <a:ext cx="3840480" cy="320040"/>
          </a:xfrm>
          <a:prstGeom prst="rect">
            <a:avLst/>
          </a:prstGeom>
          <a:noFill/>
          <a:ln/>
        </p:spPr>
        <p:txBody>
          <a:bodyPr wrap="square" lIns="0" tIns="0" rIns="0" bIns="0" rtlCol="0" anchor="t"/>
          <a:lstStyle/>
          <a:p>
            <a:pPr indent="0" marL="0">
              <a:buNone/>
            </a:pPr>
            <a:r>
              <a:rPr lang="en-US" sz="1300" b="1" spc="300" kern="0" dirty="0">
                <a:solidFill>
                  <a:schemeClr val="accent2"/>
                </a:solidFill>
              </a:rPr>
              <a:t>FACADE</a:t>
            </a:r>
            <a:endParaRPr lang="en-US" sz="1300" dirty="0"/>
          </a:p>
        </p:txBody>
      </p:sp>
      <p:sp>
        <p:nvSpPr>
          <p:cNvPr id="23" name="Number A"/>
          <p:cNvSpPr/>
          <p:nvPr/>
        </p:nvSpPr>
        <p:spPr>
          <a:xfrm>
            <a:off x="7772400" y="4764024"/>
            <a:ext cx="365760" cy="365760"/>
          </a:xfrm>
          <a:prstGeom prst="ellipse">
            <a:avLst/>
          </a:prstGeom>
          <a:solidFill>
            <a:schemeClr val="accent1"/>
          </a:solidFill>
          <a:ln w="6350">
            <a:solidFill>
              <a:schemeClr val="accent1"/>
            </a:solidFill>
            <a:prstDash val="solid"/>
          </a:ln>
        </p:spPr>
      </p:sp>
      <p:sp>
        <p:nvSpPr>
          <p:cNvPr id="24" name="Text 20"/>
          <p:cNvSpPr txBox="1"/>
          <p:nvPr/>
        </p:nvSpPr>
        <p:spPr>
          <a:xfrm>
            <a:off x="7772400" y="4764024"/>
            <a:ext cx="365760" cy="365760"/>
          </a:xfrm>
          <a:prstGeom prst="rect">
            <a:avLst/>
          </a:prstGeom>
          <a:noFill/>
          <a:ln/>
        </p:spPr>
        <p:txBody>
          <a:bodyPr wrap="square" lIns="0" tIns="0" rIns="0" bIns="0" rtlCol="0" anchor="ctr"/>
          <a:lstStyle/>
          <a:p>
            <a:pPr algn="ctr" indent="0" marL="0">
              <a:buNone/>
            </a:pPr>
            <a:r>
              <a:rPr lang="en-US" sz="1400" b="1" dirty="0">
                <a:solidFill>
                  <a:srgbClr val="14131C"/>
                </a:solidFill>
                <a:latin typeface="Cambria" pitchFamily="34" charset="0"/>
                <a:ea typeface="Cambria" pitchFamily="34" charset="-122"/>
                <a:cs typeface="Cambria" pitchFamily="34" charset="-120"/>
              </a:rPr>
              <a:t>A</a:t>
            </a:r>
            <a:endParaRPr lang="en-US" sz="1400" dirty="0"/>
          </a:p>
        </p:txBody>
      </p:sp>
      <p:sp>
        <p:nvSpPr>
          <p:cNvPr id="25" name="Text 21"/>
          <p:cNvSpPr txBox="1"/>
          <p:nvPr/>
        </p:nvSpPr>
        <p:spPr>
          <a:xfrm>
            <a:off x="8321040" y="4727448"/>
            <a:ext cx="3291840" cy="438912"/>
          </a:xfrm>
          <a:prstGeom prst="rect">
            <a:avLst/>
          </a:prstGeom>
          <a:noFill/>
          <a:ln/>
        </p:spPr>
        <p:txBody>
          <a:bodyPr wrap="square" lIns="0" tIns="0" rIns="0" bIns="0" rtlCol="0" anchor="ctr"/>
          <a:lstStyle/>
          <a:p>
            <a:pPr indent="0" marL="0">
              <a:buNone/>
            </a:pPr>
            <a:r>
              <a:rPr lang="en-US" sz="1400" b="1" dirty="0">
                <a:solidFill>
                  <a:schemeClr val="tx1"/>
                </a:solidFill>
              </a:rPr>
              <a:t>Portals  </a:t>
            </a:r>
            <a:pPr indent="0" marL="0">
              <a:buNone/>
            </a:pPr>
            <a:r>
              <a:rPr lang="en-US" sz="1400" dirty="0">
                <a:solidFill>
                  <a:schemeClr val="tx2"/>
                </a:solidFill>
              </a:rPr>
              <a:t>carved stone stories</a:t>
            </a:r>
            <a:endParaRPr lang="en-US" sz="1400" dirty="0"/>
          </a:p>
        </p:txBody>
      </p:sp>
      <p:sp>
        <p:nvSpPr>
          <p:cNvPr id="26" name="Number B"/>
          <p:cNvSpPr/>
          <p:nvPr/>
        </p:nvSpPr>
        <p:spPr>
          <a:xfrm>
            <a:off x="7772400" y="5221224"/>
            <a:ext cx="365760" cy="365760"/>
          </a:xfrm>
          <a:prstGeom prst="ellipse">
            <a:avLst/>
          </a:prstGeom>
          <a:solidFill>
            <a:schemeClr val="accent1"/>
          </a:solidFill>
          <a:ln w="6350">
            <a:solidFill>
              <a:schemeClr val="accent1"/>
            </a:solidFill>
            <a:prstDash val="solid"/>
          </a:ln>
        </p:spPr>
      </p:sp>
      <p:sp>
        <p:nvSpPr>
          <p:cNvPr id="27" name="Text 23"/>
          <p:cNvSpPr txBox="1"/>
          <p:nvPr/>
        </p:nvSpPr>
        <p:spPr>
          <a:xfrm>
            <a:off x="7772400" y="5221224"/>
            <a:ext cx="365760" cy="365760"/>
          </a:xfrm>
          <a:prstGeom prst="rect">
            <a:avLst/>
          </a:prstGeom>
          <a:noFill/>
          <a:ln/>
        </p:spPr>
        <p:txBody>
          <a:bodyPr wrap="square" lIns="0" tIns="0" rIns="0" bIns="0" rtlCol="0" anchor="ctr"/>
          <a:lstStyle/>
          <a:p>
            <a:pPr algn="ctr" indent="0" marL="0">
              <a:buNone/>
            </a:pPr>
            <a:r>
              <a:rPr lang="en-US" sz="1400" b="1" dirty="0">
                <a:solidFill>
                  <a:srgbClr val="14131C"/>
                </a:solidFill>
                <a:latin typeface="Cambria" pitchFamily="34" charset="0"/>
                <a:ea typeface="Cambria" pitchFamily="34" charset="-122"/>
                <a:cs typeface="Cambria" pitchFamily="34" charset="-120"/>
              </a:rPr>
              <a:t>B</a:t>
            </a:r>
            <a:endParaRPr lang="en-US" sz="1400" dirty="0"/>
          </a:p>
        </p:txBody>
      </p:sp>
      <p:sp>
        <p:nvSpPr>
          <p:cNvPr id="28" name="Text 24"/>
          <p:cNvSpPr txBox="1"/>
          <p:nvPr/>
        </p:nvSpPr>
        <p:spPr>
          <a:xfrm>
            <a:off x="8321040" y="5184648"/>
            <a:ext cx="3291840" cy="438912"/>
          </a:xfrm>
          <a:prstGeom prst="rect">
            <a:avLst/>
          </a:prstGeom>
          <a:noFill/>
          <a:ln/>
        </p:spPr>
        <p:txBody>
          <a:bodyPr wrap="square" lIns="0" tIns="0" rIns="0" bIns="0" rtlCol="0" anchor="ctr"/>
          <a:lstStyle/>
          <a:p>
            <a:pPr indent="0" marL="0">
              <a:buNone/>
            </a:pPr>
            <a:r>
              <a:rPr lang="en-US" sz="1400" b="1" dirty="0">
                <a:solidFill>
                  <a:schemeClr val="tx1"/>
                </a:solidFill>
              </a:rPr>
              <a:t>Rose window  </a:t>
            </a:r>
            <a:pPr indent="0" marL="0">
              <a:buNone/>
            </a:pPr>
            <a:r>
              <a:rPr lang="en-US" sz="1400" dirty="0">
                <a:solidFill>
                  <a:schemeClr val="tx2"/>
                </a:solidFill>
              </a:rPr>
              <a:t>circle of glass</a:t>
            </a:r>
            <a:endParaRPr lang="en-US" sz="1400" dirty="0"/>
          </a:p>
        </p:txBody>
      </p:sp>
      <p:sp>
        <p:nvSpPr>
          <p:cNvPr id="29" name="Number C"/>
          <p:cNvSpPr/>
          <p:nvPr/>
        </p:nvSpPr>
        <p:spPr>
          <a:xfrm>
            <a:off x="7772400" y="5678424"/>
            <a:ext cx="365760" cy="365760"/>
          </a:xfrm>
          <a:prstGeom prst="ellipse">
            <a:avLst/>
          </a:prstGeom>
          <a:solidFill>
            <a:schemeClr val="accent1"/>
          </a:solidFill>
          <a:ln w="6350">
            <a:solidFill>
              <a:schemeClr val="accent1"/>
            </a:solidFill>
            <a:prstDash val="solid"/>
          </a:ln>
        </p:spPr>
      </p:sp>
      <p:sp>
        <p:nvSpPr>
          <p:cNvPr id="30" name="Text 26"/>
          <p:cNvSpPr txBox="1"/>
          <p:nvPr/>
        </p:nvSpPr>
        <p:spPr>
          <a:xfrm>
            <a:off x="7772400" y="5678424"/>
            <a:ext cx="365760" cy="365760"/>
          </a:xfrm>
          <a:prstGeom prst="rect">
            <a:avLst/>
          </a:prstGeom>
          <a:noFill/>
          <a:ln/>
        </p:spPr>
        <p:txBody>
          <a:bodyPr wrap="square" lIns="0" tIns="0" rIns="0" bIns="0" rtlCol="0" anchor="ctr"/>
          <a:lstStyle/>
          <a:p>
            <a:pPr algn="ctr" indent="0" marL="0">
              <a:buNone/>
            </a:pPr>
            <a:r>
              <a:rPr lang="en-US" sz="1400" b="1" dirty="0">
                <a:solidFill>
                  <a:srgbClr val="14131C"/>
                </a:solidFill>
                <a:latin typeface="Cambria" pitchFamily="34" charset="0"/>
                <a:ea typeface="Cambria" pitchFamily="34" charset="-122"/>
                <a:cs typeface="Cambria" pitchFamily="34" charset="-120"/>
              </a:rPr>
              <a:t>C</a:t>
            </a:r>
            <a:endParaRPr lang="en-US" sz="1400" dirty="0"/>
          </a:p>
        </p:txBody>
      </p:sp>
      <p:sp>
        <p:nvSpPr>
          <p:cNvPr id="31" name="Text 27"/>
          <p:cNvSpPr txBox="1"/>
          <p:nvPr/>
        </p:nvSpPr>
        <p:spPr>
          <a:xfrm>
            <a:off x="8321040" y="5641848"/>
            <a:ext cx="3291840" cy="438912"/>
          </a:xfrm>
          <a:prstGeom prst="rect">
            <a:avLst/>
          </a:prstGeom>
          <a:noFill/>
          <a:ln/>
        </p:spPr>
        <p:txBody>
          <a:bodyPr wrap="square" lIns="0" tIns="0" rIns="0" bIns="0" rtlCol="0" anchor="ctr"/>
          <a:lstStyle/>
          <a:p>
            <a:pPr indent="0" marL="0">
              <a:buNone/>
            </a:pPr>
            <a:r>
              <a:rPr lang="en-US" sz="1400" b="1" dirty="0">
                <a:solidFill>
                  <a:schemeClr val="tx1"/>
                </a:solidFill>
              </a:rPr>
              <a:t>Twin towers  </a:t>
            </a:r>
            <a:pPr indent="0" marL="0">
              <a:buNone/>
            </a:pPr>
            <a:r>
              <a:rPr lang="en-US" sz="1400" dirty="0">
                <a:solidFill>
                  <a:schemeClr val="tx2"/>
                </a:solidFill>
              </a:rPr>
              <a:t>bell towers</a:t>
            </a:r>
            <a:endParaRPr lang="en-US" sz="14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877"/>
                </a:solidFill>
              </a:defRPr>
            </a:lvl1pPr>
          </a:lstStyle>
          <a:p>
            <a:pPr algn="r"/>
            <a:fld id="{F7021451-1387-4CA6-816F-3879F97B5CBC}" type="slidenum">
              <a:rPr b="0" lang="en-US"/>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347472"/>
            <a:ext cx="7315200" cy="274320"/>
          </a:xfrm>
          <a:prstGeom prst="rect">
            <a:avLst/>
          </a:prstGeom>
          <a:noFill/>
          <a:ln/>
        </p:spPr>
        <p:txBody>
          <a:bodyPr wrap="square" lIns="0" tIns="0" rIns="0" bIns="0" rtlCol="0" anchor="t"/>
          <a:lstStyle/>
          <a:p>
            <a:pPr indent="0" marL="0">
              <a:buNone/>
            </a:pPr>
            <a:r>
              <a:rPr lang="en-US" sz="1200" b="1" spc="400" kern="0" dirty="0">
                <a:solidFill>
                  <a:schemeClr val="accent2"/>
                </a:solidFill>
              </a:rPr>
              <a:t>SPACE AND MAKING</a:t>
            </a:r>
            <a:endParaRPr lang="en-US" sz="1200" dirty="0"/>
          </a:p>
        </p:txBody>
      </p:sp>
      <p:sp>
        <p:nvSpPr>
          <p:cNvPr id="3" name="Text 0"/>
          <p:cNvSpPr/>
          <p:nvPr>
            <p:ph idx="100" type="title" hasCustomPrompt="1"/>
          </p:nvPr>
        </p:nvSpPr>
        <p:spPr>
          <a:xfrm>
            <a:off x="640080" y="621792"/>
            <a:ext cx="10881360" cy="731520"/>
          </a:xfrm>
          <a:prstGeom prst="rect">
            <a:avLst/>
          </a:prstGeom>
          <a:noFill/>
          <a:ln/>
        </p:spPr>
        <p:txBody>
          <a:bodyPr wrap="square" lIns="0" tIns="0" rIns="0" bIns="0" rtlCol="0" anchor="ctr"/>
          <a:lstStyle/>
          <a:p>
            <a:pPr algn="l" indent="0" marL="0">
              <a:buNone/>
            </a:pPr>
            <a:r>
              <a:rPr lang="en-US" sz="3400" b="1" dirty="0">
                <a:solidFill>
                  <a:schemeClr val="tx1"/>
                </a:solidFill>
              </a:rPr>
              <a:t>Built by generations, not by one genius</a:t>
            </a:r>
            <a:endParaRPr lang="en-US" sz="3400" dirty="0"/>
          </a:p>
        </p:txBody>
      </p:sp>
      <p:sp>
        <p:nvSpPr>
          <p:cNvPr id="4" name="Icon badge coin"/>
          <p:cNvSpPr/>
          <p:nvPr/>
        </p:nvSpPr>
        <p:spPr>
          <a:xfrm>
            <a:off x="640080" y="1554480"/>
            <a:ext cx="731520" cy="731520"/>
          </a:xfrm>
          <a:prstGeom prst="ellipse">
            <a:avLst/>
          </a:prstGeom>
          <a:solidFill>
            <a:schemeClr val="accent1"/>
          </a:solidFill>
          <a:ln w="6350">
            <a:solidFill>
              <a:schemeClr val="accent1"/>
            </a:solidFill>
            <a:prstDash val="solid"/>
          </a:ln>
        </p:spPr>
      </p:sp>
      <p:pic>
        <p:nvPicPr>
          <p:cNvPr id="5" name="Image 0" descr="coin icon">    </p:cNvPr>
          <p:cNvPicPr>
            <a:picLocks noChangeAspect="1"/>
          </p:cNvPicPr>
          <p:nvPr/>
        </p:nvPicPr>
        <p:blipFill>
          <a:blip r:embed="rId1"/>
          <a:stretch>
            <a:fillRect/>
          </a:stretch>
        </p:blipFill>
        <p:spPr>
          <a:xfrm>
            <a:off x="793699" y="1708099"/>
            <a:ext cx="424282" cy="424282"/>
          </a:xfrm>
          <a:prstGeom prst="rect">
            <a:avLst/>
          </a:prstGeom>
        </p:spPr>
      </p:pic>
      <p:sp>
        <p:nvSpPr>
          <p:cNvPr id="6" name="Text 3"/>
          <p:cNvSpPr txBox="1"/>
          <p:nvPr/>
        </p:nvSpPr>
        <p:spPr>
          <a:xfrm>
            <a:off x="1600200" y="1508760"/>
            <a:ext cx="4023360" cy="36576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Fund</a:t>
            </a:r>
            <a:endParaRPr lang="en-US" sz="2000" dirty="0"/>
          </a:p>
        </p:txBody>
      </p:sp>
      <p:sp>
        <p:nvSpPr>
          <p:cNvPr id="7" name="Text 4"/>
          <p:cNvSpPr txBox="1"/>
          <p:nvPr/>
        </p:nvSpPr>
        <p:spPr>
          <a:xfrm>
            <a:off x="1600200" y="1892808"/>
            <a:ext cx="4023360" cy="502920"/>
          </a:xfrm>
          <a:prstGeom prst="rect">
            <a:avLst/>
          </a:prstGeom>
          <a:noFill/>
          <a:ln/>
        </p:spPr>
        <p:txBody>
          <a:bodyPr wrap="square" lIns="0" tIns="0" rIns="0" bIns="0" rtlCol="0" anchor="t"/>
          <a:lstStyle/>
          <a:p>
            <a:pPr indent="0" marL="0">
              <a:buNone/>
            </a:pPr>
            <a:r>
              <a:rPr lang="en-US" sz="1500" dirty="0">
                <a:solidFill>
                  <a:schemeClr val="tx1"/>
                </a:solidFill>
              </a:rPr>
              <a:t>Bishops, kings, guilds and pilgrims pay.</a:t>
            </a:r>
            <a:endParaRPr lang="en-US" sz="1500" dirty="0"/>
          </a:p>
        </p:txBody>
      </p:sp>
      <p:sp>
        <p:nvSpPr>
          <p:cNvPr id="8" name="Icon badge compass"/>
          <p:cNvSpPr/>
          <p:nvPr/>
        </p:nvSpPr>
        <p:spPr>
          <a:xfrm>
            <a:off x="640080" y="2514600"/>
            <a:ext cx="731520" cy="731520"/>
          </a:xfrm>
          <a:prstGeom prst="ellipse">
            <a:avLst/>
          </a:prstGeom>
          <a:solidFill>
            <a:schemeClr val="accent1"/>
          </a:solidFill>
          <a:ln w="6350">
            <a:solidFill>
              <a:schemeClr val="accent1"/>
            </a:solidFill>
            <a:prstDash val="solid"/>
          </a:ln>
        </p:spPr>
      </p:sp>
      <p:pic>
        <p:nvPicPr>
          <p:cNvPr id="9" name="Image 1" descr="compass icon">    </p:cNvPr>
          <p:cNvPicPr>
            <a:picLocks noChangeAspect="1"/>
          </p:cNvPicPr>
          <p:nvPr/>
        </p:nvPicPr>
        <p:blipFill>
          <a:blip r:embed="rId2"/>
          <a:stretch>
            <a:fillRect/>
          </a:stretch>
        </p:blipFill>
        <p:spPr>
          <a:xfrm>
            <a:off x="793699" y="2668219"/>
            <a:ext cx="424282" cy="424282"/>
          </a:xfrm>
          <a:prstGeom prst="rect">
            <a:avLst/>
          </a:prstGeom>
        </p:spPr>
      </p:pic>
      <p:sp>
        <p:nvSpPr>
          <p:cNvPr id="10" name="Text 6"/>
          <p:cNvSpPr txBox="1"/>
          <p:nvPr/>
        </p:nvSpPr>
        <p:spPr>
          <a:xfrm>
            <a:off x="1600200" y="2468880"/>
            <a:ext cx="4023360" cy="36576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Design</a:t>
            </a:r>
            <a:endParaRPr lang="en-US" sz="2000" dirty="0"/>
          </a:p>
        </p:txBody>
      </p:sp>
      <p:sp>
        <p:nvSpPr>
          <p:cNvPr id="11" name="Text 7"/>
          <p:cNvSpPr txBox="1"/>
          <p:nvPr/>
        </p:nvSpPr>
        <p:spPr>
          <a:xfrm>
            <a:off x="1600200" y="2852928"/>
            <a:ext cx="4023360" cy="502920"/>
          </a:xfrm>
          <a:prstGeom prst="rect">
            <a:avLst/>
          </a:prstGeom>
          <a:noFill/>
          <a:ln/>
        </p:spPr>
        <p:txBody>
          <a:bodyPr wrap="square" lIns="0" tIns="0" rIns="0" bIns="0" rtlCol="0" anchor="t"/>
          <a:lstStyle/>
          <a:p>
            <a:pPr indent="0" marL="0">
              <a:buNone/>
            </a:pPr>
            <a:r>
              <a:rPr lang="en-US" sz="1500" dirty="0">
                <a:solidFill>
                  <a:schemeClr val="tx1"/>
                </a:solidFill>
              </a:rPr>
              <a:t>A master mason draws with compass and geometry.</a:t>
            </a:r>
            <a:endParaRPr lang="en-US" sz="1500" dirty="0"/>
          </a:p>
        </p:txBody>
      </p:sp>
      <p:sp>
        <p:nvSpPr>
          <p:cNvPr id="12" name="Icon badge hammer"/>
          <p:cNvSpPr/>
          <p:nvPr/>
        </p:nvSpPr>
        <p:spPr>
          <a:xfrm>
            <a:off x="640080" y="3474720"/>
            <a:ext cx="731520" cy="731520"/>
          </a:xfrm>
          <a:prstGeom prst="ellipse">
            <a:avLst/>
          </a:prstGeom>
          <a:solidFill>
            <a:schemeClr val="accent1"/>
          </a:solidFill>
          <a:ln w="6350">
            <a:solidFill>
              <a:schemeClr val="accent1"/>
            </a:solidFill>
            <a:prstDash val="solid"/>
          </a:ln>
        </p:spPr>
      </p:sp>
      <p:pic>
        <p:nvPicPr>
          <p:cNvPr id="13" name="Image 2" descr="hammer icon">    </p:cNvPr>
          <p:cNvPicPr>
            <a:picLocks noChangeAspect="1"/>
          </p:cNvPicPr>
          <p:nvPr/>
        </p:nvPicPr>
        <p:blipFill>
          <a:blip r:embed="rId3"/>
          <a:stretch>
            <a:fillRect/>
          </a:stretch>
        </p:blipFill>
        <p:spPr>
          <a:xfrm>
            <a:off x="793699" y="3628339"/>
            <a:ext cx="424282" cy="424282"/>
          </a:xfrm>
          <a:prstGeom prst="rect">
            <a:avLst/>
          </a:prstGeom>
        </p:spPr>
      </p:pic>
      <p:sp>
        <p:nvSpPr>
          <p:cNvPr id="14" name="Text 9"/>
          <p:cNvSpPr txBox="1"/>
          <p:nvPr/>
        </p:nvSpPr>
        <p:spPr>
          <a:xfrm>
            <a:off x="1600200" y="3429000"/>
            <a:ext cx="4023360" cy="36576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Carve</a:t>
            </a:r>
            <a:endParaRPr lang="en-US" sz="2000" dirty="0"/>
          </a:p>
        </p:txBody>
      </p:sp>
      <p:sp>
        <p:nvSpPr>
          <p:cNvPr id="15" name="Text 10"/>
          <p:cNvSpPr txBox="1"/>
          <p:nvPr/>
        </p:nvSpPr>
        <p:spPr>
          <a:xfrm>
            <a:off x="1600200" y="3813048"/>
            <a:ext cx="4023360" cy="502920"/>
          </a:xfrm>
          <a:prstGeom prst="rect">
            <a:avLst/>
          </a:prstGeom>
          <a:noFill/>
          <a:ln/>
        </p:spPr>
        <p:txBody>
          <a:bodyPr wrap="square" lIns="0" tIns="0" rIns="0" bIns="0" rtlCol="0" anchor="t"/>
          <a:lstStyle/>
          <a:p>
            <a:pPr indent="0" marL="0">
              <a:buNone/>
            </a:pPr>
            <a:r>
              <a:rPr lang="en-US" sz="1500" dirty="0">
                <a:solidFill>
                  <a:schemeClr val="tx1"/>
                </a:solidFill>
              </a:rPr>
              <a:t>Each stone is cut on the ground and marked.</a:t>
            </a:r>
            <a:endParaRPr lang="en-US" sz="1500" dirty="0"/>
          </a:p>
        </p:txBody>
      </p:sp>
      <p:sp>
        <p:nvSpPr>
          <p:cNvPr id="16" name="Icon badge lift"/>
          <p:cNvSpPr/>
          <p:nvPr/>
        </p:nvSpPr>
        <p:spPr>
          <a:xfrm>
            <a:off x="640080" y="4434840"/>
            <a:ext cx="731520" cy="731520"/>
          </a:xfrm>
          <a:prstGeom prst="ellipse">
            <a:avLst/>
          </a:prstGeom>
          <a:solidFill>
            <a:schemeClr val="accent1"/>
          </a:solidFill>
          <a:ln w="6350">
            <a:solidFill>
              <a:schemeClr val="accent1"/>
            </a:solidFill>
            <a:prstDash val="solid"/>
          </a:ln>
        </p:spPr>
      </p:sp>
      <p:pic>
        <p:nvPicPr>
          <p:cNvPr id="17" name="Image 3" descr="lift icon">    </p:cNvPr>
          <p:cNvPicPr>
            <a:picLocks noChangeAspect="1"/>
          </p:cNvPicPr>
          <p:nvPr/>
        </p:nvPicPr>
        <p:blipFill>
          <a:blip r:embed="rId4"/>
          <a:stretch>
            <a:fillRect/>
          </a:stretch>
        </p:blipFill>
        <p:spPr>
          <a:xfrm>
            <a:off x="793699" y="4588459"/>
            <a:ext cx="424282" cy="424282"/>
          </a:xfrm>
          <a:prstGeom prst="rect">
            <a:avLst/>
          </a:prstGeom>
        </p:spPr>
      </p:pic>
      <p:sp>
        <p:nvSpPr>
          <p:cNvPr id="18" name="Text 12"/>
          <p:cNvSpPr txBox="1"/>
          <p:nvPr/>
        </p:nvSpPr>
        <p:spPr>
          <a:xfrm>
            <a:off x="1600200" y="4389120"/>
            <a:ext cx="4023360" cy="36576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Lift &amp; set</a:t>
            </a:r>
            <a:endParaRPr lang="en-US" sz="2000" dirty="0"/>
          </a:p>
        </p:txBody>
      </p:sp>
      <p:sp>
        <p:nvSpPr>
          <p:cNvPr id="19" name="Text 13"/>
          <p:cNvSpPr txBox="1"/>
          <p:nvPr/>
        </p:nvSpPr>
        <p:spPr>
          <a:xfrm>
            <a:off x="1600200" y="4773168"/>
            <a:ext cx="4023360" cy="502920"/>
          </a:xfrm>
          <a:prstGeom prst="rect">
            <a:avLst/>
          </a:prstGeom>
          <a:noFill/>
          <a:ln/>
        </p:spPr>
        <p:txBody>
          <a:bodyPr wrap="square" lIns="0" tIns="0" rIns="0" bIns="0" rtlCol="0" anchor="t"/>
          <a:lstStyle/>
          <a:p>
            <a:pPr indent="0" marL="0">
              <a:buNone/>
            </a:pPr>
            <a:r>
              <a:rPr lang="en-US" sz="1500" dirty="0">
                <a:solidFill>
                  <a:schemeClr val="tx1"/>
                </a:solidFill>
              </a:rPr>
              <a:t>Treadwheel cranes, scaffolds, wooden centering.</a:t>
            </a:r>
            <a:endParaRPr lang="en-US" sz="1500" dirty="0"/>
          </a:p>
        </p:txBody>
      </p:sp>
      <p:sp>
        <p:nvSpPr>
          <p:cNvPr id="20" name="Icon badge clock"/>
          <p:cNvSpPr/>
          <p:nvPr/>
        </p:nvSpPr>
        <p:spPr>
          <a:xfrm>
            <a:off x="640080" y="5394960"/>
            <a:ext cx="731520" cy="731520"/>
          </a:xfrm>
          <a:prstGeom prst="ellipse">
            <a:avLst/>
          </a:prstGeom>
          <a:solidFill>
            <a:schemeClr val="accent1"/>
          </a:solidFill>
          <a:ln w="6350">
            <a:solidFill>
              <a:schemeClr val="accent1"/>
            </a:solidFill>
            <a:prstDash val="solid"/>
          </a:ln>
        </p:spPr>
      </p:sp>
      <p:pic>
        <p:nvPicPr>
          <p:cNvPr id="21" name="Image 4" descr="clock icon">    </p:cNvPr>
          <p:cNvPicPr>
            <a:picLocks noChangeAspect="1"/>
          </p:cNvPicPr>
          <p:nvPr/>
        </p:nvPicPr>
        <p:blipFill>
          <a:blip r:embed="rId5"/>
          <a:stretch>
            <a:fillRect/>
          </a:stretch>
        </p:blipFill>
        <p:spPr>
          <a:xfrm>
            <a:off x="793699" y="5548579"/>
            <a:ext cx="424282" cy="424282"/>
          </a:xfrm>
          <a:prstGeom prst="rect">
            <a:avLst/>
          </a:prstGeom>
        </p:spPr>
      </p:pic>
      <p:sp>
        <p:nvSpPr>
          <p:cNvPr id="22" name="Text 15"/>
          <p:cNvSpPr txBox="1"/>
          <p:nvPr/>
        </p:nvSpPr>
        <p:spPr>
          <a:xfrm>
            <a:off x="1600200" y="5349240"/>
            <a:ext cx="4023360" cy="36576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Wait</a:t>
            </a:r>
            <a:endParaRPr lang="en-US" sz="2000" dirty="0"/>
          </a:p>
        </p:txBody>
      </p:sp>
      <p:sp>
        <p:nvSpPr>
          <p:cNvPr id="23" name="Text 16"/>
          <p:cNvSpPr txBox="1"/>
          <p:nvPr/>
        </p:nvSpPr>
        <p:spPr>
          <a:xfrm>
            <a:off x="1600200" y="5733288"/>
            <a:ext cx="4023360" cy="502920"/>
          </a:xfrm>
          <a:prstGeom prst="rect">
            <a:avLst/>
          </a:prstGeom>
          <a:noFill/>
          <a:ln/>
        </p:spPr>
        <p:txBody>
          <a:bodyPr wrap="square" lIns="0" tIns="0" rIns="0" bIns="0" rtlCol="0" anchor="t"/>
          <a:lstStyle/>
          <a:p>
            <a:pPr indent="0" marL="0">
              <a:buNone/>
            </a:pPr>
            <a:r>
              <a:rPr lang="en-US" sz="1500" dirty="0">
                <a:solidFill>
                  <a:schemeClr val="tx1"/>
                </a:solidFill>
              </a:rPr>
              <a:t>Decades, even centuries. Many never saw the end.</a:t>
            </a:r>
            <a:endParaRPr lang="en-US" sz="1500" dirty="0"/>
          </a:p>
        </p:txBody>
      </p:sp>
      <p:sp>
        <p:nvSpPr>
          <p:cNvPr id="24" name="Hairline"/>
          <p:cNvSpPr/>
          <p:nvPr/>
        </p:nvSpPr>
        <p:spPr>
          <a:xfrm>
            <a:off x="5943600" y="1600200"/>
            <a:ext cx="2286000" cy="0"/>
          </a:xfrm>
          <a:prstGeom prst="line">
            <a:avLst/>
          </a:prstGeom>
          <a:noFill/>
          <a:ln w="9525">
            <a:solidFill>
              <a:srgbClr val="1B1A24"/>
            </a:solidFill>
            <a:prstDash val="solid"/>
          </a:ln>
        </p:spPr>
      </p:sp>
      <p:sp>
        <p:nvSpPr>
          <p:cNvPr id="25" name="Text 18"/>
          <p:cNvSpPr txBox="1"/>
          <p:nvPr/>
        </p:nvSpPr>
        <p:spPr>
          <a:xfrm>
            <a:off x="5943600" y="1709928"/>
            <a:ext cx="2377440" cy="914400"/>
          </a:xfrm>
          <a:prstGeom prst="rect">
            <a:avLst/>
          </a:prstGeom>
          <a:noFill/>
          <a:ln/>
        </p:spPr>
        <p:txBody>
          <a:bodyPr wrap="square" lIns="0" tIns="0" rIns="0" bIns="0" rtlCol="0" anchor="ctr"/>
          <a:lstStyle/>
          <a:p>
            <a:pPr indent="0" marL="0">
              <a:buNone/>
            </a:pPr>
            <a:r>
              <a:rPr lang="en-US" sz="4600" b="1" dirty="0">
                <a:solidFill>
                  <a:schemeClr val="accent1"/>
                </a:solidFill>
                <a:latin typeface="Cambria" pitchFamily="34" charset="0"/>
                <a:ea typeface="Cambria" pitchFamily="34" charset="-122"/>
                <a:cs typeface="Cambria" pitchFamily="34" charset="-120"/>
              </a:rPr>
              <a:t>≈ 180 </a:t>
            </a:r>
            <a:pPr indent="0" marL="0">
              <a:buNone/>
            </a:pPr>
            <a:r>
              <a:rPr lang="en-US" sz="2000" dirty="0">
                <a:solidFill>
                  <a:schemeClr val="tx1"/>
                </a:solidFill>
              </a:rPr>
              <a:t>years</a:t>
            </a:r>
            <a:endParaRPr lang="en-US" sz="1400" dirty="0"/>
          </a:p>
        </p:txBody>
      </p:sp>
      <p:sp>
        <p:nvSpPr>
          <p:cNvPr id="26" name="Text 19"/>
          <p:cNvSpPr txBox="1"/>
          <p:nvPr/>
        </p:nvSpPr>
        <p:spPr>
          <a:xfrm>
            <a:off x="5943600" y="2697480"/>
            <a:ext cx="2286000" cy="822960"/>
          </a:xfrm>
          <a:prstGeom prst="rect">
            <a:avLst/>
          </a:prstGeom>
          <a:noFill/>
          <a:ln/>
        </p:spPr>
        <p:txBody>
          <a:bodyPr wrap="square" lIns="0" tIns="0" rIns="0" bIns="0" rtlCol="0" anchor="t"/>
          <a:lstStyle/>
          <a:p>
            <a:pPr indent="0" marL="0">
              <a:buNone/>
            </a:pPr>
            <a:r>
              <a:rPr lang="en-US" sz="1500" dirty="0">
                <a:solidFill>
                  <a:schemeClr val="tx1"/>
                </a:solidFill>
              </a:rPr>
              <a:t>Notre-Dame de Paris, 1163 to about 1345</a:t>
            </a:r>
            <a:endParaRPr lang="en-US" sz="1500" dirty="0"/>
          </a:p>
        </p:txBody>
      </p:sp>
      <p:sp>
        <p:nvSpPr>
          <p:cNvPr id="27" name="Hairline"/>
          <p:cNvSpPr/>
          <p:nvPr/>
        </p:nvSpPr>
        <p:spPr>
          <a:xfrm>
            <a:off x="5943600" y="3886200"/>
            <a:ext cx="2286000" cy="0"/>
          </a:xfrm>
          <a:prstGeom prst="line">
            <a:avLst/>
          </a:prstGeom>
          <a:noFill/>
          <a:ln w="9525">
            <a:solidFill>
              <a:srgbClr val="1B1A24"/>
            </a:solidFill>
            <a:prstDash val="solid"/>
          </a:ln>
        </p:spPr>
      </p:sp>
      <p:sp>
        <p:nvSpPr>
          <p:cNvPr id="28" name="Text 21"/>
          <p:cNvSpPr txBox="1"/>
          <p:nvPr/>
        </p:nvSpPr>
        <p:spPr>
          <a:xfrm>
            <a:off x="5943600" y="3995928"/>
            <a:ext cx="2377440" cy="914400"/>
          </a:xfrm>
          <a:prstGeom prst="rect">
            <a:avLst/>
          </a:prstGeom>
          <a:noFill/>
          <a:ln/>
        </p:spPr>
        <p:txBody>
          <a:bodyPr wrap="square" lIns="0" tIns="0" rIns="0" bIns="0" rtlCol="0" anchor="ctr"/>
          <a:lstStyle/>
          <a:p>
            <a:pPr indent="0" marL="0">
              <a:buNone/>
            </a:pPr>
            <a:r>
              <a:rPr lang="en-US" sz="4600" b="1" dirty="0">
                <a:solidFill>
                  <a:schemeClr val="accent1"/>
                </a:solidFill>
                <a:latin typeface="Cambria" pitchFamily="34" charset="0"/>
                <a:ea typeface="Cambria" pitchFamily="34" charset="-122"/>
                <a:cs typeface="Cambria" pitchFamily="34" charset="-120"/>
              </a:rPr>
              <a:t>632 </a:t>
            </a:r>
            <a:pPr indent="0" marL="0">
              <a:buNone/>
            </a:pPr>
            <a:r>
              <a:rPr lang="en-US" sz="2000" dirty="0">
                <a:solidFill>
                  <a:schemeClr val="tx1"/>
                </a:solidFill>
              </a:rPr>
              <a:t>years</a:t>
            </a:r>
            <a:endParaRPr lang="en-US" sz="1400" dirty="0"/>
          </a:p>
        </p:txBody>
      </p:sp>
      <p:sp>
        <p:nvSpPr>
          <p:cNvPr id="29" name="Text 22"/>
          <p:cNvSpPr txBox="1"/>
          <p:nvPr/>
        </p:nvSpPr>
        <p:spPr>
          <a:xfrm>
            <a:off x="5943600" y="4983480"/>
            <a:ext cx="2286000" cy="822960"/>
          </a:xfrm>
          <a:prstGeom prst="rect">
            <a:avLst/>
          </a:prstGeom>
          <a:noFill/>
          <a:ln/>
        </p:spPr>
        <p:txBody>
          <a:bodyPr wrap="square" lIns="0" tIns="0" rIns="0" bIns="0" rtlCol="0" anchor="t"/>
          <a:lstStyle/>
          <a:p>
            <a:pPr indent="0" marL="0">
              <a:buNone/>
            </a:pPr>
            <a:r>
              <a:rPr lang="en-US" sz="1500" dirty="0">
                <a:solidFill>
                  <a:schemeClr val="tx1"/>
                </a:solidFill>
              </a:rPr>
              <a:t>Cologne Cathedral, 1248 to 1880</a:t>
            </a:r>
            <a:endParaRPr lang="en-US" sz="1500" dirty="0"/>
          </a:p>
        </p:txBody>
      </p:sp>
      <p:pic>
        <p:nvPicPr>
          <p:cNvPr id="30" name="Image 5" descr="Cologne Cathedral at dusk">    </p:cNvPr>
          <p:cNvPicPr>
            <a:picLocks noChangeAspect="1"/>
          </p:cNvPicPr>
          <p:nvPr/>
        </p:nvPicPr>
        <p:blipFill>
          <a:blip r:embed="rId6"/>
          <a:stretch>
            <a:fillRect/>
          </a:stretch>
        </p:blipFill>
        <p:spPr>
          <a:xfrm>
            <a:off x="8595360" y="1508760"/>
            <a:ext cx="3017520" cy="4149090"/>
          </a:xfrm>
          <a:prstGeom prst="rect">
            <a:avLst/>
          </a:prstGeom>
        </p:spPr>
      </p:pic>
      <p:sp>
        <p:nvSpPr>
          <p:cNvPr id="31" name="Text 23"/>
          <p:cNvSpPr txBox="1"/>
          <p:nvPr/>
        </p:nvSpPr>
        <p:spPr>
          <a:xfrm>
            <a:off x="8595360" y="5760720"/>
            <a:ext cx="3017520" cy="320040"/>
          </a:xfrm>
          <a:prstGeom prst="rect">
            <a:avLst/>
          </a:prstGeom>
          <a:noFill/>
          <a:ln/>
        </p:spPr>
        <p:txBody>
          <a:bodyPr wrap="square" lIns="0" tIns="0" rIns="0" bIns="0" rtlCol="0" anchor="t"/>
          <a:lstStyle/>
          <a:p>
            <a:pPr algn="ctr" indent="0" marL="0">
              <a:buNone/>
            </a:pPr>
            <a:r>
              <a:rPr lang="en-US" sz="1200" i="1" dirty="0">
                <a:solidFill>
                  <a:schemeClr val="tx2"/>
                </a:solidFill>
              </a:rPr>
              <a:t>Cologne Cathedral, 157 m towers</a:t>
            </a:r>
            <a:endParaRPr lang="en-US" sz="12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877"/>
                </a:solidFill>
              </a:defRPr>
            </a:lvl1pPr>
          </a:lstStyle>
          <a:p>
            <a:pPr algn="r"/>
            <a:fld id="{F7021451-1387-4CA6-816F-3879F97B5CBC}" type="slidenum">
              <a:rPr b="0" lang="en-US"/>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347472"/>
            <a:ext cx="7315200" cy="274320"/>
          </a:xfrm>
          <a:prstGeom prst="rect">
            <a:avLst/>
          </a:prstGeom>
          <a:noFill/>
          <a:ln/>
        </p:spPr>
        <p:txBody>
          <a:bodyPr wrap="square" lIns="0" tIns="0" rIns="0" bIns="0" rtlCol="0" anchor="t"/>
          <a:lstStyle/>
          <a:p>
            <a:pPr indent="0" marL="0">
              <a:buNone/>
            </a:pPr>
            <a:r>
              <a:rPr lang="en-US" sz="1200" b="1" spc="400" kern="0" dirty="0">
                <a:solidFill>
                  <a:schemeClr val="accent2"/>
                </a:solidFill>
              </a:rPr>
              <a:t>LEGACY</a:t>
            </a:r>
            <a:endParaRPr lang="en-US" sz="1200" dirty="0"/>
          </a:p>
        </p:txBody>
      </p:sp>
      <p:sp>
        <p:nvSpPr>
          <p:cNvPr id="3" name="Text 0"/>
          <p:cNvSpPr/>
          <p:nvPr>
            <p:ph idx="100" type="title" hasCustomPrompt="1"/>
          </p:nvPr>
        </p:nvSpPr>
        <p:spPr>
          <a:xfrm>
            <a:off x="640080" y="621792"/>
            <a:ext cx="10881360" cy="731520"/>
          </a:xfrm>
          <a:prstGeom prst="rect">
            <a:avLst/>
          </a:prstGeom>
          <a:noFill/>
          <a:ln/>
        </p:spPr>
        <p:txBody>
          <a:bodyPr wrap="square" lIns="0" tIns="0" rIns="0" bIns="0" rtlCol="0" anchor="ctr"/>
          <a:lstStyle/>
          <a:p>
            <a:pPr algn="l" indent="0" marL="0">
              <a:buNone/>
            </a:pPr>
            <a:r>
              <a:rPr lang="en-US" sz="3400" b="1" dirty="0">
                <a:solidFill>
                  <a:schemeClr val="tx1"/>
                </a:solidFill>
              </a:rPr>
              <a:t>The race to the sky</a:t>
            </a:r>
            <a:endParaRPr lang="en-US" sz="3400" dirty="0"/>
          </a:p>
        </p:txBody>
      </p:sp>
      <p:graphicFrame>
        <p:nvGraphicFramePr>
          <p:cNvPr id="4" name="Chart 0" descr=""/>
          <p:cNvGraphicFramePr/>
          <p:nvPr/>
        </p:nvGraphicFramePr>
        <p:xfrm>
          <a:off x="548640" y="1417320"/>
          <a:ext cx="7132320" cy="4892040"/>
        </p:xfrm>
        <a:graphic xmlns:a="http://schemas.openxmlformats.org/drawingml/2006/main">
          <a:graphicData uri="http://schemas.openxmlformats.org/drawingml/2006/chart">
            <c:chart xmlns:c="http://schemas.openxmlformats.org/drawingml/2006/chart" r:id="rId1"/>
          </a:graphicData>
        </a:graphic>
      </p:graphicFrame>
      <p:sp>
        <p:nvSpPr>
          <p:cNvPr id="5" name="Hairline"/>
          <p:cNvSpPr/>
          <p:nvPr/>
        </p:nvSpPr>
        <p:spPr>
          <a:xfrm>
            <a:off x="8138160" y="1600200"/>
            <a:ext cx="3474720" cy="0"/>
          </a:xfrm>
          <a:prstGeom prst="line">
            <a:avLst/>
          </a:prstGeom>
          <a:noFill/>
          <a:ln w="9525">
            <a:solidFill>
              <a:srgbClr val="1B1A24"/>
            </a:solidFill>
            <a:prstDash val="solid"/>
          </a:ln>
        </p:spPr>
      </p:sp>
      <p:sp>
        <p:nvSpPr>
          <p:cNvPr id="6" name="Text 3"/>
          <p:cNvSpPr txBox="1"/>
          <p:nvPr/>
        </p:nvSpPr>
        <p:spPr>
          <a:xfrm>
            <a:off x="8138160" y="1737360"/>
            <a:ext cx="3474720" cy="50292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+45%</a:t>
            </a:r>
            <a:endParaRPr lang="en-US" sz="2600" dirty="0"/>
          </a:p>
        </p:txBody>
      </p:sp>
      <p:sp>
        <p:nvSpPr>
          <p:cNvPr id="7" name="Text 4"/>
          <p:cNvSpPr txBox="1"/>
          <p:nvPr/>
        </p:nvSpPr>
        <p:spPr>
          <a:xfrm>
            <a:off x="8138160" y="2286000"/>
            <a:ext cx="3474720" cy="777240"/>
          </a:xfrm>
          <a:prstGeom prst="rect">
            <a:avLst/>
          </a:prstGeom>
          <a:noFill/>
          <a:ln/>
        </p:spPr>
        <p:txBody>
          <a:bodyPr wrap="square" lIns="0" tIns="0" rIns="0" bIns="0" rtlCol="0" anchor="t"/>
          <a:lstStyle/>
          <a:p>
            <a:pPr indent="0" marL="0">
              <a:buNone/>
            </a:pPr>
            <a:r>
              <a:rPr lang="en-US" sz="1500" dirty="0">
                <a:solidFill>
                  <a:schemeClr val="tx1"/>
                </a:solidFill>
              </a:rPr>
              <a:t>in about 60 years: each bishop wanted to beat the last.</a:t>
            </a:r>
            <a:endParaRPr lang="en-US" sz="1500" dirty="0"/>
          </a:p>
        </p:txBody>
      </p:sp>
      <p:sp>
        <p:nvSpPr>
          <p:cNvPr id="8" name="Hairline"/>
          <p:cNvSpPr/>
          <p:nvPr/>
        </p:nvSpPr>
        <p:spPr>
          <a:xfrm>
            <a:off x="8138160" y="3108960"/>
            <a:ext cx="3474720" cy="0"/>
          </a:xfrm>
          <a:prstGeom prst="line">
            <a:avLst/>
          </a:prstGeom>
          <a:noFill/>
          <a:ln w="9525">
            <a:solidFill>
              <a:srgbClr val="1B1A24"/>
            </a:solidFill>
            <a:prstDash val="solid"/>
          </a:ln>
        </p:spPr>
      </p:sp>
      <p:sp>
        <p:nvSpPr>
          <p:cNvPr id="9" name="Text 6"/>
          <p:cNvSpPr txBox="1"/>
          <p:nvPr/>
        </p:nvSpPr>
        <p:spPr>
          <a:xfrm>
            <a:off x="8138160" y="3246120"/>
            <a:ext cx="3474720" cy="502920"/>
          </a:xfrm>
          <a:prstGeom prst="rect">
            <a:avLst/>
          </a:prstGeom>
          <a:noFill/>
          <a:ln/>
        </p:spPr>
        <p:txBody>
          <a:bodyPr wrap="square" lIns="0" tIns="0" rIns="0" bIns="0"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1284</a:t>
            </a:r>
            <a:endParaRPr lang="en-US" sz="2600" dirty="0"/>
          </a:p>
        </p:txBody>
      </p:sp>
      <p:sp>
        <p:nvSpPr>
          <p:cNvPr id="10" name="Text 7"/>
          <p:cNvSpPr txBox="1"/>
          <p:nvPr/>
        </p:nvSpPr>
        <p:spPr>
          <a:xfrm>
            <a:off x="8138160" y="3794760"/>
            <a:ext cx="3474720" cy="777240"/>
          </a:xfrm>
          <a:prstGeom prst="rect">
            <a:avLst/>
          </a:prstGeom>
          <a:noFill/>
          <a:ln/>
        </p:spPr>
        <p:txBody>
          <a:bodyPr wrap="square" lIns="0" tIns="0" rIns="0" bIns="0" rtlCol="0" anchor="t"/>
          <a:lstStyle/>
          <a:p>
            <a:pPr indent="0" marL="0">
              <a:buNone/>
            </a:pPr>
            <a:r>
              <a:rPr lang="en-US" sz="1500" dirty="0">
                <a:solidFill>
                  <a:schemeClr val="tx1"/>
                </a:solidFill>
              </a:rPr>
              <a:t>Beauvais' vault collapses, only 12 years after the choir was finished.</a:t>
            </a:r>
            <a:endParaRPr lang="en-US" sz="1500" dirty="0"/>
          </a:p>
        </p:txBody>
      </p:sp>
      <p:sp>
        <p:nvSpPr>
          <p:cNvPr id="11" name="Hairline"/>
          <p:cNvSpPr/>
          <p:nvPr/>
        </p:nvSpPr>
        <p:spPr>
          <a:xfrm>
            <a:off x="8138160" y="4617720"/>
            <a:ext cx="3474720" cy="0"/>
          </a:xfrm>
          <a:prstGeom prst="line">
            <a:avLst/>
          </a:prstGeom>
          <a:noFill/>
          <a:ln w="9525">
            <a:solidFill>
              <a:srgbClr val="1B1A24"/>
            </a:solidFill>
            <a:prstDash val="solid"/>
          </a:ln>
        </p:spPr>
      </p:sp>
      <p:sp>
        <p:nvSpPr>
          <p:cNvPr id="12" name="Text 9"/>
          <p:cNvSpPr txBox="1"/>
          <p:nvPr/>
        </p:nvSpPr>
        <p:spPr>
          <a:xfrm>
            <a:off x="8138160" y="4754880"/>
            <a:ext cx="3474720" cy="50292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Trial &amp; error</a:t>
            </a:r>
            <a:endParaRPr lang="en-US" sz="2600" dirty="0"/>
          </a:p>
        </p:txBody>
      </p:sp>
      <p:sp>
        <p:nvSpPr>
          <p:cNvPr id="13" name="Text 10"/>
          <p:cNvSpPr txBox="1"/>
          <p:nvPr/>
        </p:nvSpPr>
        <p:spPr>
          <a:xfrm>
            <a:off x="8138160" y="5303520"/>
            <a:ext cx="3474720" cy="777240"/>
          </a:xfrm>
          <a:prstGeom prst="rect">
            <a:avLst/>
          </a:prstGeom>
          <a:noFill/>
          <a:ln/>
        </p:spPr>
        <p:txBody>
          <a:bodyPr wrap="square" lIns="0" tIns="0" rIns="0" bIns="0" rtlCol="0" anchor="t"/>
          <a:lstStyle/>
          <a:p>
            <a:pPr indent="0" marL="0">
              <a:buNone/>
            </a:pPr>
            <a:r>
              <a:rPr lang="en-US" sz="1500" dirty="0">
                <a:solidFill>
                  <a:schemeClr val="tx1"/>
                </a:solidFill>
              </a:rPr>
              <a:t>No structural theory yet: every failure taught the masons something.</a:t>
            </a:r>
            <a:endParaRPr lang="en-US" sz="15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877"/>
                </a:solidFill>
              </a:defRPr>
            </a:lvl1pPr>
          </a:lstStyle>
          <a:p>
            <a:pPr algn="r"/>
            <a:fld id="{F7021451-1387-4CA6-816F-3879F97B5CBC}" type="slidenum">
              <a:rPr b="0" lang="en-US"/>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347472"/>
            <a:ext cx="7315200" cy="274320"/>
          </a:xfrm>
          <a:prstGeom prst="rect">
            <a:avLst/>
          </a:prstGeom>
          <a:noFill/>
          <a:ln/>
        </p:spPr>
        <p:txBody>
          <a:bodyPr wrap="square" lIns="0" tIns="0" rIns="0" bIns="0" rtlCol="0" anchor="t"/>
          <a:lstStyle/>
          <a:p>
            <a:pPr indent="0" marL="0">
              <a:buNone/>
            </a:pPr>
            <a:r>
              <a:rPr lang="en-US" sz="1200" b="1" spc="400" kern="0" dirty="0">
                <a:solidFill>
                  <a:schemeClr val="accent2"/>
                </a:solidFill>
              </a:rPr>
              <a:t>LEGACY</a:t>
            </a:r>
            <a:endParaRPr lang="en-US" sz="1200" dirty="0"/>
          </a:p>
        </p:txBody>
      </p:sp>
      <p:sp>
        <p:nvSpPr>
          <p:cNvPr id="3" name="Text 0"/>
          <p:cNvSpPr/>
          <p:nvPr>
            <p:ph idx="100" type="title" hasCustomPrompt="1"/>
          </p:nvPr>
        </p:nvSpPr>
        <p:spPr>
          <a:xfrm>
            <a:off x="640080" y="621792"/>
            <a:ext cx="10881360" cy="731520"/>
          </a:xfrm>
          <a:prstGeom prst="rect">
            <a:avLst/>
          </a:prstGeom>
          <a:noFill/>
          <a:ln/>
        </p:spPr>
        <p:txBody>
          <a:bodyPr wrap="square" lIns="0" tIns="0" rIns="0" bIns="0" rtlCol="0" anchor="ctr"/>
          <a:lstStyle/>
          <a:p>
            <a:pPr algn="l" indent="0" marL="0">
              <a:buNone/>
            </a:pPr>
            <a:r>
              <a:rPr lang="en-US" sz="3400" b="1" dirty="0">
                <a:solidFill>
                  <a:schemeClr val="tx1"/>
                </a:solidFill>
              </a:rPr>
              <a:t>Spread, decline and rebirth</a:t>
            </a:r>
            <a:endParaRPr lang="en-US" sz="3400" dirty="0"/>
          </a:p>
        </p:txBody>
      </p:sp>
      <p:pic>
        <p:nvPicPr>
          <p:cNvPr id="4" name="Image 0" descr="Spread">    </p:cNvPr>
          <p:cNvPicPr>
            <a:picLocks noChangeAspect="1"/>
          </p:cNvPicPr>
          <p:nvPr/>
        </p:nvPicPr>
        <p:blipFill>
          <a:blip r:embed="rId1"/>
          <a:stretch>
            <a:fillRect/>
          </a:stretch>
        </p:blipFill>
        <p:spPr>
          <a:xfrm>
            <a:off x="640080" y="1463040"/>
            <a:ext cx="1965960" cy="2703195"/>
          </a:xfrm>
          <a:prstGeom prst="rect">
            <a:avLst/>
          </a:prstGeom>
        </p:spPr>
      </p:pic>
      <p:sp>
        <p:nvSpPr>
          <p:cNvPr id="5" name="Number 1"/>
          <p:cNvSpPr/>
          <p:nvPr/>
        </p:nvSpPr>
        <p:spPr>
          <a:xfrm>
            <a:off x="2834640" y="1554480"/>
            <a:ext cx="457200" cy="457200"/>
          </a:xfrm>
          <a:prstGeom prst="ellipse">
            <a:avLst/>
          </a:prstGeom>
          <a:solidFill>
            <a:schemeClr val="accent1"/>
          </a:solidFill>
          <a:ln w="6350">
            <a:solidFill>
              <a:schemeClr val="accent1"/>
            </a:solidFill>
            <a:prstDash val="solid"/>
          </a:ln>
        </p:spPr>
      </p:sp>
      <p:sp>
        <p:nvSpPr>
          <p:cNvPr id="6" name="Text 3"/>
          <p:cNvSpPr txBox="1"/>
          <p:nvPr/>
        </p:nvSpPr>
        <p:spPr>
          <a:xfrm>
            <a:off x="2834640" y="1554480"/>
            <a:ext cx="457200" cy="457200"/>
          </a:xfrm>
          <a:prstGeom prst="rect">
            <a:avLst/>
          </a:prstGeom>
          <a:noFill/>
          <a:ln/>
        </p:spPr>
        <p:txBody>
          <a:bodyPr wrap="square" lIns="0" tIns="0" rIns="0" bIns="0" rtlCol="0" anchor="ctr"/>
          <a:lstStyle/>
          <a:p>
            <a:pPr algn="ctr" indent="0" marL="0">
              <a:buNone/>
            </a:pPr>
            <a:r>
              <a:rPr lang="en-US" sz="1800" b="1" dirty="0">
                <a:solidFill>
                  <a:srgbClr val="14131C"/>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2834640" y="2148840"/>
            <a:ext cx="1371600"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Spread</a:t>
            </a:r>
            <a:endParaRPr lang="en-US" sz="2400" dirty="0"/>
          </a:p>
        </p:txBody>
      </p:sp>
      <p:sp>
        <p:nvSpPr>
          <p:cNvPr id="8" name="Text 5"/>
          <p:cNvSpPr txBox="1"/>
          <p:nvPr/>
        </p:nvSpPr>
        <p:spPr>
          <a:xfrm>
            <a:off x="2834640" y="2651760"/>
            <a:ext cx="1325880" cy="1188720"/>
          </a:xfrm>
          <a:prstGeom prst="rect">
            <a:avLst/>
          </a:prstGeom>
          <a:noFill/>
          <a:ln/>
        </p:spPr>
        <p:txBody>
          <a:bodyPr wrap="square" lIns="0" tIns="0" rIns="0" bIns="0" rtlCol="0" anchor="t"/>
          <a:lstStyle/>
          <a:p>
            <a:pPr indent="0" marL="0">
              <a:buNone/>
            </a:pPr>
            <a:r>
              <a:rPr lang="en-US" sz="1400" i="1" dirty="0">
                <a:solidFill>
                  <a:schemeClr val="tx2"/>
                </a:solidFill>
              </a:rPr>
              <a:t>Every country adds an accent</a:t>
            </a:r>
            <a:endParaRPr lang="en-US" sz="1400" dirty="0"/>
          </a:p>
        </p:txBody>
      </p:sp>
      <p:sp>
        <p:nvSpPr>
          <p:cNvPr id="9" name="Hairline"/>
          <p:cNvSpPr/>
          <p:nvPr/>
        </p:nvSpPr>
        <p:spPr>
          <a:xfrm>
            <a:off x="640080" y="4389120"/>
            <a:ext cx="3474720" cy="0"/>
          </a:xfrm>
          <a:prstGeom prst="line">
            <a:avLst/>
          </a:prstGeom>
          <a:noFill/>
          <a:ln w="9525">
            <a:solidFill>
              <a:srgbClr val="CFCABD"/>
            </a:solidFill>
            <a:prstDash val="solid"/>
          </a:ln>
        </p:spPr>
      </p:sp>
      <p:sp>
        <p:nvSpPr>
          <p:cNvPr id="10" name="Text 7"/>
          <p:cNvSpPr txBox="1"/>
          <p:nvPr/>
        </p:nvSpPr>
        <p:spPr>
          <a:xfrm>
            <a:off x="640080" y="4526280"/>
            <a:ext cx="3474720"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England: Salisbury, Westminster Abbey</a:t>
            </a:r>
            <a:endParaRPr lang="en-US" sz="1500" dirty="0"/>
          </a:p>
          <a:p>
            <a:pPr marL="342900" indent="-342900">
              <a:spcAft>
                <a:spcPts val="600"/>
              </a:spcAft>
              <a:buSzPct val="100000"/>
              <a:buChar char="•"/>
            </a:pPr>
            <a:r>
              <a:rPr lang="en-US" sz="1500" dirty="0">
                <a:solidFill>
                  <a:schemeClr val="tx1"/>
                </a:solidFill>
              </a:rPr>
              <a:t>Germany: Cologne</a:t>
            </a:r>
            <a:endParaRPr lang="en-US" sz="1500" dirty="0"/>
          </a:p>
          <a:p>
            <a:pPr marL="342900" indent="-342900">
              <a:spcAft>
                <a:spcPts val="600"/>
              </a:spcAft>
              <a:buSzPct val="100000"/>
              <a:buChar char="•"/>
            </a:pPr>
            <a:r>
              <a:rPr lang="en-US" sz="1500" dirty="0">
                <a:solidFill>
                  <a:schemeClr val="tx1"/>
                </a:solidFill>
              </a:rPr>
              <a:t>Italy: Milan Duomo, in marble</a:t>
            </a:r>
            <a:endParaRPr lang="en-US" sz="1500" dirty="0"/>
          </a:p>
          <a:p>
            <a:pPr marL="342900" indent="-342900">
              <a:spcAft>
                <a:spcPts val="600"/>
              </a:spcAft>
              <a:buSzPct val="100000"/>
              <a:buChar char="•"/>
            </a:pPr>
            <a:r>
              <a:rPr lang="en-US" sz="1500" dirty="0">
                <a:solidFill>
                  <a:schemeClr val="tx1"/>
                </a:solidFill>
              </a:rPr>
              <a:t>Spain: Seville, the largest Gothic cathedral</a:t>
            </a:r>
            <a:endParaRPr lang="en-US" sz="1500" dirty="0"/>
          </a:p>
        </p:txBody>
      </p:sp>
      <p:pic>
        <p:nvPicPr>
          <p:cNvPr id="11" name="Image 1" descr="Decline">    </p:cNvPr>
          <p:cNvPicPr>
            <a:picLocks noChangeAspect="1"/>
          </p:cNvPicPr>
          <p:nvPr/>
        </p:nvPicPr>
        <p:blipFill>
          <a:blip r:embed="rId2"/>
          <a:stretch>
            <a:fillRect/>
          </a:stretch>
        </p:blipFill>
        <p:spPr>
          <a:xfrm>
            <a:off x="4389120" y="1463040"/>
            <a:ext cx="1965960" cy="2703195"/>
          </a:xfrm>
          <a:prstGeom prst="rect">
            <a:avLst/>
          </a:prstGeom>
        </p:spPr>
      </p:pic>
      <p:sp>
        <p:nvSpPr>
          <p:cNvPr id="12" name="Number 2"/>
          <p:cNvSpPr/>
          <p:nvPr/>
        </p:nvSpPr>
        <p:spPr>
          <a:xfrm>
            <a:off x="6583680" y="1554480"/>
            <a:ext cx="457200" cy="457200"/>
          </a:xfrm>
          <a:prstGeom prst="ellipse">
            <a:avLst/>
          </a:prstGeom>
          <a:solidFill>
            <a:schemeClr val="accent1"/>
          </a:solidFill>
          <a:ln w="6350">
            <a:solidFill>
              <a:schemeClr val="accent1"/>
            </a:solidFill>
            <a:prstDash val="solid"/>
          </a:ln>
        </p:spPr>
      </p:sp>
      <p:sp>
        <p:nvSpPr>
          <p:cNvPr id="13" name="Text 9"/>
          <p:cNvSpPr txBox="1"/>
          <p:nvPr/>
        </p:nvSpPr>
        <p:spPr>
          <a:xfrm>
            <a:off x="6583680" y="1554480"/>
            <a:ext cx="457200" cy="457200"/>
          </a:xfrm>
          <a:prstGeom prst="rect">
            <a:avLst/>
          </a:prstGeom>
          <a:noFill/>
          <a:ln/>
        </p:spPr>
        <p:txBody>
          <a:bodyPr wrap="square" lIns="0" tIns="0" rIns="0" bIns="0" rtlCol="0" anchor="ctr"/>
          <a:lstStyle/>
          <a:p>
            <a:pPr algn="ctr" indent="0" marL="0">
              <a:buNone/>
            </a:pPr>
            <a:r>
              <a:rPr lang="en-US" sz="1800" b="1" dirty="0">
                <a:solidFill>
                  <a:srgbClr val="14131C"/>
                </a:solidFill>
                <a:latin typeface="Cambria" pitchFamily="34" charset="0"/>
                <a:ea typeface="Cambria" pitchFamily="34" charset="-122"/>
                <a:cs typeface="Cambria" pitchFamily="34" charset="-120"/>
              </a:rPr>
              <a:t>2</a:t>
            </a:r>
            <a:endParaRPr lang="en-US" sz="1800" dirty="0"/>
          </a:p>
        </p:txBody>
      </p:sp>
      <p:sp>
        <p:nvSpPr>
          <p:cNvPr id="14" name="Text 10"/>
          <p:cNvSpPr txBox="1"/>
          <p:nvPr/>
        </p:nvSpPr>
        <p:spPr>
          <a:xfrm>
            <a:off x="6583680" y="2148840"/>
            <a:ext cx="1371600"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Decline</a:t>
            </a:r>
            <a:endParaRPr lang="en-US" sz="2400" dirty="0"/>
          </a:p>
        </p:txBody>
      </p:sp>
      <p:sp>
        <p:nvSpPr>
          <p:cNvPr id="15" name="Text 11"/>
          <p:cNvSpPr txBox="1"/>
          <p:nvPr/>
        </p:nvSpPr>
        <p:spPr>
          <a:xfrm>
            <a:off x="6583680" y="2651760"/>
            <a:ext cx="1325880" cy="1188720"/>
          </a:xfrm>
          <a:prstGeom prst="rect">
            <a:avLst/>
          </a:prstGeom>
          <a:noFill/>
          <a:ln/>
        </p:spPr>
        <p:txBody>
          <a:bodyPr wrap="square" lIns="0" tIns="0" rIns="0" bIns="0" rtlCol="0" anchor="t"/>
          <a:lstStyle/>
          <a:p>
            <a:pPr indent="0" marL="0">
              <a:buNone/>
            </a:pPr>
            <a:r>
              <a:rPr lang="en-US" sz="1400" i="1" dirty="0">
                <a:solidFill>
                  <a:schemeClr val="tx2"/>
                </a:solidFill>
              </a:rPr>
              <a:t>The Renaissance looks back to Rome</a:t>
            </a:r>
            <a:endParaRPr lang="en-US" sz="1400" dirty="0"/>
          </a:p>
        </p:txBody>
      </p:sp>
      <p:sp>
        <p:nvSpPr>
          <p:cNvPr id="16" name="Hairline"/>
          <p:cNvSpPr/>
          <p:nvPr/>
        </p:nvSpPr>
        <p:spPr>
          <a:xfrm>
            <a:off x="4389120" y="4389120"/>
            <a:ext cx="3474720" cy="0"/>
          </a:xfrm>
          <a:prstGeom prst="line">
            <a:avLst/>
          </a:prstGeom>
          <a:noFill/>
          <a:ln w="9525">
            <a:solidFill>
              <a:srgbClr val="CFCABD"/>
            </a:solidFill>
            <a:prstDash val="solid"/>
          </a:ln>
        </p:spPr>
      </p:sp>
      <p:sp>
        <p:nvSpPr>
          <p:cNvPr id="17" name="Text 13"/>
          <p:cNvSpPr txBox="1"/>
          <p:nvPr/>
        </p:nvSpPr>
        <p:spPr>
          <a:xfrm>
            <a:off x="4389120" y="4526280"/>
            <a:ext cx="3474720"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Columns, domes and symmetry return</a:t>
            </a:r>
            <a:endParaRPr lang="en-US" sz="1500" dirty="0"/>
          </a:p>
          <a:p>
            <a:pPr marL="342900" indent="-342900">
              <a:spcAft>
                <a:spcPts val="600"/>
              </a:spcAft>
              <a:buSzPct val="100000"/>
              <a:buChar char="•"/>
            </a:pPr>
            <a:r>
              <a:rPr lang="en-US" sz="1500" dirty="0">
                <a:solidFill>
                  <a:schemeClr val="tx1"/>
                </a:solidFill>
              </a:rPr>
              <a:t>Vasari calls the old style “Gothic”: barbarian, like the Goths</a:t>
            </a:r>
            <a:endParaRPr lang="en-US" sz="1500" dirty="0"/>
          </a:p>
          <a:p>
            <a:pPr marL="342900" indent="-342900">
              <a:spcAft>
                <a:spcPts val="600"/>
              </a:spcAft>
              <a:buSzPct val="100000"/>
              <a:buChar char="•"/>
            </a:pPr>
            <a:r>
              <a:rPr lang="en-US" sz="1500" dirty="0">
                <a:solidFill>
                  <a:schemeClr val="tx1"/>
                </a:solidFill>
              </a:rPr>
              <a:t>The name began as an insult</a:t>
            </a:r>
            <a:endParaRPr lang="en-US" sz="1500" dirty="0"/>
          </a:p>
        </p:txBody>
      </p:sp>
      <p:pic>
        <p:nvPicPr>
          <p:cNvPr id="18" name="Image 2" descr="Rebirth">    </p:cNvPr>
          <p:cNvPicPr>
            <a:picLocks noChangeAspect="1"/>
          </p:cNvPicPr>
          <p:nvPr/>
        </p:nvPicPr>
        <p:blipFill>
          <a:blip r:embed="rId3"/>
          <a:stretch>
            <a:fillRect/>
          </a:stretch>
        </p:blipFill>
        <p:spPr>
          <a:xfrm>
            <a:off x="8138160" y="1463040"/>
            <a:ext cx="1965960" cy="2703195"/>
          </a:xfrm>
          <a:prstGeom prst="rect">
            <a:avLst/>
          </a:prstGeom>
        </p:spPr>
      </p:pic>
      <p:sp>
        <p:nvSpPr>
          <p:cNvPr id="19" name="Number 3"/>
          <p:cNvSpPr/>
          <p:nvPr/>
        </p:nvSpPr>
        <p:spPr>
          <a:xfrm>
            <a:off x="10332720" y="1554480"/>
            <a:ext cx="457200" cy="457200"/>
          </a:xfrm>
          <a:prstGeom prst="ellipse">
            <a:avLst/>
          </a:prstGeom>
          <a:solidFill>
            <a:schemeClr val="accent1"/>
          </a:solidFill>
          <a:ln w="6350">
            <a:solidFill>
              <a:schemeClr val="accent1"/>
            </a:solidFill>
            <a:prstDash val="solid"/>
          </a:ln>
        </p:spPr>
      </p:sp>
      <p:sp>
        <p:nvSpPr>
          <p:cNvPr id="20" name="Text 15"/>
          <p:cNvSpPr txBox="1"/>
          <p:nvPr/>
        </p:nvSpPr>
        <p:spPr>
          <a:xfrm>
            <a:off x="10332720" y="1554480"/>
            <a:ext cx="457200" cy="457200"/>
          </a:xfrm>
          <a:prstGeom prst="rect">
            <a:avLst/>
          </a:prstGeom>
          <a:noFill/>
          <a:ln/>
        </p:spPr>
        <p:txBody>
          <a:bodyPr wrap="square" lIns="0" tIns="0" rIns="0" bIns="0" rtlCol="0" anchor="ctr"/>
          <a:lstStyle/>
          <a:p>
            <a:pPr algn="ctr" indent="0" marL="0">
              <a:buNone/>
            </a:pPr>
            <a:r>
              <a:rPr lang="en-US" sz="1800" b="1" dirty="0">
                <a:solidFill>
                  <a:srgbClr val="14131C"/>
                </a:solidFill>
                <a:latin typeface="Cambria" pitchFamily="34" charset="0"/>
                <a:ea typeface="Cambria" pitchFamily="34" charset="-122"/>
                <a:cs typeface="Cambria" pitchFamily="34" charset="-120"/>
              </a:rPr>
              <a:t>3</a:t>
            </a:r>
            <a:endParaRPr lang="en-US" sz="1800" dirty="0"/>
          </a:p>
        </p:txBody>
      </p:sp>
      <p:sp>
        <p:nvSpPr>
          <p:cNvPr id="21" name="Text 16"/>
          <p:cNvSpPr txBox="1"/>
          <p:nvPr/>
        </p:nvSpPr>
        <p:spPr>
          <a:xfrm>
            <a:off x="10332720" y="2148840"/>
            <a:ext cx="1371600"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Rebirth</a:t>
            </a:r>
            <a:endParaRPr lang="en-US" sz="2400" dirty="0"/>
          </a:p>
        </p:txBody>
      </p:sp>
      <p:sp>
        <p:nvSpPr>
          <p:cNvPr id="22" name="Text 17"/>
          <p:cNvSpPr txBox="1"/>
          <p:nvPr/>
        </p:nvSpPr>
        <p:spPr>
          <a:xfrm>
            <a:off x="10332720" y="2651760"/>
            <a:ext cx="1325880" cy="1188720"/>
          </a:xfrm>
          <a:prstGeom prst="rect">
            <a:avLst/>
          </a:prstGeom>
          <a:noFill/>
          <a:ln/>
        </p:spPr>
        <p:txBody>
          <a:bodyPr wrap="square" lIns="0" tIns="0" rIns="0" bIns="0" rtlCol="0" anchor="t"/>
          <a:lstStyle/>
          <a:p>
            <a:pPr indent="0" marL="0">
              <a:buNone/>
            </a:pPr>
            <a:r>
              <a:rPr lang="en-US" sz="1400" i="1" dirty="0">
                <a:solidFill>
                  <a:schemeClr val="tx2"/>
                </a:solidFill>
              </a:rPr>
              <a:t>Romantic love for the Middle Ages</a:t>
            </a:r>
            <a:endParaRPr lang="en-US" sz="1400" dirty="0"/>
          </a:p>
        </p:txBody>
      </p:sp>
      <p:sp>
        <p:nvSpPr>
          <p:cNvPr id="23" name="Hairline"/>
          <p:cNvSpPr/>
          <p:nvPr/>
        </p:nvSpPr>
        <p:spPr>
          <a:xfrm>
            <a:off x="8138160" y="4389120"/>
            <a:ext cx="3474720" cy="0"/>
          </a:xfrm>
          <a:prstGeom prst="line">
            <a:avLst/>
          </a:prstGeom>
          <a:noFill/>
          <a:ln w="9525">
            <a:solidFill>
              <a:srgbClr val="CFCABD"/>
            </a:solidFill>
            <a:prstDash val="solid"/>
          </a:ln>
        </p:spPr>
      </p:sp>
      <p:sp>
        <p:nvSpPr>
          <p:cNvPr id="24" name="Text 19"/>
          <p:cNvSpPr txBox="1"/>
          <p:nvPr/>
        </p:nvSpPr>
        <p:spPr>
          <a:xfrm>
            <a:off x="8138160" y="4526280"/>
            <a:ext cx="3474720"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Houses of Parliament, London (1840)</a:t>
            </a:r>
            <a:endParaRPr lang="en-US" sz="1500" dirty="0"/>
          </a:p>
          <a:p>
            <a:pPr marL="342900" indent="-342900">
              <a:spcAft>
                <a:spcPts val="600"/>
              </a:spcAft>
              <a:buSzPct val="100000"/>
              <a:buChar char="•"/>
            </a:pPr>
            <a:r>
              <a:rPr lang="en-US" sz="1500" dirty="0">
                <a:solidFill>
                  <a:schemeClr val="tx1"/>
                </a:solidFill>
              </a:rPr>
              <a:t>Viollet-le-Duc restores Notre-Dame</a:t>
            </a:r>
            <a:endParaRPr lang="en-US" sz="1500" dirty="0"/>
          </a:p>
          <a:p>
            <a:pPr marL="342900" indent="-342900">
              <a:spcAft>
                <a:spcPts val="600"/>
              </a:spcAft>
              <a:buSzPct val="100000"/>
              <a:buChar char="•"/>
            </a:pPr>
            <a:r>
              <a:rPr lang="en-US" sz="1500" dirty="0">
                <a:solidFill>
                  <a:schemeClr val="tx1"/>
                </a:solidFill>
              </a:rPr>
              <a:t>Gaudí's Sagrada Família (1882)</a:t>
            </a:r>
            <a:endParaRPr lang="en-US" sz="1500" dirty="0"/>
          </a:p>
          <a:p>
            <a:pPr marL="342900" indent="-342900">
              <a:spcAft>
                <a:spcPts val="600"/>
              </a:spcAft>
              <a:buSzPct val="100000"/>
              <a:buChar char="•"/>
            </a:pPr>
            <a:r>
              <a:rPr lang="en-US" sz="1500" dirty="0">
                <a:solidFill>
                  <a:schemeClr val="tx1"/>
                </a:solidFill>
              </a:rPr>
              <a:t>Notre-Dame: fire 2019, reopened 2024</a:t>
            </a:r>
            <a:endParaRPr lang="en-US" sz="15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877"/>
                </a:solidFill>
              </a:defRPr>
            </a:lvl1pPr>
          </a:lstStyle>
          <a:p>
            <a:pPr algn="r"/>
            <a:fld id="{F7021451-1387-4CA6-816F-3879F97B5CBC}" type="slidenum">
              <a:rPr b="0" lang="en-US"/>
              <a:t>12</a:t>
            </a:fld>
            <a:endParaRPr lang="en-US"/>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731520"/>
            <a:ext cx="6583680" cy="1737360"/>
          </a:xfrm>
          <a:prstGeom prst="rect">
            <a:avLst/>
          </a:prstGeom>
          <a:noFill/>
          <a:ln/>
        </p:spPr>
        <p:txBody>
          <a:bodyPr wrap="square" lIns="0" tIns="0" rIns="0" bIns="0" rtlCol="0" anchor="t"/>
          <a:lstStyle/>
          <a:p>
            <a:pPr algn="l" indent="0" marL="0">
              <a:buNone/>
            </a:pPr>
            <a:r>
              <a:rPr lang="en-US" sz="4400" b="1" dirty="0">
                <a:solidFill>
                  <a:srgbClr val="FFFFFF"/>
                </a:solidFill>
              </a:rPr>
              <a:t>What Gothic teaches an architect</a:t>
            </a:r>
            <a:endParaRPr lang="en-US" sz="4400" dirty="0"/>
          </a:p>
        </p:txBody>
      </p:sp>
      <p:sp>
        <p:nvSpPr>
          <p:cNvPr id="3" name="Number 1"/>
          <p:cNvSpPr/>
          <p:nvPr/>
        </p:nvSpPr>
        <p:spPr>
          <a:xfrm>
            <a:off x="731520" y="2377440"/>
            <a:ext cx="548640" cy="548640"/>
          </a:xfrm>
          <a:prstGeom prst="ellipse">
            <a:avLst/>
          </a:prstGeom>
          <a:solidFill>
            <a:srgbClr val="F0B35A"/>
          </a:solidFill>
          <a:ln w="6350">
            <a:solidFill>
              <a:srgbClr val="F0B35A"/>
            </a:solidFill>
            <a:prstDash val="solid"/>
          </a:ln>
        </p:spPr>
      </p:sp>
      <p:sp>
        <p:nvSpPr>
          <p:cNvPr id="4" name="Text 2"/>
          <p:cNvSpPr txBox="1"/>
          <p:nvPr/>
        </p:nvSpPr>
        <p:spPr>
          <a:xfrm>
            <a:off x="731520" y="2377440"/>
            <a:ext cx="548640" cy="548640"/>
          </a:xfrm>
          <a:prstGeom prst="rect">
            <a:avLst/>
          </a:prstGeom>
          <a:noFill/>
          <a:ln/>
        </p:spPr>
        <p:txBody>
          <a:bodyPr wrap="square" lIns="0" tIns="0" rIns="0" bIns="0" rtlCol="0" anchor="ctr"/>
          <a:lstStyle/>
          <a:p>
            <a:pPr algn="ctr" indent="0" marL="0">
              <a:buNone/>
            </a:pPr>
            <a:r>
              <a:rPr lang="en-US" sz="2200" b="1" dirty="0">
                <a:solidFill>
                  <a:srgbClr val="14131C"/>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508760" y="2331720"/>
            <a:ext cx="5394960" cy="411480"/>
          </a:xfrm>
          <a:prstGeom prst="rect">
            <a:avLst/>
          </a:prstGeom>
          <a:noFill/>
          <a:ln/>
        </p:spPr>
        <p:txBody>
          <a:bodyPr wrap="square" lIns="0" tIns="0" rIns="0" bIns="0" rtlCol="0" anchor="t"/>
          <a:lstStyle/>
          <a:p>
            <a:pPr indent="0" marL="0">
              <a:buNone/>
            </a:pPr>
            <a:r>
              <a:rPr lang="en-US" sz="2200" b="1" dirty="0">
                <a:solidFill>
                  <a:srgbClr val="F0B35A"/>
                </a:solidFill>
                <a:latin typeface="Cambria" pitchFamily="34" charset="0"/>
                <a:ea typeface="Cambria" pitchFamily="34" charset="-122"/>
                <a:cs typeface="Cambria" pitchFamily="34" charset="-120"/>
              </a:rPr>
              <a:t>Structure can be beauty</a:t>
            </a:r>
            <a:endParaRPr lang="en-US" sz="2200" dirty="0"/>
          </a:p>
        </p:txBody>
      </p:sp>
      <p:sp>
        <p:nvSpPr>
          <p:cNvPr id="6" name="Text 4"/>
          <p:cNvSpPr txBox="1"/>
          <p:nvPr/>
        </p:nvSpPr>
        <p:spPr>
          <a:xfrm>
            <a:off x="1508760" y="2743200"/>
            <a:ext cx="5394960" cy="457200"/>
          </a:xfrm>
          <a:prstGeom prst="rect">
            <a:avLst/>
          </a:prstGeom>
          <a:noFill/>
          <a:ln/>
        </p:spPr>
        <p:txBody>
          <a:bodyPr wrap="square" lIns="0" tIns="0" rIns="0" bIns="0" rtlCol="0" anchor="t"/>
          <a:lstStyle/>
          <a:p>
            <a:pPr indent="0" marL="0">
              <a:buNone/>
            </a:pPr>
            <a:r>
              <a:rPr lang="en-US" sz="1500" dirty="0">
                <a:solidFill>
                  <a:srgbClr val="FFFFFF"/>
                </a:solidFill>
              </a:rPr>
              <a:t>The skeleton is the design. A frame with a glass skin is the ancestor of the skyscraper.</a:t>
            </a:r>
            <a:endParaRPr lang="en-US" sz="1500" dirty="0"/>
          </a:p>
        </p:txBody>
      </p:sp>
      <p:sp>
        <p:nvSpPr>
          <p:cNvPr id="7" name="Number 2"/>
          <p:cNvSpPr/>
          <p:nvPr/>
        </p:nvSpPr>
        <p:spPr>
          <a:xfrm>
            <a:off x="731520" y="3291840"/>
            <a:ext cx="548640" cy="548640"/>
          </a:xfrm>
          <a:prstGeom prst="ellipse">
            <a:avLst/>
          </a:prstGeom>
          <a:solidFill>
            <a:srgbClr val="F0B35A"/>
          </a:solidFill>
          <a:ln w="6350">
            <a:solidFill>
              <a:srgbClr val="F0B35A"/>
            </a:solidFill>
            <a:prstDash val="solid"/>
          </a:ln>
        </p:spPr>
      </p:sp>
      <p:sp>
        <p:nvSpPr>
          <p:cNvPr id="8" name="Text 6"/>
          <p:cNvSpPr txBox="1"/>
          <p:nvPr/>
        </p:nvSpPr>
        <p:spPr>
          <a:xfrm>
            <a:off x="731520" y="3291840"/>
            <a:ext cx="548640" cy="548640"/>
          </a:xfrm>
          <a:prstGeom prst="rect">
            <a:avLst/>
          </a:prstGeom>
          <a:noFill/>
          <a:ln/>
        </p:spPr>
        <p:txBody>
          <a:bodyPr wrap="square" lIns="0" tIns="0" rIns="0" bIns="0" rtlCol="0" anchor="ctr"/>
          <a:lstStyle/>
          <a:p>
            <a:pPr algn="ctr" indent="0" marL="0">
              <a:buNone/>
            </a:pPr>
            <a:r>
              <a:rPr lang="en-US" sz="2200" b="1" dirty="0">
                <a:solidFill>
                  <a:srgbClr val="14131C"/>
                </a:solidFill>
                <a:latin typeface="Cambria" pitchFamily="34" charset="0"/>
                <a:ea typeface="Cambria" pitchFamily="34" charset="-122"/>
                <a:cs typeface="Cambria" pitchFamily="34" charset="-120"/>
              </a:rPr>
              <a:t>2</a:t>
            </a:r>
            <a:endParaRPr lang="en-US" sz="2200" dirty="0"/>
          </a:p>
        </p:txBody>
      </p:sp>
      <p:sp>
        <p:nvSpPr>
          <p:cNvPr id="9" name="Text 7"/>
          <p:cNvSpPr txBox="1"/>
          <p:nvPr/>
        </p:nvSpPr>
        <p:spPr>
          <a:xfrm>
            <a:off x="1508760" y="3246120"/>
            <a:ext cx="5394960" cy="411480"/>
          </a:xfrm>
          <a:prstGeom prst="rect">
            <a:avLst/>
          </a:prstGeom>
          <a:noFill/>
          <a:ln/>
        </p:spPr>
        <p:txBody>
          <a:bodyPr wrap="square" lIns="0" tIns="0" rIns="0" bIns="0" rtlCol="0" anchor="t"/>
          <a:lstStyle/>
          <a:p>
            <a:pPr indent="0" marL="0">
              <a:buNone/>
            </a:pPr>
            <a:r>
              <a:rPr lang="en-US" sz="2200" b="1" dirty="0">
                <a:solidFill>
                  <a:srgbClr val="F0B35A"/>
                </a:solidFill>
                <a:latin typeface="Cambria" pitchFamily="34" charset="0"/>
                <a:ea typeface="Cambria" pitchFamily="34" charset="-122"/>
                <a:cs typeface="Cambria" pitchFamily="34" charset="-120"/>
              </a:rPr>
              <a:t>Light is a material</a:t>
            </a:r>
            <a:endParaRPr lang="en-US" sz="2200" dirty="0"/>
          </a:p>
        </p:txBody>
      </p:sp>
      <p:sp>
        <p:nvSpPr>
          <p:cNvPr id="10" name="Text 8"/>
          <p:cNvSpPr txBox="1"/>
          <p:nvPr/>
        </p:nvSpPr>
        <p:spPr>
          <a:xfrm>
            <a:off x="1508760" y="3657600"/>
            <a:ext cx="5394960" cy="457200"/>
          </a:xfrm>
          <a:prstGeom prst="rect">
            <a:avLst/>
          </a:prstGeom>
          <a:noFill/>
          <a:ln/>
        </p:spPr>
        <p:txBody>
          <a:bodyPr wrap="square" lIns="0" tIns="0" rIns="0" bIns="0" rtlCol="0" anchor="t"/>
          <a:lstStyle/>
          <a:p>
            <a:pPr indent="0" marL="0">
              <a:buNone/>
            </a:pPr>
            <a:r>
              <a:rPr lang="en-US" sz="1500" dirty="0">
                <a:solidFill>
                  <a:srgbClr val="FFFFFF"/>
                </a:solidFill>
              </a:rPr>
              <a:t>Shape it, colour it, and the room changes with the hour.</a:t>
            </a:r>
            <a:endParaRPr lang="en-US" sz="1500" dirty="0"/>
          </a:p>
        </p:txBody>
      </p:sp>
      <p:sp>
        <p:nvSpPr>
          <p:cNvPr id="11" name="Number 3"/>
          <p:cNvSpPr/>
          <p:nvPr/>
        </p:nvSpPr>
        <p:spPr>
          <a:xfrm>
            <a:off x="731520" y="4206240"/>
            <a:ext cx="548640" cy="548640"/>
          </a:xfrm>
          <a:prstGeom prst="ellipse">
            <a:avLst/>
          </a:prstGeom>
          <a:solidFill>
            <a:srgbClr val="F0B35A"/>
          </a:solidFill>
          <a:ln w="6350">
            <a:solidFill>
              <a:srgbClr val="F0B35A"/>
            </a:solidFill>
            <a:prstDash val="solid"/>
          </a:ln>
        </p:spPr>
      </p:sp>
      <p:sp>
        <p:nvSpPr>
          <p:cNvPr id="12" name="Text 10"/>
          <p:cNvSpPr txBox="1"/>
          <p:nvPr/>
        </p:nvSpPr>
        <p:spPr>
          <a:xfrm>
            <a:off x="731520" y="4206240"/>
            <a:ext cx="548640" cy="548640"/>
          </a:xfrm>
          <a:prstGeom prst="rect">
            <a:avLst/>
          </a:prstGeom>
          <a:noFill/>
          <a:ln/>
        </p:spPr>
        <p:txBody>
          <a:bodyPr wrap="square" lIns="0" tIns="0" rIns="0" bIns="0" rtlCol="0" anchor="ctr"/>
          <a:lstStyle/>
          <a:p>
            <a:pPr algn="ctr" indent="0" marL="0">
              <a:buNone/>
            </a:pPr>
            <a:r>
              <a:rPr lang="en-US" sz="2200" b="1" dirty="0">
                <a:solidFill>
                  <a:srgbClr val="14131C"/>
                </a:solidFill>
                <a:latin typeface="Cambria" pitchFamily="34" charset="0"/>
                <a:ea typeface="Cambria" pitchFamily="34" charset="-122"/>
                <a:cs typeface="Cambria" pitchFamily="34" charset="-120"/>
              </a:rPr>
              <a:t>3</a:t>
            </a:r>
            <a:endParaRPr lang="en-US" sz="2200" dirty="0"/>
          </a:p>
        </p:txBody>
      </p:sp>
      <p:sp>
        <p:nvSpPr>
          <p:cNvPr id="13" name="Text 11"/>
          <p:cNvSpPr txBox="1"/>
          <p:nvPr/>
        </p:nvSpPr>
        <p:spPr>
          <a:xfrm>
            <a:off x="1508760" y="4160520"/>
            <a:ext cx="5394960" cy="411480"/>
          </a:xfrm>
          <a:prstGeom prst="rect">
            <a:avLst/>
          </a:prstGeom>
          <a:noFill/>
          <a:ln/>
        </p:spPr>
        <p:txBody>
          <a:bodyPr wrap="square" lIns="0" tIns="0" rIns="0" bIns="0" rtlCol="0" anchor="t"/>
          <a:lstStyle/>
          <a:p>
            <a:pPr indent="0" marL="0">
              <a:buNone/>
            </a:pPr>
            <a:r>
              <a:rPr lang="en-US" sz="2200" b="1" dirty="0">
                <a:solidFill>
                  <a:srgbClr val="F0B35A"/>
                </a:solidFill>
                <a:latin typeface="Cambria" pitchFamily="34" charset="0"/>
                <a:ea typeface="Cambria" pitchFamily="34" charset="-122"/>
                <a:cs typeface="Cambria" pitchFamily="34" charset="-120"/>
              </a:rPr>
              <a:t>Big ideas take generations</a:t>
            </a:r>
            <a:endParaRPr lang="en-US" sz="2200" dirty="0"/>
          </a:p>
        </p:txBody>
      </p:sp>
      <p:sp>
        <p:nvSpPr>
          <p:cNvPr id="14" name="Text 12"/>
          <p:cNvSpPr txBox="1"/>
          <p:nvPr/>
        </p:nvSpPr>
        <p:spPr>
          <a:xfrm>
            <a:off x="1508760" y="4572000"/>
            <a:ext cx="5394960" cy="457200"/>
          </a:xfrm>
          <a:prstGeom prst="rect">
            <a:avLst/>
          </a:prstGeom>
          <a:noFill/>
          <a:ln/>
        </p:spPr>
        <p:txBody>
          <a:bodyPr wrap="square" lIns="0" tIns="0" rIns="0" bIns="0" rtlCol="0" anchor="t"/>
          <a:lstStyle/>
          <a:p>
            <a:pPr indent="0" marL="0">
              <a:buNone/>
            </a:pPr>
            <a:r>
              <a:rPr lang="en-US" sz="1500" dirty="0">
                <a:solidFill>
                  <a:srgbClr val="FFFFFF"/>
                </a:solidFill>
              </a:rPr>
              <a:t>Hundreds of hands and one shared dream.</a:t>
            </a:r>
            <a:endParaRPr lang="en-US" sz="1500" dirty="0"/>
          </a:p>
        </p:txBody>
      </p:sp>
      <p:sp>
        <p:nvSpPr>
          <p:cNvPr id="15" name="Text 13"/>
          <p:cNvSpPr txBox="1"/>
          <p:nvPr/>
        </p:nvSpPr>
        <p:spPr>
          <a:xfrm>
            <a:off x="731520" y="5166360"/>
            <a:ext cx="6400800" cy="54864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Thank you. Questions?</a:t>
            </a:r>
            <a:endParaRPr lang="en-US" sz="3200" dirty="0"/>
          </a:p>
        </p:txBody>
      </p:sp>
    </p:spTree>
  </p:cSld>
  <p:clrMapOvr>
    <a:masterClrMapping/>
  </p:clrMapOvr>
  <p:transition spd="med">
    <p:fade thruBlk="1"/>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347472"/>
            <a:ext cx="7315200" cy="274320"/>
          </a:xfrm>
          <a:prstGeom prst="rect">
            <a:avLst/>
          </a:prstGeom>
          <a:noFill/>
          <a:ln/>
        </p:spPr>
        <p:txBody>
          <a:bodyPr wrap="square" lIns="0" tIns="0" rIns="0" bIns="0" rtlCol="0" anchor="t"/>
          <a:lstStyle/>
          <a:p>
            <a:pPr indent="0" marL="0">
              <a:buNone/>
            </a:pPr>
            <a:r>
              <a:rPr lang="en-US" sz="1200" b="1" spc="400" kern="0" dirty="0">
                <a:solidFill>
                  <a:schemeClr val="accent2"/>
                </a:solidFill>
              </a:rPr>
              <a:t>REFERENCES</a:t>
            </a:r>
            <a:endParaRPr lang="en-US" sz="1200" dirty="0"/>
          </a:p>
        </p:txBody>
      </p:sp>
      <p:sp>
        <p:nvSpPr>
          <p:cNvPr id="3" name="Text 0"/>
          <p:cNvSpPr/>
          <p:nvPr>
            <p:ph idx="100" type="title" hasCustomPrompt="1"/>
          </p:nvPr>
        </p:nvSpPr>
        <p:spPr>
          <a:xfrm>
            <a:off x="640080" y="621792"/>
            <a:ext cx="10881360" cy="731520"/>
          </a:xfrm>
          <a:prstGeom prst="rect">
            <a:avLst/>
          </a:prstGeom>
          <a:noFill/>
          <a:ln/>
        </p:spPr>
        <p:txBody>
          <a:bodyPr wrap="square" lIns="0" tIns="0" rIns="0" bIns="0" rtlCol="0" anchor="ctr"/>
          <a:lstStyle/>
          <a:p>
            <a:pPr algn="l" indent="0" marL="0">
              <a:buNone/>
            </a:pPr>
            <a:r>
              <a:rPr lang="en-US" sz="3400" b="1" dirty="0">
                <a:solidFill>
                  <a:schemeClr val="tx1"/>
                </a:solidFill>
              </a:rPr>
              <a:t>Sources and further reading</a:t>
            </a:r>
            <a:endParaRPr lang="en-US" sz="3400" dirty="0"/>
          </a:p>
        </p:txBody>
      </p:sp>
      <p:sp>
        <p:nvSpPr>
          <p:cNvPr id="4" name="Hairline"/>
          <p:cNvSpPr/>
          <p:nvPr/>
        </p:nvSpPr>
        <p:spPr>
          <a:xfrm>
            <a:off x="640080" y="1554480"/>
            <a:ext cx="10881360" cy="0"/>
          </a:xfrm>
          <a:prstGeom prst="line">
            <a:avLst/>
          </a:prstGeom>
          <a:noFill/>
          <a:ln w="9525">
            <a:solidFill>
              <a:srgbClr val="1B1A24"/>
            </a:solidFill>
            <a:prstDash val="solid"/>
          </a:ln>
        </p:spPr>
      </p:sp>
      <p:sp>
        <p:nvSpPr>
          <p:cNvPr id="5" name="Text 3"/>
          <p:cNvSpPr txBox="1"/>
          <p:nvPr/>
        </p:nvSpPr>
        <p:spPr>
          <a:xfrm>
            <a:off x="640080" y="1645920"/>
            <a:ext cx="2560320" cy="640080"/>
          </a:xfrm>
          <a:prstGeom prst="rect">
            <a:avLst/>
          </a:prstGeom>
          <a:noFill/>
          <a:ln/>
        </p:spPr>
        <p:txBody>
          <a:bodyPr wrap="square" lIns="0" tIns="0" rIns="0" bIns="0" rtlCol="0" anchor="ctr"/>
          <a:lstStyle/>
          <a:p>
            <a:pPr indent="0" marL="0">
              <a:buNone/>
            </a:pPr>
            <a:r>
              <a:rPr lang="en-US" sz="1600" b="1" dirty="0">
                <a:solidFill>
                  <a:schemeClr val="accent2"/>
                </a:solidFill>
              </a:rPr>
              <a:t>Otto von Simson</a:t>
            </a:r>
            <a:endParaRPr lang="en-US" sz="1600" dirty="0"/>
          </a:p>
        </p:txBody>
      </p:sp>
      <p:sp>
        <p:nvSpPr>
          <p:cNvPr id="6" name="Text 4"/>
          <p:cNvSpPr txBox="1"/>
          <p:nvPr/>
        </p:nvSpPr>
        <p:spPr>
          <a:xfrm>
            <a:off x="3383280" y="1645920"/>
            <a:ext cx="8138160" cy="640080"/>
          </a:xfrm>
          <a:prstGeom prst="rect">
            <a:avLst/>
          </a:prstGeom>
          <a:noFill/>
          <a:ln/>
        </p:spPr>
        <p:txBody>
          <a:bodyPr wrap="square" lIns="0" tIns="0" rIns="0" bIns="0" rtlCol="0" anchor="ctr"/>
          <a:lstStyle/>
          <a:p>
            <a:pPr indent="0" marL="0">
              <a:buNone/>
            </a:pPr>
            <a:r>
              <a:rPr lang="en-US" sz="1500" dirty="0">
                <a:solidFill>
                  <a:schemeClr val="tx1"/>
                </a:solidFill>
              </a:rPr>
              <a:t>The Gothic Cathedral: Origins of Gothic Architecture and the Medieval Concept of Order (1956)</a:t>
            </a:r>
            <a:endParaRPr lang="en-US" sz="1500" dirty="0"/>
          </a:p>
        </p:txBody>
      </p:sp>
      <p:sp>
        <p:nvSpPr>
          <p:cNvPr id="7" name="Hairline"/>
          <p:cNvSpPr/>
          <p:nvPr/>
        </p:nvSpPr>
        <p:spPr>
          <a:xfrm>
            <a:off x="640080" y="2423160"/>
            <a:ext cx="10881360" cy="0"/>
          </a:xfrm>
          <a:prstGeom prst="line">
            <a:avLst/>
          </a:prstGeom>
          <a:noFill/>
          <a:ln w="9525">
            <a:solidFill>
              <a:srgbClr val="1B1A24"/>
            </a:solidFill>
            <a:prstDash val="solid"/>
          </a:ln>
        </p:spPr>
      </p:sp>
      <p:sp>
        <p:nvSpPr>
          <p:cNvPr id="8" name="Text 6"/>
          <p:cNvSpPr txBox="1"/>
          <p:nvPr/>
        </p:nvSpPr>
        <p:spPr>
          <a:xfrm>
            <a:off x="640080" y="2514600"/>
            <a:ext cx="2560320" cy="640080"/>
          </a:xfrm>
          <a:prstGeom prst="rect">
            <a:avLst/>
          </a:prstGeom>
          <a:noFill/>
          <a:ln/>
        </p:spPr>
        <p:txBody>
          <a:bodyPr wrap="square" lIns="0" tIns="0" rIns="0" bIns="0" rtlCol="0" anchor="ctr"/>
          <a:lstStyle/>
          <a:p>
            <a:pPr indent="0" marL="0">
              <a:buNone/>
            </a:pPr>
            <a:r>
              <a:rPr lang="en-US" sz="1600" b="1" dirty="0">
                <a:solidFill>
                  <a:schemeClr val="accent2"/>
                </a:solidFill>
              </a:rPr>
              <a:t>Erwin Panofsky</a:t>
            </a:r>
            <a:endParaRPr lang="en-US" sz="1600" dirty="0"/>
          </a:p>
        </p:txBody>
      </p:sp>
      <p:sp>
        <p:nvSpPr>
          <p:cNvPr id="9" name="Text 7"/>
          <p:cNvSpPr txBox="1"/>
          <p:nvPr/>
        </p:nvSpPr>
        <p:spPr>
          <a:xfrm>
            <a:off x="3383280" y="2514600"/>
            <a:ext cx="8138160" cy="640080"/>
          </a:xfrm>
          <a:prstGeom prst="rect">
            <a:avLst/>
          </a:prstGeom>
          <a:noFill/>
          <a:ln/>
        </p:spPr>
        <p:txBody>
          <a:bodyPr wrap="square" lIns="0" tIns="0" rIns="0" bIns="0" rtlCol="0" anchor="ctr"/>
          <a:lstStyle/>
          <a:p>
            <a:pPr indent="0" marL="0">
              <a:buNone/>
            </a:pPr>
            <a:r>
              <a:rPr lang="en-US" sz="1500" dirty="0">
                <a:solidFill>
                  <a:schemeClr val="tx1"/>
                </a:solidFill>
              </a:rPr>
              <a:t>Abbot Suger on the Abbey Church of St.-Denis and Its Art Treasures (1946)</a:t>
            </a:r>
            <a:endParaRPr lang="en-US" sz="1500" dirty="0"/>
          </a:p>
        </p:txBody>
      </p:sp>
      <p:sp>
        <p:nvSpPr>
          <p:cNvPr id="10" name="Hairline"/>
          <p:cNvSpPr/>
          <p:nvPr/>
        </p:nvSpPr>
        <p:spPr>
          <a:xfrm>
            <a:off x="640080" y="3291840"/>
            <a:ext cx="10881360" cy="0"/>
          </a:xfrm>
          <a:prstGeom prst="line">
            <a:avLst/>
          </a:prstGeom>
          <a:noFill/>
          <a:ln w="9525">
            <a:solidFill>
              <a:srgbClr val="1B1A24"/>
            </a:solidFill>
            <a:prstDash val="solid"/>
          </a:ln>
        </p:spPr>
      </p:sp>
      <p:sp>
        <p:nvSpPr>
          <p:cNvPr id="11" name="Text 9"/>
          <p:cNvSpPr txBox="1"/>
          <p:nvPr/>
        </p:nvSpPr>
        <p:spPr>
          <a:xfrm>
            <a:off x="640080" y="3383280"/>
            <a:ext cx="2560320" cy="640080"/>
          </a:xfrm>
          <a:prstGeom prst="rect">
            <a:avLst/>
          </a:prstGeom>
          <a:noFill/>
          <a:ln/>
        </p:spPr>
        <p:txBody>
          <a:bodyPr wrap="square" lIns="0" tIns="0" rIns="0" bIns="0" rtlCol="0" anchor="ctr"/>
          <a:lstStyle/>
          <a:p>
            <a:pPr indent="0" marL="0">
              <a:buNone/>
            </a:pPr>
            <a:r>
              <a:rPr lang="en-US" sz="1600" b="1" dirty="0">
                <a:solidFill>
                  <a:schemeClr val="accent2"/>
                </a:solidFill>
              </a:rPr>
              <a:t>Jean Gimpel</a:t>
            </a:r>
            <a:endParaRPr lang="en-US" sz="1600" dirty="0"/>
          </a:p>
        </p:txBody>
      </p:sp>
      <p:sp>
        <p:nvSpPr>
          <p:cNvPr id="12" name="Text 10"/>
          <p:cNvSpPr txBox="1"/>
          <p:nvPr/>
        </p:nvSpPr>
        <p:spPr>
          <a:xfrm>
            <a:off x="3383280" y="3383280"/>
            <a:ext cx="8138160" cy="640080"/>
          </a:xfrm>
          <a:prstGeom prst="rect">
            <a:avLst/>
          </a:prstGeom>
          <a:noFill/>
          <a:ln/>
        </p:spPr>
        <p:txBody>
          <a:bodyPr wrap="square" lIns="0" tIns="0" rIns="0" bIns="0" rtlCol="0" anchor="ctr"/>
          <a:lstStyle/>
          <a:p>
            <a:pPr indent="0" marL="0">
              <a:buNone/>
            </a:pPr>
            <a:r>
              <a:rPr lang="en-US" sz="1500" dirty="0">
                <a:solidFill>
                  <a:schemeClr val="tx1"/>
                </a:solidFill>
              </a:rPr>
              <a:t>The Cathedral Builders (1958)</a:t>
            </a:r>
            <a:endParaRPr lang="en-US" sz="1500" dirty="0"/>
          </a:p>
        </p:txBody>
      </p:sp>
      <p:sp>
        <p:nvSpPr>
          <p:cNvPr id="13" name="Hairline"/>
          <p:cNvSpPr/>
          <p:nvPr/>
        </p:nvSpPr>
        <p:spPr>
          <a:xfrm>
            <a:off x="640080" y="4160520"/>
            <a:ext cx="10881360" cy="0"/>
          </a:xfrm>
          <a:prstGeom prst="line">
            <a:avLst/>
          </a:prstGeom>
          <a:noFill/>
          <a:ln w="9525">
            <a:solidFill>
              <a:srgbClr val="1B1A24"/>
            </a:solidFill>
            <a:prstDash val="solid"/>
          </a:ln>
        </p:spPr>
      </p:sp>
      <p:sp>
        <p:nvSpPr>
          <p:cNvPr id="14" name="Text 12"/>
          <p:cNvSpPr txBox="1"/>
          <p:nvPr/>
        </p:nvSpPr>
        <p:spPr>
          <a:xfrm>
            <a:off x="640080" y="4251960"/>
            <a:ext cx="2560320" cy="640080"/>
          </a:xfrm>
          <a:prstGeom prst="rect">
            <a:avLst/>
          </a:prstGeom>
          <a:noFill/>
          <a:ln/>
        </p:spPr>
        <p:txBody>
          <a:bodyPr wrap="square" lIns="0" tIns="0" rIns="0" bIns="0" rtlCol="0" anchor="ctr"/>
          <a:lstStyle/>
          <a:p>
            <a:pPr indent="0" marL="0">
              <a:buNone/>
            </a:pPr>
            <a:r>
              <a:rPr lang="en-US" sz="1600" b="1" dirty="0">
                <a:solidFill>
                  <a:schemeClr val="accent2"/>
                </a:solidFill>
              </a:rPr>
              <a:t>Georges Duby</a:t>
            </a:r>
            <a:endParaRPr lang="en-US" sz="1600" dirty="0"/>
          </a:p>
        </p:txBody>
      </p:sp>
      <p:sp>
        <p:nvSpPr>
          <p:cNvPr id="15" name="Text 13"/>
          <p:cNvSpPr txBox="1"/>
          <p:nvPr/>
        </p:nvSpPr>
        <p:spPr>
          <a:xfrm>
            <a:off x="3383280" y="4251960"/>
            <a:ext cx="8138160" cy="640080"/>
          </a:xfrm>
          <a:prstGeom prst="rect">
            <a:avLst/>
          </a:prstGeom>
          <a:noFill/>
          <a:ln/>
        </p:spPr>
        <p:txBody>
          <a:bodyPr wrap="square" lIns="0" tIns="0" rIns="0" bIns="0" rtlCol="0" anchor="ctr"/>
          <a:lstStyle/>
          <a:p>
            <a:pPr indent="0" marL="0">
              <a:buNone/>
            </a:pPr>
            <a:r>
              <a:rPr lang="en-US" sz="1500" dirty="0">
                <a:solidFill>
                  <a:schemeClr val="tx1"/>
                </a:solidFill>
              </a:rPr>
              <a:t>The Age of the Cathedrals: Art and Society, 980–1420 (1976)</a:t>
            </a:r>
            <a:endParaRPr lang="en-US" sz="1500" dirty="0"/>
          </a:p>
        </p:txBody>
      </p:sp>
      <p:sp>
        <p:nvSpPr>
          <p:cNvPr id="16" name="Hairline"/>
          <p:cNvSpPr/>
          <p:nvPr/>
        </p:nvSpPr>
        <p:spPr>
          <a:xfrm>
            <a:off x="640080" y="5029200"/>
            <a:ext cx="10881360" cy="0"/>
          </a:xfrm>
          <a:prstGeom prst="line">
            <a:avLst/>
          </a:prstGeom>
          <a:noFill/>
          <a:ln w="9525">
            <a:solidFill>
              <a:srgbClr val="1B1A24"/>
            </a:solidFill>
            <a:prstDash val="solid"/>
          </a:ln>
        </p:spPr>
      </p:sp>
      <p:sp>
        <p:nvSpPr>
          <p:cNvPr id="17" name="Text 15"/>
          <p:cNvSpPr txBox="1"/>
          <p:nvPr/>
        </p:nvSpPr>
        <p:spPr>
          <a:xfrm>
            <a:off x="640080" y="5120640"/>
            <a:ext cx="2560320" cy="640080"/>
          </a:xfrm>
          <a:prstGeom prst="rect">
            <a:avLst/>
          </a:prstGeom>
          <a:noFill/>
          <a:ln/>
        </p:spPr>
        <p:txBody>
          <a:bodyPr wrap="square" lIns="0" tIns="0" rIns="0" bIns="0" rtlCol="0" anchor="ctr"/>
          <a:lstStyle/>
          <a:p>
            <a:pPr indent="0" marL="0">
              <a:buNone/>
            </a:pPr>
            <a:r>
              <a:rPr lang="en-US" sz="1600" b="1" dirty="0">
                <a:solidFill>
                  <a:schemeClr val="accent2"/>
                </a:solidFill>
              </a:rPr>
              <a:t>Online</a:t>
            </a:r>
            <a:endParaRPr lang="en-US" sz="1600" dirty="0"/>
          </a:p>
        </p:txBody>
      </p:sp>
      <p:sp>
        <p:nvSpPr>
          <p:cNvPr id="18" name="Text 16"/>
          <p:cNvSpPr txBox="1"/>
          <p:nvPr/>
        </p:nvSpPr>
        <p:spPr>
          <a:xfrm>
            <a:off x="3383280" y="5120640"/>
            <a:ext cx="8138160" cy="640080"/>
          </a:xfrm>
          <a:prstGeom prst="rect">
            <a:avLst/>
          </a:prstGeom>
          <a:noFill/>
          <a:ln/>
        </p:spPr>
        <p:txBody>
          <a:bodyPr wrap="square" lIns="0" tIns="0" rIns="0" bIns="0" rtlCol="0" anchor="ctr"/>
          <a:lstStyle/>
          <a:p>
            <a:pPr indent="0" marL="0">
              <a:buNone/>
            </a:pPr>
            <a:r>
              <a:rPr lang="en-US" sz="1500" dirty="0">
                <a:solidFill>
                  <a:schemeClr val="tx1"/>
                </a:solidFill>
              </a:rPr>
              <a:t>Encyclopaedia Britannica and Wikipedia entries on Gothic architecture, Sainte-Chapelle, Beauvais Cathedral, Notre-Dame de Paris</a:t>
            </a:r>
            <a:endParaRPr lang="en-US" sz="1500" dirty="0"/>
          </a:p>
        </p:txBody>
      </p:sp>
      <p:sp>
        <p:nvSpPr>
          <p:cNvPr id="19" name="Text 17"/>
          <p:cNvSpPr txBox="1"/>
          <p:nvPr/>
        </p:nvSpPr>
        <p:spPr>
          <a:xfrm>
            <a:off x="640080" y="5943600"/>
            <a:ext cx="7315200" cy="365760"/>
          </a:xfrm>
          <a:prstGeom prst="rect">
            <a:avLst/>
          </a:prstGeom>
          <a:noFill/>
          <a:ln/>
        </p:spPr>
        <p:txBody>
          <a:bodyPr wrap="square" lIns="0" tIns="0" rIns="0" bIns="0" rtlCol="0" anchor="t"/>
          <a:lstStyle/>
          <a:p>
            <a:pPr indent="0" marL="0">
              <a:buNone/>
            </a:pPr>
            <a:r>
              <a:rPr lang="en-US" sz="1300" i="1" dirty="0">
                <a:solidFill>
                  <a:schemeClr val="tx2"/>
                </a:solidFill>
              </a:rPr>
              <a:t>All illustrations were drawn for this presentation.</a:t>
            </a:r>
            <a:endParaRPr lang="en-US" sz="13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877"/>
                </a:solidFill>
              </a:defRPr>
            </a:lvl1pPr>
          </a:lstStyle>
          <a:p>
            <a:pPr algn="r"/>
            <a:fld id="{F7021451-1387-4CA6-816F-3879F97B5CBC}" type="slidenum">
              <a:rPr b="0" lang="en-US"/>
              <a:t>14</a:t>
            </a:fld>
            <a:endParaRPr lang="en-US"/>
          </a:p>
        </p:txBody>
      </p:sp>
    </p:spTree>
  </p:cSld>
  <p:clrMapOvr>
    <a:masterClrMapping/>
  </p:clrMapOvr>
  <p:transition spd="med">
    <p:fade/>
  </p:transition>
</p:sld>
</file>

<file path=ppt/theme/theme1.xml><?xml version="1.0" encoding="utf-8"?>
<a:theme xmlns:a="http://schemas.openxmlformats.org/drawingml/2006/main" name="Gothic Limestone">
  <a:themeElements>
    <a:clrScheme name="Gothic Limestone">
      <a:dk1>
        <a:srgbClr val="1B1A24"/>
      </a:dk1>
      <a:lt1>
        <a:srgbClr val="F2F0EB"/>
      </a:lt1>
      <a:dk2>
        <a:srgbClr val="5F5B6B"/>
      </a:dk2>
      <a:lt2>
        <a:srgbClr val="E5E1D8"/>
      </a:lt2>
      <a:accent1>
        <a:srgbClr val="B8862B"/>
      </a:accent1>
      <a:accent2>
        <a:srgbClr val="8E2236"/>
      </a:accent2>
      <a:accent3>
        <a:srgbClr val="2F5597"/>
      </a:accent3>
      <a:accent4>
        <a:srgbClr val="2A7F6B"/>
      </a:accent4>
      <a:accent5>
        <a:srgbClr val="C46A1E"/>
      </a:accent5>
      <a:accent6>
        <a:srgbClr val="6B4A9E"/>
      </a:accent6>
      <a:hlink>
        <a:srgbClr val="8E2236"/>
      </a:hlink>
      <a:folHlink>
        <a:srgbClr val="5F5B6B"/>
      </a:folHlink>
    </a:clrScheme>
    <a:fontScheme name="Gothic Limesto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Gothic Architecture</dc:title>
  <dc:subject>First-year architecture presentation</dc:subject>
  <dc:creator>PptxGenJS</dc:creator>
  <cp:lastModifiedBy>PptxGenJS</cp:lastModifiedBy>
  <cp:revision>1</cp:revision>
  <dcterms:created xsi:type="dcterms:W3CDTF">2026-10-28T06:17:16Z</dcterms:created>
  <dcterms:modified xsi:type="dcterms:W3CDTF">2026-10-28T06:17:16Z</dcterms:modified>
</cp:coreProperties>
</file>