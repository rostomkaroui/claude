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00de148-e807-aee2-cff0-f02b1d22beb1}">
          <p14:sldIdLst>
            <p14:sldId id="256"/>
            <p14:sldId id="257"/>
          </p14:sldIdLst>
        </p14:section>
        <p14:section name="Origins" id="{e0bb5ebb-c99f-b9b3-5704-550c8eb9ff64}">
          <p14:sldIdLst>
            <p14:sldId id="258"/>
            <p14:sldId id="259"/>
          </p14:sldIdLst>
        </p14:section>
        <p14:section name="Structure" id="{0e90a9ee-a28c-63d1-ee14-9d89a747412a}">
          <p14:sldIdLst>
            <p14:sldId id="260"/>
            <p14:sldId id="261"/>
            <p14:sldId id="262"/>
          </p14:sldIdLst>
        </p14:section>
        <p14:section name="Space and making" id="{d98e1d97-c391-229f-7fc1-666f552edd49}">
          <p14:sldIdLst>
            <p14:sldId id="263"/>
            <p14:sldId id="264"/>
            <p14:sldId id="265"/>
          </p14:sldIdLst>
        </p14:section>
        <p14:section name="Legacy" id="{3c54a5cc-aaf0-dd40-c4a1-51f9f4ae8438}">
          <p14:sldIdLst>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B9B3C8"/>
                </a:solidFill>
                <a:latin typeface="+mn-lt"/>
              </a:defRPr>
            </a:pPr>
            <a:r>
              <a:rPr sz="1400" b="0" i="0" u="none" strike="noStrike">
                <a:solidFill>
                  <a:srgbClr val="B9B3C8"/>
                </a:solidFill>
                <a:latin typeface="+mn-lt"/>
              </a:rPr>
              <a:t>Height of the main vault above the floor</a:t>
            </a:r>
          </a:p>
        </c:rich>
      </c:tx>
      <c:layout/>
      <c:overlay val="0"/>
    </c:title>
    <c:autoTitleDeleted val="0"/>
    <c:plotArea>
      <c:layout/>
      <c:barChart>
        <c:barDir val="col"/>
        <c:grouping val="clustered"/>
        <c:varyColors val="0"/>
        <c:ser>
          <c:idx val="0"/>
          <c:order val="0"/>
          <c:tx>
            <c:strRef>
              <c:f>Sheet1!$B$1</c:f>
              <c:strCache>
                <c:ptCount val="1"/>
                <c:pt idx="0">
                  <c:v>Vault height (m)</c:v>
                </c:pt>
              </c:strCache>
            </c:strRef>
          </c:tx>
          <c:spPr>
            <a:solidFill>
              <a:srgbClr val="3C6FD8"/>
            </a:solidFill>
            <a:effectLst/>
          </c:spPr>
          <c:invertIfNegative val="0"/>
          <c:dLbls>
            <c:numFmt formatCode="0&quot; m&quot;" sourceLinked="0"/>
            <c:txPr>
              <a:bodyPr/>
              <a:lstStyle/>
              <a:p>
                <a:pPr>
                  <a:defRPr b="1" i="0" strike="noStrike" sz="1600" u="none">
                    <a:solidFill>
                      <a:srgbClr val="F3EFE6"/>
                    </a:solidFill>
                    <a:latin typeface="+mn-lt"/>
                  </a:defRPr>
                </a:pPr>
              </a:p>
            </c:txPr>
            <c:showLegendKey val="0"/>
            <c:showVal val="1"/>
            <c:showCatName val="0"/>
            <c:showSerName val="0"/>
            <c:showPercent val="0"/>
            <c:showBubbleSize val="0"/>
            <c:showLeaderLines val="0"/>
          </c:dLbls>
          <c:dPt>
            <c:idx val="0"/>
            <c:invertIfNegative val="0"/>
            <c:bubble3D val="0"/>
            <c:spPr>
              <a:solidFill>
                <a:srgbClr val="3C6FD8"/>
              </a:solidFill>
              <a:effectLst/>
            </c:spPr>
          </c:dPt>
          <c:dPt>
            <c:idx val="1"/>
            <c:invertIfNegative val="0"/>
            <c:bubble3D val="0"/>
            <c:spPr>
              <a:solidFill>
                <a:srgbClr val="3C6FD8"/>
              </a:solidFill>
              <a:effectLst/>
            </c:spPr>
          </c:dPt>
          <c:dPt>
            <c:idx val="2"/>
            <c:invertIfNegative val="0"/>
            <c:bubble3D val="0"/>
            <c:spPr>
              <a:solidFill>
                <a:srgbClr val="3C6FD8"/>
              </a:solidFill>
              <a:effectLst/>
            </c:spPr>
          </c:dPt>
          <c:dPt>
            <c:idx val="3"/>
            <c:invertIfNegative val="0"/>
            <c:bubble3D val="0"/>
            <c:spPr>
              <a:solidFill>
                <a:srgbClr val="3C6FD8"/>
              </a:solidFill>
              <a:effectLst/>
            </c:spPr>
          </c:dPt>
          <c:dPt>
            <c:idx val="4"/>
            <c:invertIfNegative val="0"/>
            <c:bubble3D val="0"/>
            <c:spPr>
              <a:solidFill>
                <a:srgbClr val="C03450"/>
              </a:solidFill>
              <a:effectLst/>
            </c:spPr>
          </c:dPt>
          <c:cat>
            <c:multiLvlStrRef>
              <c:f>Sheet1!$A$2:$A$6</c:f>
              <c:multiLvlStrCache>
                <c:ptCount val="5"/>
                <c:lvl>
                  <c:pt idx="0">
                    <c:v>Notre-Dame
1163</c:v>
                  </c:pt>
                  <c:pt idx="1">
                    <c:v>Chartres
1194</c:v>
                  </c:pt>
                  <c:pt idx="2">
                    <c:v>Reims
1211</c:v>
                  </c:pt>
                  <c:pt idx="3">
                    <c:v>Amiens
1220</c:v>
                  </c:pt>
                  <c:pt idx="4">
                    <c:v>Beauvais
1225</c:v>
                  </c:pt>
                </c:lvl>
              </c:multiLvlStrCache>
            </c:multiLvlStrRef>
          </c:cat>
          <c:val>
            <c:numRef>
              <c:f>Sheet1!$B$2:$B$6</c:f>
              <c:numCache>
                <c:formatCode>General</c:formatCode>
                <c:ptCount val="5"/>
                <c:pt idx="0">
                  <c:v>33</c:v>
                </c:pt>
                <c:pt idx="1">
                  <c:v>37</c:v>
                </c:pt>
                <c:pt idx="2">
                  <c:v>38</c:v>
                </c:pt>
                <c:pt idx="3">
                  <c:v>42</c:v>
                </c:pt>
                <c:pt idx="4">
                  <c:v>48</c:v>
                </c:pt>
              </c:numCache>
            </c:numRef>
          </c:val>
        </c:ser>
        <c:dLbls>
          <c:numFmt formatCode="0&quot; m&quot;" sourceLinked="0"/>
          <c:txPr>
            <a:bodyPr/>
            <a:lstStyle/>
            <a:p>
              <a:pPr>
                <a:defRPr b="1" i="0" strike="noStrike" sz="1600" u="none">
                  <a:solidFill>
                    <a:srgbClr val="F3EFE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B9B3C8"/>
                </a:solidFill>
                <a:latin typeface="+mn-lt"/>
              </a:defRPr>
            </a:pPr>
            <a:endParaRPr lang="en-US"/>
          </a:p>
        </c:txPr>
        <c:crossAx val="2094734552"/>
        <c:crosses val="autoZero"/>
        <c:auto val="1"/>
        <c:lblAlgn val="ctr"/>
        <c:noMultiLvlLbl val="1"/>
      </c:catAx>
      <c:valAx>
        <c:axId val="2094734552"/>
        <c:scaling>
          <c:orientation val="minMax"/>
          <c:max val="5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OF 13 · aim for 0:40]
Good morning everyone, my name is [your name]. Today I will take you on a 15-minute journey through one of the most powerful ideas in architecture: Gothic architecture.
Imagine you are a farmer in the year 1200. You live in a small, dark house with one tiny window. One Sunday you walk into a cathedral. The walls seem to disappear. Coloured light falls on the floor. The ceiling is thirty metres above your head. For you, it feels like walking into heaven. That is exactly what the builders wanted.
I will answer four questions: where does Gothic come from, why was it built, how does it stand up, and what did it leave us?
✨ TRANSITION INTO THIS SLIDE: Curtains. Press play, wait for the curtains to open, then speak.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OF 13 · aim for 0:45]
Before the details, four numbers. [Point to each card.]
1140: the year Abbot Suger started rebuilding the church of Saint-Denis, near Paris. Most historians see it as the birth of Gothic.
About 400 years: how long Gothic dominated building in Europe. It is not a trend, it is a whole civilisation.
48 metres: the vault of Beauvais Cathedral. That is a 16-storey building, in the 13th century, with no steel and no concrete.
632 years: Cologne Cathedral was started in 1248 and finished in 1880.
At the bottom you can see our road map: faith and origins, structure, space and making, and legacy.
NEXT: So, when did all this happen?
✨ TRANSITION INTO THIS SLIDE: Fly Through. Like flying into the cathedral.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OF 13 · aim for 1:05]
Gothic was not invented in one day. Historians divide it into four chapters. [Move your hand from left to right.]
Early Gothic, 1140 to 1200. It starts at Saint-Denis, then Notre-Dame de Paris, begun in 1163.
High Gothic, 1200 to 1240, the golden age: Chartres (say "SHAR-truh"), Reims and Amiens. Everything becomes taller and lighter.
Rayonnant, 1240 to 1350. The word means "radiating", like rays of light. Walls almost disappear and become glass held by thin stone patterns called tracery. The masterpiece is the Sainte-Chapelle in Paris.
Late Gothic, 1350 to about 1520. Decoration explodes. In France it is called Flamboyant, because the tracery looks like flames. In England, Perpendicular, with fan-shaped vaults. And in 1347 the Black Death kills maybe a third of Europe's people, so many cathedrals slow down or stop.
A small fact: nobody at the time said "Gothic". We come back to this word at the end.
NEXT: But why spend so much money on these buildings?
✨ TRANSITION INTO THIS SLIDE: Pan (right). A slide through time, left to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OF 13 · aim for 1:15]
To understand Gothic, we must understand medieval faith. In the 12th century, Christianity organised everything. Three ideas.
First, light is divine. [Point to the quote.] Abbot Suger (say "soo-ZHAY"), abbot of Saint-Denis and adviser to the French kings, read a philosopher who taught that God is pure light. So he rebuilt his church to be flooded with light. He wrote: "The dull mind rises to truth through that which is material." In other words, beautiful matter, like stone, gold and coloured glass, can lift the soul towards God.
Second, Mary and the pilgrims. Notre-Dame means "Our Lady", the Virgin Mary. Relics, like the cloth said to be Mary's tunic at Chartres, attracted thousands of pilgrims. They needed big space, and their donations helped pay for it.
Third, power and pride. Bishops, kings and rich cities competed. A taller cathedral meant a more important city. It was also the town's meeting place, market and school.
The Bible describes heaven as the Heavenly Jerusalem, a city of light and jewels. A Gothic cathedral tries to build it on earth.
NEXT: Faith explains why. What made it possible?
✨ TRANSITION INTO THIS SLIDE: Ripple. Light spreading from the centre. Pause one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OF 13 · aim for 0:50]
Go quickly, row by row.
Before Gothic, Europe built in the Romanesque style. Look at the left: round arches, thick walls like a fortress, small windows, because every hole weakens a thick wall. The result is dark, solid, protective.
On the right, Gothic: pointed arches, light vaults, thin walls, enormous windows. The result is tall, bright and, for people at the time, heavenly.
The key point: Gothic did not use a new material. It is still stone. What changed is the logic. A Romanesque church is a heavy mass; a Gothic church is a skeleton. It is the difference between a cave and a tent with poles.
NEXT: This skeleton is made of three inventions.
✨ TRANSITION INTO THIS SLIDE: Flip. Turning the page from old to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OF 13 · aim for 1:20]
Three inventions. [Point to each card.]
One: the pointed arch. A round arch pushes strongly outwards. The pointed arch has steeper sides, so more weight goes straight down and less pushes sideways. See the red arrows: they are much shorter. And you can make it as tall as you want for the same width, which is perfect for covering rectangular spaces.
Two: the ribbed vault. This is a plan from above. The ribs, in gold, cross diagonally. Masons built the ribs first, then filled between them with thin, light panels. The ribs collect the weight and send it down to the corners, the piers. So the wall no longer carries the roof. Only the points do.
Three: the flying buttress. The vault still pushes outwards at the top of the wall. The flying buttress is a half-arch, outside the church, that catches this push and carries it over the side aisle to a heavy pier.
Together: a stone skeleton with its bones on the outside. Now the walls are free to become windows.
NEXT: Let's see them working together.
✨ TRANSITION INTO THIS SLIDE: Doors (vertical). Cathedral doors opening.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OF 13 · aim for 1:20]
This is the technical heart of the talk, so slow down.
This is a cross-section through a nave, like cutting the cathedral with a knife. Let's follow the force, like water running downhill.
1: the stone vault is heavy. It pushes down and outwards at the top of the wall.
2: at exactly that height, the flying buttress catches the push and sends it diagonally down and outwards, over the side aisle.
3: the pinnacle, the little spire on the outer pier. It looks decorative, but its weight presses down on the pier and keeps the line of force inside it, so the pier does not tip over.
4: the pier brings everything to the ground.
So what is left for the wall to do? Almost nothing. That is why the upper wall can be filled with glass.
Notice the three levels inside: the arcade at the bottom, the triforium, a narrow passage, in the middle, and at the top the clerestory (say "CLEAR-story"), the high windows that bring in the light.
An image to remember: a cathedral is an exoskeleton, like a crab.
NEXT: And what does this structure give us? Light.
✨ TRANSITION INTO THIS SLIDE: Warp. Zooming into the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OF 13 · aim for 1:10]
Remember Suger: light is divine. All this structure exists to give us this: walls made of light.
How is stained glass made? Glassmakers added metal oxides to melted glass: cobalt gives blue, copper gives red. The pieces were cut, joined with strips of lead, and held in iron frames and stone tracery. When the sun shines, coloured light moves across the floor. The building changes with the hour.
The windows were also books. Most people could not read, so the glass told Bible stories and the lives of saints in pictures.
The best example is the Sainte-Chapelle in Paris, built between 1241 and 1248 for King Louis IX, to hold what he believed was the Crown of Thorns. Fifteen windows, about fifteen metres tall, 1,113 scenes. Inside, it feels like a jewellery box.
The round window here is a rose window: a circle of stone patterns holding glass, on the front or the ends of the transept.
If you remember one thing: in Gothic, light is a building material.
NEXT: Now let's walk inside and learn to read a cathedral.
✨ TRANSITION INTO THIS SLIDE: Fracture (breaking glass). Looks like stained glass breaking, then the light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OF 13 · aim for 1:10]
Use your hand to "walk" on the plan.
Start with the plan, on the left. It is a Latin cross: a long arm and a short arm. It symbolises the cross of Christ. The altar is at the east end, towards the sunrise and Jerusalem.
Walk with me from the main door in the west: number 5, the west front. You enter the nave, number 1: the long hall for the people, with an aisle on each side. Then the transept, number 2: the arms of the cross. Then the choir, number 3: the place for the clergy and the altar. And around the end, number 4: the ambulatory and the radiating chapels. The ambulatory lets pilgrims circulate and see the relics without disturbing the service.
Now the facade, on the right. A: three deep portals covered with sculpture. Over the central door you often find the Last Judgement. People who could not read learnt the Christian story from stone. B: the rose window. C: the two towers, like Notre-Dame.
NEXT: Good. But who built all this, and how?
✨ TRANSITION INTO THIS SLIDE: Prism. A 3D turn: now we walk inside.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OF 13 · aim for 1:10]
How do you build this with no computer, no engine and no calculation of forces? Five steps.
One, money: the bishop, the king, the guilds and the pilgrims. Often the money ran out and work stopped for years.
Two, design. There was no architect with a diploma. There was the master mason: designer, engineer and site manager in one. He used geometry: compass, straightedge, circles, squares, triangles. The same tools we use in our drawing class! He drew full-size templates, even on plaster floors. Some of these tracing floors survive in England, at York and Wells.
Three, carving. Masons cut each stone on the ground and marked it with a personal sign, so they could be paid.
Four, lifting. Treadwheel cranes, like giant hamster wheels with workers walking inside. Arches and vaults were built on wooden frames, called centering, removed once the keystone was in place.
Five, time. Notre-Dame took about 180 years. Cologne took 632. A mason who started a cathedral knew he would never see it finished. Gothic is architecture as a collective act, across generations.
NEXT: And sometimes the ambition went too far.
✨ TRANSITION INTO THIS SLIDE: Conveyor. Like stones carried to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OF 13 · aim for 1:05]
Here is the race to the sky. The chart shows the height of the main vault above the floor. Notre-Dame: 33 metres. Chartres: 37. Reims: 38. Amiens: 42. Beauvais: 48. In about 60 years, the height grew by almost half. Bishops wanted to beat each other.
But Beauvais went too far. In 1284, only twelve years after the choir was finished, part of the vault collapsed. The builders added extra piers, but the cathedral was never completed. Beauvais still has the tallest Gothic choir ever built, and one of the most famous failures.
Why? There was no mathematics of structures yet. Master masons learned by trial and error, and every collapse was a lesson. This is how structural engineering was born: building, failing, improving.
As students, I find this inspiring: every bold idea has a risk.
NEXT: What happened to Gothic after the Middle Ages?
✨ TRANSITION INTO THIS SLIDE: Ferris Wheel. A wheel, like a rose window turning.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OF 13 · aim for 1:10]
The story has three acts: spread, decline and rebirth.
Spread. From France, Gothic travels across Europe, and each country adds its own accent. England: Salisbury and Westminster Abbey. Germany: Cologne, with its huge twin towers. Italy: the Duomo of Milan, in white marble. Spain: Seville, the largest Gothic cathedral in the world.
Decline. In the 1400s the Renaissance looked back to ancient Rome: columns, domes, symmetry. For writers like Vasari, medieval buildings were barbaric. They called them "Gothic", after the Goths who destroyed Rome. So the name we use today started as an insult!
Rebirth. In the 1800s Europe fell in love with the Middle Ages again. The Houses of Parliament in London, by Barry and Pugin, are Gothic Revival. Viollet-le-Duc (say "vee-oh-LAY luh DUKE") restored Notre-Dame. Gaudí began the Sagrada Família in 1882. And in April 2019 a terrible fire hit Notre-Dame. After five years of work, it reopened in December 2024.
NEXT: So what do we keep from Gothic?
✨ TRANSITION INTO THIS SLIDE: Page Curl. History pages turning.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OF 13 · aim for 0:50]
Slow and confident.
In one sentence: the Gothic builders took the heaviest material, stone, and turned it into light.
Three lessons for future architects.
One: structure can be beauty. In Gothic, the skeleton is the design. A frame with a glass skin is the ancestor of the modern skyscraper.
Two: light is a material. Think about how you will use light in your own projects.
Three: great architecture can take generations. It needs hundreds of hands and one shared dream.
Thank you very much for your attention. I am happy to answer your questions.
POSSIBLE QUESTIONS, QUICK ANSWERS (not to be read out)
- Gothic versus Romanesque? Romanesque: round arch, thick walls, small windows. Gothic: pointed arch, ribbed vault, flying buttress, big windows.
- Why gargoyles? They are water spouts that throw rainwater away from the walls. They also had a symbolic role: protecting the church from evil.
- Why was the Notre-Dame fire so serious? The roof frame, mostly 13th-century oak, burned and the spire collapsed. The stone vaults stopped most of the fire from reaching the inside.
✨ TRANSITION INTO THIS SLIDE: Curtains. The curtains close, like the opening. Let it settle before you speak.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this slide. Keep it for questions, or for your teacher.
All diagrams in this presentation were drawn specially for it. If your teacher asks for exact sources, double-check the construction dates and the vault heights of each cathedral in the books listed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ITLE_SLIDE-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LOS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txBox="1"/>
          <p:nvPr/>
        </p:nvSpPr>
        <p:spPr>
          <a:xfrm>
            <a:off x="640080" y="6400800"/>
            <a:ext cx="3657600" cy="274320"/>
          </a:xfrm>
          <a:prstGeom prst="rect">
            <a:avLst/>
          </a:prstGeom>
          <a:noFill/>
          <a:ln/>
        </p:spPr>
        <p:txBody>
          <a:bodyPr wrap="square" lIns="0" tIns="0" rIns="0" bIns="0" rtlCol="0" anchor="ctr"/>
          <a:lstStyle/>
          <a:p>
            <a:pPr indent="0" marL="0">
              <a:buNone/>
            </a:pPr>
            <a:r>
              <a:rPr lang="en-US" sz="1000" spc="400" kern="0" dirty="0">
                <a:solidFill>
                  <a:schemeClr val="tx2"/>
                </a:solidFill>
              </a:rPr>
              <a:t>GOTHIC ARCHITECTURE</a:t>
            </a:r>
            <a:endParaRPr lang="en-US" sz="10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9B3C8"/>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SLID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5486400" cy="2103120"/>
          </a:xfrm>
          <a:prstGeom prst="rect">
            <a:avLst/>
          </a:prstGeom>
          <a:noFill/>
          <a:ln/>
        </p:spPr>
        <p:txBody>
          <a:bodyPr wrap="square" rtlCol="0"/>
          <a:lstStyle>
            <a:lvl1pPr algn="l" indent="0" marL="0">
              <a:buNone/>
              <a:defRPr lang="en-US" sz="6000" b="1" dirty="0">
                <a:solidFill>
                  <a:schemeClr val="tx1"/>
                </a:solidFill>
              </a:defRPr>
            </a:lvl1pPr>
          </a:lstStyle>
          <a:p>
            <a:pPr algn="l" indent="0" marL="0">
              <a:buNone/>
            </a:pPr>
            <a:endParaRPr lang="en-US" sz="6000" dirty="0"/>
          </a:p>
        </p:txBody>
      </p:sp>
      <p:sp>
        <p:nvSpPr>
          <p:cNvPr id="3" name="Text 0"/>
          <p:cNvSpPr/>
          <p:nvPr>
            <p:ph idx="101" type="body" hasCustomPrompt="1"/>
          </p:nvPr>
        </p:nvSpPr>
        <p:spPr>
          <a:xfrm>
            <a:off x="731520" y="4069080"/>
            <a:ext cx="5120640" cy="1005840"/>
          </a:xfrm>
          <a:prstGeom prst="rect">
            <a:avLst/>
          </a:prstGeom>
          <a:noFill/>
          <a:ln/>
        </p:spPr>
        <p:txBody>
          <a:bodyPr wrap="square" rtlCol="0"/>
          <a:lstStyle>
            <a:lvl1pPr algn="l" indent="0" marL="0">
              <a:buNone/>
              <a:defRPr lang="en-US" sz="2400" i="1" dirty="0">
                <a:solidFill>
                  <a:schemeClr val="accent1"/>
                </a:solidFill>
              </a:defRPr>
            </a:lvl1pPr>
          </a:lstStyle>
          <a:p>
            <a:pPr algn="l" indent="0" marL="0">
              <a:buNone/>
            </a:pPr>
            <a:endParaRPr lang="en-US" sz="2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400800" cy="1554480"/>
          </a:xfrm>
          <a:prstGeom prst="rect">
            <a:avLst/>
          </a:prstGeom>
          <a:noFill/>
          <a:ln/>
        </p:spPr>
        <p:txBody>
          <a:bodyPr wrap="square" rtlCol="0"/>
          <a:lstStyle>
            <a:lvl1pPr algn="l" indent="0" marL="0">
              <a:buNone/>
              <a:defRPr lang="en-US" sz="4200" b="1" dirty="0">
                <a:solidFill>
                  <a:schemeClr val="tx1"/>
                </a:solidFill>
              </a:defRPr>
            </a:lvl1pPr>
          </a:lstStyle>
          <a:p>
            <a:pPr algn="l" indent="0" marL="0">
              <a:buNone/>
            </a:pPr>
            <a:endParaRPr lang="en-US" sz="4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9B3C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1.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tained-glass rose window">    </p:cNvPr>
          <p:cNvPicPr>
            <a:picLocks noChangeAspect="1"/>
          </p:cNvPicPr>
          <p:nvPr/>
        </p:nvPicPr>
        <p:blipFill>
          <a:blip r:embed="rId1"/>
          <a:stretch>
            <a:fillRect/>
          </a:stretch>
        </p:blipFill>
        <p:spPr>
          <a:xfrm>
            <a:off x="6126480" y="411480"/>
            <a:ext cx="5943600" cy="5943600"/>
          </a:xfrm>
          <a:prstGeom prst="rect">
            <a:avLst/>
          </a:prstGeom>
        </p:spPr>
      </p:pic>
      <p:sp>
        <p:nvSpPr>
          <p:cNvPr id="3" name="Text 0"/>
          <p:cNvSpPr txBox="1"/>
          <p:nvPr/>
        </p:nvSpPr>
        <p:spPr>
          <a:xfrm>
            <a:off x="731520" y="1234440"/>
            <a:ext cx="5486400" cy="365760"/>
          </a:xfrm>
          <a:prstGeom prst="rect">
            <a:avLst/>
          </a:prstGeom>
          <a:noFill/>
          <a:ln/>
        </p:spPr>
        <p:txBody>
          <a:bodyPr wrap="square" lIns="0" tIns="0" rIns="0" bIns="0" rtlCol="0" anchor="t"/>
          <a:lstStyle/>
          <a:p>
            <a:pPr indent="0" marL="0">
              <a:buNone/>
            </a:pPr>
            <a:r>
              <a:rPr lang="en-US" sz="1300" b="1" spc="300" kern="0" dirty="0">
                <a:solidFill>
                  <a:schemeClr val="accent1"/>
                </a:solidFill>
              </a:rPr>
              <a:t>FIRST-YEAR ARCHITECTURE  ·  HISTORY</a:t>
            </a:r>
            <a:endParaRPr lang="en-US" sz="1300" dirty="0"/>
          </a:p>
        </p:txBody>
      </p:sp>
      <p:sp>
        <p:nvSpPr>
          <p:cNvPr id="4" name="Text 0"/>
          <p:cNvSpPr/>
          <p:nvPr>
            <p:ph idx="100" type="title" hasCustomPrompt="1"/>
          </p:nvPr>
        </p:nvSpPr>
        <p:spPr>
          <a:xfrm>
            <a:off x="731520" y="1828800"/>
            <a:ext cx="5486400" cy="2103120"/>
          </a:xfrm>
          <a:prstGeom prst="rect">
            <a:avLst/>
          </a:prstGeom>
          <a:noFill/>
          <a:ln/>
        </p:spPr>
        <p:txBody>
          <a:bodyPr wrap="square" lIns="0" tIns="0" rIns="0" bIns="0" rtlCol="0" anchor="t"/>
          <a:lstStyle/>
          <a:p>
            <a:pPr algn="l" indent="0" marL="0">
              <a:buNone/>
            </a:pPr>
            <a:r>
              <a:rPr lang="en-US" sz="6000" b="1" dirty="0">
                <a:solidFill>
                  <a:schemeClr val="tx1"/>
                </a:solidFill>
              </a:rPr>
              <a:t>Gothic Architecture</a:t>
            </a:r>
            <a:endParaRPr lang="en-US" sz="6000" dirty="0"/>
          </a:p>
        </p:txBody>
      </p:sp>
      <p:sp>
        <p:nvSpPr>
          <p:cNvPr id="5" name="Text 0"/>
          <p:cNvSpPr/>
          <p:nvPr>
            <p:ph idx="101" type="body" hasCustomPrompt="1"/>
          </p:nvPr>
        </p:nvSpPr>
        <p:spPr>
          <a:xfrm>
            <a:off x="731520" y="4069080"/>
            <a:ext cx="5120640" cy="1005840"/>
          </a:xfrm>
          <a:prstGeom prst="rect">
            <a:avLst/>
          </a:prstGeom>
          <a:noFill/>
          <a:ln/>
        </p:spPr>
        <p:txBody>
          <a:bodyPr wrap="square" lIns="0" tIns="0" rIns="0" bIns="0" rtlCol="0" anchor="t"/>
          <a:lstStyle/>
          <a:p>
            <a:pPr algn="l" indent="0" marL="0">
              <a:buNone/>
            </a:pPr>
            <a:r>
              <a:rPr lang="en-US" sz="2400" i="1" dirty="0">
                <a:solidFill>
                  <a:schemeClr val="accent1"/>
                </a:solidFill>
              </a:rPr>
              <a:t>Stone, light and the race towards heaven</a:t>
            </a:r>
            <a:endParaRPr lang="en-US" sz="2400" dirty="0"/>
          </a:p>
        </p:txBody>
      </p:sp>
      <p:sp>
        <p:nvSpPr>
          <p:cNvPr id="6" name="Text 3"/>
          <p:cNvSpPr txBox="1"/>
          <p:nvPr/>
        </p:nvSpPr>
        <p:spPr>
          <a:xfrm>
            <a:off x="731520" y="5760720"/>
            <a:ext cx="5303520" cy="365760"/>
          </a:xfrm>
          <a:prstGeom prst="rect">
            <a:avLst/>
          </a:prstGeom>
          <a:noFill/>
          <a:ln/>
        </p:spPr>
        <p:txBody>
          <a:bodyPr wrap="square" lIns="0" tIns="0" rIns="0" bIns="0" rtlCol="0" anchor="t"/>
          <a:lstStyle/>
          <a:p>
            <a:pPr indent="0" marL="0">
              <a:buNone/>
            </a:pPr>
            <a:r>
              <a:rPr lang="en-US" sz="1400" dirty="0">
                <a:solidFill>
                  <a:schemeClr val="tx2"/>
                </a:solidFill>
              </a:rPr>
              <a:t>Presented by [Your name]   ·   [Date]</a:t>
            </a:r>
            <a:endParaRPr lang="en-US" sz="1400" dirty="0"/>
          </a:p>
        </p:txBody>
      </p:sp>
    </p:spTree>
  </p:cSld>
  <p:clrMapOvr>
    <a:masterClrMapping/>
  </p:clrMapOvr>
  <mc:AlternateContent xmlns:mc="http://schemas.openxmlformats.org/markup-compatibility/2006">
    <mc:Choice xmlns:p14="http://schemas.microsoft.com/office/powerpoint/2010/main" xmlns:p15="http://schemas.microsoft.com/office/powerpoint/2012/main" Requires="p15">
      <p:transition spd="slow" p14:dur="2500">
        <p15:prstTrans prst="curtains"/>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Why does it still give us chills?</a:t>
            </a:r>
            <a:endParaRPr lang="en-US" sz="3600" dirty="0"/>
          </a:p>
        </p:txBody>
      </p:sp>
      <p:sp>
        <p:nvSpPr>
          <p:cNvPr id="3" name="Stat card 1"/>
          <p:cNvSpPr/>
          <p:nvPr/>
        </p:nvSpPr>
        <p:spPr>
          <a:xfrm>
            <a:off x="640080" y="1554480"/>
            <a:ext cx="2560320" cy="2834640"/>
          </a:xfrm>
          <a:prstGeom prst="roundRect">
            <a:avLst>
              <a:gd name="adj" fmla="val 4286"/>
            </a:avLst>
          </a:prstGeom>
          <a:solidFill>
            <a:schemeClr val="bg2"/>
          </a:solidFill>
          <a:ln w="6350">
            <a:solidFill>
              <a:schemeClr val="bg2"/>
            </a:solidFill>
            <a:prstDash val="solid"/>
          </a:ln>
        </p:spPr>
      </p:sp>
      <p:sp>
        <p:nvSpPr>
          <p:cNvPr id="4" name="Text 2"/>
          <p:cNvSpPr txBox="1"/>
          <p:nvPr/>
        </p:nvSpPr>
        <p:spPr>
          <a:xfrm>
            <a:off x="822960" y="1783080"/>
            <a:ext cx="2194560" cy="1005840"/>
          </a:xfrm>
          <a:prstGeom prst="rect">
            <a:avLst/>
          </a:prstGeom>
          <a:noFill/>
          <a:ln/>
        </p:spPr>
        <p:txBody>
          <a:bodyPr wrap="square" lIns="0" tIns="0" rIns="0" bIns="0" rtlCol="0" anchor="ctr"/>
          <a:lstStyle/>
          <a:p>
            <a:pPr indent="0" marL="0">
              <a:buNone/>
            </a:pPr>
            <a:r>
              <a:rPr lang="en-US" sz="5000" b="1" dirty="0">
                <a:solidFill>
                  <a:schemeClr val="accent1"/>
                </a:solidFill>
                <a:latin typeface="Cambria" pitchFamily="34" charset="0"/>
                <a:ea typeface="Cambria" pitchFamily="34" charset="-122"/>
                <a:cs typeface="Cambria" pitchFamily="34" charset="-120"/>
              </a:rPr>
              <a:t>1140</a:t>
            </a:r>
            <a:endParaRPr lang="en-US" sz="5000" dirty="0"/>
          </a:p>
        </p:txBody>
      </p:sp>
      <p:sp>
        <p:nvSpPr>
          <p:cNvPr id="5" name="Text 3"/>
          <p:cNvSpPr txBox="1"/>
          <p:nvPr/>
        </p:nvSpPr>
        <p:spPr>
          <a:xfrm>
            <a:off x="822960" y="2926080"/>
            <a:ext cx="2194560" cy="1280160"/>
          </a:xfrm>
          <a:prstGeom prst="rect">
            <a:avLst/>
          </a:prstGeom>
          <a:noFill/>
          <a:ln/>
        </p:spPr>
        <p:txBody>
          <a:bodyPr wrap="square" lIns="0" tIns="0" rIns="0" bIns="0" rtlCol="0" anchor="t"/>
          <a:lstStyle/>
          <a:p>
            <a:pPr indent="0" marL="0">
              <a:buNone/>
            </a:pPr>
            <a:r>
              <a:rPr lang="en-US" sz="1800" dirty="0">
                <a:solidFill>
                  <a:schemeClr val="tx1"/>
                </a:solidFill>
              </a:rPr>
              <a:t>Abbot Suger starts rebuilding Saint-Denis, near Paris</a:t>
            </a:r>
            <a:endParaRPr lang="en-US" sz="1800" dirty="0"/>
          </a:p>
        </p:txBody>
      </p:sp>
      <p:sp>
        <p:nvSpPr>
          <p:cNvPr id="6" name="Stat card 2"/>
          <p:cNvSpPr/>
          <p:nvPr/>
        </p:nvSpPr>
        <p:spPr>
          <a:xfrm>
            <a:off x="3383280" y="1554480"/>
            <a:ext cx="2560320" cy="2834640"/>
          </a:xfrm>
          <a:prstGeom prst="roundRect">
            <a:avLst>
              <a:gd name="adj" fmla="val 4286"/>
            </a:avLst>
          </a:prstGeom>
          <a:solidFill>
            <a:schemeClr val="bg2"/>
          </a:solidFill>
          <a:ln w="6350">
            <a:solidFill>
              <a:schemeClr val="bg2"/>
            </a:solidFill>
            <a:prstDash val="solid"/>
          </a:ln>
        </p:spPr>
      </p:sp>
      <p:sp>
        <p:nvSpPr>
          <p:cNvPr id="7" name="Text 5"/>
          <p:cNvSpPr txBox="1"/>
          <p:nvPr/>
        </p:nvSpPr>
        <p:spPr>
          <a:xfrm>
            <a:off x="3566160" y="1783080"/>
            <a:ext cx="2194560" cy="1005840"/>
          </a:xfrm>
          <a:prstGeom prst="rect">
            <a:avLst/>
          </a:prstGeom>
          <a:noFill/>
          <a:ln/>
        </p:spPr>
        <p:txBody>
          <a:bodyPr wrap="square" lIns="0" tIns="0" rIns="0" bIns="0" rtlCol="0" anchor="ctr"/>
          <a:lstStyle/>
          <a:p>
            <a:pPr indent="0" marL="0">
              <a:buNone/>
            </a:pPr>
            <a:r>
              <a:rPr lang="en-US" sz="5000" b="1" dirty="0">
                <a:solidFill>
                  <a:schemeClr val="accent1"/>
                </a:solidFill>
                <a:latin typeface="Cambria" pitchFamily="34" charset="0"/>
                <a:ea typeface="Cambria" pitchFamily="34" charset="-122"/>
                <a:cs typeface="Cambria" pitchFamily="34" charset="-120"/>
              </a:rPr>
              <a:t>≈ 400</a:t>
            </a:r>
            <a:endParaRPr lang="en-US" sz="5000" dirty="0"/>
          </a:p>
        </p:txBody>
      </p:sp>
      <p:sp>
        <p:nvSpPr>
          <p:cNvPr id="8" name="Text 6"/>
          <p:cNvSpPr txBox="1"/>
          <p:nvPr/>
        </p:nvSpPr>
        <p:spPr>
          <a:xfrm>
            <a:off x="3566160" y="2926080"/>
            <a:ext cx="2194560" cy="1280160"/>
          </a:xfrm>
          <a:prstGeom prst="rect">
            <a:avLst/>
          </a:prstGeom>
          <a:noFill/>
          <a:ln/>
        </p:spPr>
        <p:txBody>
          <a:bodyPr wrap="square" lIns="0" tIns="0" rIns="0" bIns="0" rtlCol="0" anchor="t"/>
          <a:lstStyle/>
          <a:p>
            <a:pPr indent="0" marL="0">
              <a:buNone/>
            </a:pPr>
            <a:r>
              <a:rPr lang="en-US" sz="1800" dirty="0">
                <a:solidFill>
                  <a:schemeClr val="tx1"/>
                </a:solidFill>
              </a:rPr>
              <a:t>years of Gothic building across Europe</a:t>
            </a:r>
            <a:endParaRPr lang="en-US" sz="1800" dirty="0"/>
          </a:p>
        </p:txBody>
      </p:sp>
      <p:sp>
        <p:nvSpPr>
          <p:cNvPr id="9" name="Stat card 3"/>
          <p:cNvSpPr/>
          <p:nvPr/>
        </p:nvSpPr>
        <p:spPr>
          <a:xfrm>
            <a:off x="6126480" y="1554480"/>
            <a:ext cx="2560320" cy="2834640"/>
          </a:xfrm>
          <a:prstGeom prst="roundRect">
            <a:avLst>
              <a:gd name="adj" fmla="val 4286"/>
            </a:avLst>
          </a:prstGeom>
          <a:solidFill>
            <a:schemeClr val="bg2"/>
          </a:solidFill>
          <a:ln w="6350">
            <a:solidFill>
              <a:schemeClr val="bg2"/>
            </a:solidFill>
            <a:prstDash val="solid"/>
          </a:ln>
        </p:spPr>
      </p:sp>
      <p:sp>
        <p:nvSpPr>
          <p:cNvPr id="10" name="Text 8"/>
          <p:cNvSpPr txBox="1"/>
          <p:nvPr/>
        </p:nvSpPr>
        <p:spPr>
          <a:xfrm>
            <a:off x="6309360" y="1783080"/>
            <a:ext cx="2194560" cy="1005840"/>
          </a:xfrm>
          <a:prstGeom prst="rect">
            <a:avLst/>
          </a:prstGeom>
          <a:noFill/>
          <a:ln/>
        </p:spPr>
        <p:txBody>
          <a:bodyPr wrap="square" lIns="0" tIns="0" rIns="0" bIns="0" rtlCol="0" anchor="ctr"/>
          <a:lstStyle/>
          <a:p>
            <a:pPr indent="0" marL="0">
              <a:buNone/>
            </a:pPr>
            <a:r>
              <a:rPr lang="en-US" sz="5000" b="1" dirty="0">
                <a:solidFill>
                  <a:schemeClr val="accent1"/>
                </a:solidFill>
                <a:latin typeface="Cambria" pitchFamily="34" charset="0"/>
                <a:ea typeface="Cambria" pitchFamily="34" charset="-122"/>
                <a:cs typeface="Cambria" pitchFamily="34" charset="-120"/>
              </a:rPr>
              <a:t>48 m</a:t>
            </a:r>
            <a:endParaRPr lang="en-US" sz="5000" dirty="0"/>
          </a:p>
        </p:txBody>
      </p:sp>
      <p:sp>
        <p:nvSpPr>
          <p:cNvPr id="11" name="Text 9"/>
          <p:cNvSpPr txBox="1"/>
          <p:nvPr/>
        </p:nvSpPr>
        <p:spPr>
          <a:xfrm>
            <a:off x="6309360" y="2926080"/>
            <a:ext cx="2194560" cy="1280160"/>
          </a:xfrm>
          <a:prstGeom prst="rect">
            <a:avLst/>
          </a:prstGeom>
          <a:noFill/>
          <a:ln/>
        </p:spPr>
        <p:txBody>
          <a:bodyPr wrap="square" lIns="0" tIns="0" rIns="0" bIns="0" rtlCol="0" anchor="t"/>
          <a:lstStyle/>
          <a:p>
            <a:pPr indent="0" marL="0">
              <a:buNone/>
            </a:pPr>
            <a:r>
              <a:rPr lang="en-US" sz="1800" dirty="0">
                <a:solidFill>
                  <a:schemeClr val="tx1"/>
                </a:solidFill>
              </a:rPr>
              <a:t>Beauvais: the highest Gothic vault ever built</a:t>
            </a:r>
            <a:endParaRPr lang="en-US" sz="1800" dirty="0"/>
          </a:p>
        </p:txBody>
      </p:sp>
      <p:sp>
        <p:nvSpPr>
          <p:cNvPr id="12" name="Stat card 4"/>
          <p:cNvSpPr/>
          <p:nvPr/>
        </p:nvSpPr>
        <p:spPr>
          <a:xfrm>
            <a:off x="8869680" y="1554480"/>
            <a:ext cx="2560320" cy="2834640"/>
          </a:xfrm>
          <a:prstGeom prst="roundRect">
            <a:avLst>
              <a:gd name="adj" fmla="val 4286"/>
            </a:avLst>
          </a:prstGeom>
          <a:solidFill>
            <a:schemeClr val="bg2"/>
          </a:solidFill>
          <a:ln w="6350">
            <a:solidFill>
              <a:schemeClr val="bg2"/>
            </a:solidFill>
            <a:prstDash val="solid"/>
          </a:ln>
        </p:spPr>
      </p:sp>
      <p:sp>
        <p:nvSpPr>
          <p:cNvPr id="13" name="Text 11"/>
          <p:cNvSpPr txBox="1"/>
          <p:nvPr/>
        </p:nvSpPr>
        <p:spPr>
          <a:xfrm>
            <a:off x="9052560" y="1783080"/>
            <a:ext cx="2194560" cy="1005840"/>
          </a:xfrm>
          <a:prstGeom prst="rect">
            <a:avLst/>
          </a:prstGeom>
          <a:noFill/>
          <a:ln/>
        </p:spPr>
        <p:txBody>
          <a:bodyPr wrap="square" lIns="0" tIns="0" rIns="0" bIns="0" rtlCol="0" anchor="ctr"/>
          <a:lstStyle/>
          <a:p>
            <a:pPr indent="0" marL="0">
              <a:buNone/>
            </a:pPr>
            <a:r>
              <a:rPr lang="en-US" sz="5000" b="1" dirty="0">
                <a:solidFill>
                  <a:schemeClr val="accent1"/>
                </a:solidFill>
                <a:latin typeface="Cambria" pitchFamily="34" charset="0"/>
                <a:ea typeface="Cambria" pitchFamily="34" charset="-122"/>
                <a:cs typeface="Cambria" pitchFamily="34" charset="-120"/>
              </a:rPr>
              <a:t>632</a:t>
            </a:r>
            <a:endParaRPr lang="en-US" sz="5000" dirty="0"/>
          </a:p>
        </p:txBody>
      </p:sp>
      <p:sp>
        <p:nvSpPr>
          <p:cNvPr id="14" name="Text 12"/>
          <p:cNvSpPr txBox="1"/>
          <p:nvPr/>
        </p:nvSpPr>
        <p:spPr>
          <a:xfrm>
            <a:off x="9052560" y="2926080"/>
            <a:ext cx="2194560" cy="1280160"/>
          </a:xfrm>
          <a:prstGeom prst="rect">
            <a:avLst/>
          </a:prstGeom>
          <a:noFill/>
          <a:ln/>
        </p:spPr>
        <p:txBody>
          <a:bodyPr wrap="square" lIns="0" tIns="0" rIns="0" bIns="0" rtlCol="0" anchor="t"/>
          <a:lstStyle/>
          <a:p>
            <a:pPr indent="0" marL="0">
              <a:buNone/>
            </a:pPr>
            <a:r>
              <a:rPr lang="en-US" sz="1800" dirty="0">
                <a:solidFill>
                  <a:schemeClr val="tx1"/>
                </a:solidFill>
              </a:rPr>
              <a:t>years to finish Cologne Cathedral (1248–1880)</a:t>
            </a:r>
            <a:endParaRPr lang="en-US" sz="1800" dirty="0"/>
          </a:p>
        </p:txBody>
      </p:sp>
      <p:sp>
        <p:nvSpPr>
          <p:cNvPr id="15" name="Text 13"/>
          <p:cNvSpPr txBox="1"/>
          <p:nvPr/>
        </p:nvSpPr>
        <p:spPr>
          <a:xfrm>
            <a:off x="640080" y="4754880"/>
            <a:ext cx="3657600" cy="274320"/>
          </a:xfrm>
          <a:prstGeom prst="rect">
            <a:avLst/>
          </a:prstGeom>
          <a:noFill/>
          <a:ln/>
        </p:spPr>
        <p:txBody>
          <a:bodyPr wrap="square" lIns="0" tIns="0" rIns="0" bIns="0" rtlCol="0" anchor="t"/>
          <a:lstStyle/>
          <a:p>
            <a:pPr indent="0" marL="0">
              <a:buNone/>
            </a:pPr>
            <a:r>
              <a:rPr lang="en-US" sz="1200" b="1" spc="300" kern="0" dirty="0">
                <a:solidFill>
                  <a:schemeClr val="tx2"/>
                </a:solidFill>
              </a:rPr>
              <a:t>TODAY'S JOURNEY</a:t>
            </a:r>
            <a:endParaRPr lang="en-US" sz="1200" dirty="0"/>
          </a:p>
        </p:txBody>
      </p:sp>
      <p:sp>
        <p:nvSpPr>
          <p:cNvPr id="16" name="Road map step 1"/>
          <p:cNvSpPr/>
          <p:nvPr/>
        </p:nvSpPr>
        <p:spPr>
          <a:xfrm>
            <a:off x="640080" y="5166360"/>
            <a:ext cx="2651760" cy="777240"/>
          </a:xfrm>
          <a:prstGeom prst="homePlate">
            <a:avLst/>
          </a:prstGeom>
          <a:solidFill>
            <a:schemeClr val="bg2"/>
          </a:solidFill>
          <a:ln w="12700">
            <a:solidFill>
              <a:schemeClr val="accent1"/>
            </a:solidFill>
            <a:prstDash val="solid"/>
          </a:ln>
        </p:spPr>
      </p:sp>
      <p:sp>
        <p:nvSpPr>
          <p:cNvPr id="17" name="Text 15"/>
          <p:cNvSpPr txBox="1"/>
          <p:nvPr/>
        </p:nvSpPr>
        <p:spPr>
          <a:xfrm>
            <a:off x="868680" y="5166360"/>
            <a:ext cx="2011680" cy="777240"/>
          </a:xfrm>
          <a:prstGeom prst="rect">
            <a:avLst/>
          </a:prstGeom>
          <a:noFill/>
          <a:ln/>
        </p:spPr>
        <p:txBody>
          <a:bodyPr wrap="square" lIns="0" tIns="0" rIns="0" bIns="0" rtlCol="0" anchor="ctr"/>
          <a:lstStyle/>
          <a:p>
            <a:pPr indent="0" marL="0">
              <a:buNone/>
            </a:pPr>
            <a:r>
              <a:rPr lang="en-US" sz="1600" b="1" dirty="0">
                <a:solidFill>
                  <a:schemeClr val="tx1"/>
                </a:solidFill>
              </a:rPr>
              <a:t>1   Origins &amp; faith</a:t>
            </a:r>
            <a:endParaRPr lang="en-US" sz="1600" dirty="0"/>
          </a:p>
        </p:txBody>
      </p:sp>
      <p:sp>
        <p:nvSpPr>
          <p:cNvPr id="18" name="Road map step 2"/>
          <p:cNvSpPr/>
          <p:nvPr/>
        </p:nvSpPr>
        <p:spPr>
          <a:xfrm>
            <a:off x="3383280" y="5166360"/>
            <a:ext cx="2651760" cy="777240"/>
          </a:xfrm>
          <a:prstGeom prst="homePlate">
            <a:avLst/>
          </a:prstGeom>
          <a:solidFill>
            <a:schemeClr val="bg2"/>
          </a:solidFill>
          <a:ln w="12700">
            <a:solidFill>
              <a:schemeClr val="accent1"/>
            </a:solidFill>
            <a:prstDash val="solid"/>
          </a:ln>
        </p:spPr>
      </p:sp>
      <p:sp>
        <p:nvSpPr>
          <p:cNvPr id="19" name="Text 17"/>
          <p:cNvSpPr txBox="1"/>
          <p:nvPr/>
        </p:nvSpPr>
        <p:spPr>
          <a:xfrm>
            <a:off x="3611880" y="5166360"/>
            <a:ext cx="2011680" cy="777240"/>
          </a:xfrm>
          <a:prstGeom prst="rect">
            <a:avLst/>
          </a:prstGeom>
          <a:noFill/>
          <a:ln/>
        </p:spPr>
        <p:txBody>
          <a:bodyPr wrap="square" lIns="0" tIns="0" rIns="0" bIns="0" rtlCol="0" anchor="ctr"/>
          <a:lstStyle/>
          <a:p>
            <a:pPr indent="0" marL="0">
              <a:buNone/>
            </a:pPr>
            <a:r>
              <a:rPr lang="en-US" sz="1600" b="1" dirty="0">
                <a:solidFill>
                  <a:schemeClr val="tx1"/>
                </a:solidFill>
              </a:rPr>
              <a:t>2   Structure</a:t>
            </a:r>
            <a:endParaRPr lang="en-US" sz="1600" dirty="0"/>
          </a:p>
        </p:txBody>
      </p:sp>
      <p:sp>
        <p:nvSpPr>
          <p:cNvPr id="20" name="Road map step 3"/>
          <p:cNvSpPr/>
          <p:nvPr/>
        </p:nvSpPr>
        <p:spPr>
          <a:xfrm>
            <a:off x="6126480" y="5166360"/>
            <a:ext cx="2651760" cy="777240"/>
          </a:xfrm>
          <a:prstGeom prst="homePlate">
            <a:avLst/>
          </a:prstGeom>
          <a:solidFill>
            <a:schemeClr val="bg2"/>
          </a:solidFill>
          <a:ln w="12700">
            <a:solidFill>
              <a:schemeClr val="accent1"/>
            </a:solidFill>
            <a:prstDash val="solid"/>
          </a:ln>
        </p:spPr>
      </p:sp>
      <p:sp>
        <p:nvSpPr>
          <p:cNvPr id="21" name="Text 19"/>
          <p:cNvSpPr txBox="1"/>
          <p:nvPr/>
        </p:nvSpPr>
        <p:spPr>
          <a:xfrm>
            <a:off x="6355080" y="5166360"/>
            <a:ext cx="2011680" cy="777240"/>
          </a:xfrm>
          <a:prstGeom prst="rect">
            <a:avLst/>
          </a:prstGeom>
          <a:noFill/>
          <a:ln/>
        </p:spPr>
        <p:txBody>
          <a:bodyPr wrap="square" lIns="0" tIns="0" rIns="0" bIns="0" rtlCol="0" anchor="ctr"/>
          <a:lstStyle/>
          <a:p>
            <a:pPr indent="0" marL="0">
              <a:buNone/>
            </a:pPr>
            <a:r>
              <a:rPr lang="en-US" sz="1600" b="1" dirty="0">
                <a:solidFill>
                  <a:schemeClr val="tx1"/>
                </a:solidFill>
              </a:rPr>
              <a:t>3   Space &amp; making</a:t>
            </a:r>
            <a:endParaRPr lang="en-US" sz="1600" dirty="0"/>
          </a:p>
        </p:txBody>
      </p:sp>
      <p:sp>
        <p:nvSpPr>
          <p:cNvPr id="22" name="Road map step 4"/>
          <p:cNvSpPr/>
          <p:nvPr/>
        </p:nvSpPr>
        <p:spPr>
          <a:xfrm>
            <a:off x="8869680" y="5166360"/>
            <a:ext cx="2651760" cy="777240"/>
          </a:xfrm>
          <a:prstGeom prst="homePlate">
            <a:avLst/>
          </a:prstGeom>
          <a:solidFill>
            <a:schemeClr val="bg2"/>
          </a:solidFill>
          <a:ln w="12700">
            <a:solidFill>
              <a:schemeClr val="accent1"/>
            </a:solidFill>
            <a:prstDash val="solid"/>
          </a:ln>
        </p:spPr>
      </p:sp>
      <p:sp>
        <p:nvSpPr>
          <p:cNvPr id="23" name="Text 21"/>
          <p:cNvSpPr txBox="1"/>
          <p:nvPr/>
        </p:nvSpPr>
        <p:spPr>
          <a:xfrm>
            <a:off x="9098280" y="5166360"/>
            <a:ext cx="2011680" cy="777240"/>
          </a:xfrm>
          <a:prstGeom prst="rect">
            <a:avLst/>
          </a:prstGeom>
          <a:noFill/>
          <a:ln/>
        </p:spPr>
        <p:txBody>
          <a:bodyPr wrap="square" lIns="0" tIns="0" rIns="0" bIns="0" rtlCol="0" anchor="ctr"/>
          <a:lstStyle/>
          <a:p>
            <a:pPr indent="0" marL="0">
              <a:buNone/>
            </a:pPr>
            <a:r>
              <a:rPr lang="en-US" sz="1600" b="1" dirty="0">
                <a:solidFill>
                  <a:schemeClr val="tx1"/>
                </a:solidFill>
              </a:rPr>
              <a:t>4   Legacy</a:t>
            </a:r>
            <a:endParaRPr lang="en-US" sz="16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9B3C8"/>
                </a:solidFill>
              </a:defRPr>
            </a:lvl1pPr>
          </a:lstStyle>
          <a:p>
            <a:pPr algn="r"/>
            <a:fld id="{F7021451-1387-4CA6-816F-3879F97B5CBC}" type="slidenum">
              <a:rPr b="0" lang="en-US"/>
              <a:t>2</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800">
        <p14:flythrough dir="in"/>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Four centuries in four chapters</a:t>
            </a:r>
            <a:endParaRPr lang="en-US" sz="3600" dirty="0"/>
          </a:p>
        </p:txBody>
      </p:sp>
      <p:sp>
        <p:nvSpPr>
          <p:cNvPr id="3" name="Timeline axis"/>
          <p:cNvSpPr/>
          <p:nvPr/>
        </p:nvSpPr>
        <p:spPr>
          <a:xfrm>
            <a:off x="640080" y="2240280"/>
            <a:ext cx="10881360" cy="0"/>
          </a:xfrm>
          <a:prstGeom prst="line">
            <a:avLst/>
          </a:prstGeom>
          <a:noFill/>
          <a:ln w="25400">
            <a:solidFill>
              <a:schemeClr val="accent1"/>
            </a:solidFill>
            <a:prstDash val="solid"/>
          </a:ln>
        </p:spPr>
      </p:sp>
      <p:sp>
        <p:nvSpPr>
          <p:cNvPr id="4" name="Text 2"/>
          <p:cNvSpPr txBox="1"/>
          <p:nvPr/>
        </p:nvSpPr>
        <p:spPr>
          <a:xfrm>
            <a:off x="640080" y="1463040"/>
            <a:ext cx="25603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1140–1200</a:t>
            </a:r>
            <a:endParaRPr lang="en-US" sz="2400" dirty="0"/>
          </a:p>
        </p:txBody>
      </p:sp>
      <p:sp>
        <p:nvSpPr>
          <p:cNvPr id="5" name="Timeline node 1"/>
          <p:cNvSpPr/>
          <p:nvPr/>
        </p:nvSpPr>
        <p:spPr>
          <a:xfrm>
            <a:off x="658368" y="2103120"/>
            <a:ext cx="274320" cy="274320"/>
          </a:xfrm>
          <a:prstGeom prst="ellipse">
            <a:avLst/>
          </a:prstGeom>
          <a:solidFill>
            <a:schemeClr val="accent2"/>
          </a:solidFill>
          <a:ln w="25400">
            <a:solidFill>
              <a:schemeClr val="accent1"/>
            </a:solidFill>
            <a:prstDash val="solid"/>
          </a:ln>
        </p:spPr>
      </p:sp>
      <p:sp>
        <p:nvSpPr>
          <p:cNvPr id="6" name="Chapter card 1"/>
          <p:cNvSpPr/>
          <p:nvPr/>
        </p:nvSpPr>
        <p:spPr>
          <a:xfrm>
            <a:off x="640080" y="2697480"/>
            <a:ext cx="2560320" cy="3383280"/>
          </a:xfrm>
          <a:prstGeom prst="roundRect">
            <a:avLst>
              <a:gd name="adj" fmla="val 4286"/>
            </a:avLst>
          </a:prstGeom>
          <a:solidFill>
            <a:schemeClr val="bg2"/>
          </a:solidFill>
          <a:ln w="6350">
            <a:solidFill>
              <a:schemeClr val="bg2"/>
            </a:solidFill>
            <a:prstDash val="solid"/>
          </a:ln>
        </p:spPr>
      </p:sp>
      <p:sp>
        <p:nvSpPr>
          <p:cNvPr id="7" name="Text 5"/>
          <p:cNvSpPr txBox="1"/>
          <p:nvPr/>
        </p:nvSpPr>
        <p:spPr>
          <a:xfrm>
            <a:off x="868680" y="2880360"/>
            <a:ext cx="219456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Early Gothic</a:t>
            </a:r>
            <a:endParaRPr lang="en-US" sz="2200" dirty="0"/>
          </a:p>
        </p:txBody>
      </p:sp>
      <p:sp>
        <p:nvSpPr>
          <p:cNvPr id="8" name="Text 6"/>
          <p:cNvSpPr txBox="1"/>
          <p:nvPr/>
        </p:nvSpPr>
        <p:spPr>
          <a:xfrm>
            <a:off x="868680" y="3383280"/>
            <a:ext cx="2194560" cy="457200"/>
          </a:xfrm>
          <a:prstGeom prst="rect">
            <a:avLst/>
          </a:prstGeom>
          <a:noFill/>
          <a:ln/>
        </p:spPr>
        <p:txBody>
          <a:bodyPr wrap="square" lIns="0" tIns="0" rIns="0" bIns="0" rtlCol="0" anchor="t"/>
          <a:lstStyle/>
          <a:p>
            <a:pPr indent="0" marL="0">
              <a:buNone/>
            </a:pPr>
            <a:r>
              <a:rPr lang="en-US" sz="1600" i="1" dirty="0">
                <a:solidFill>
                  <a:schemeClr val="accent1"/>
                </a:solidFill>
              </a:rPr>
              <a:t>Born near Paris</a:t>
            </a:r>
            <a:endParaRPr lang="en-US" sz="1600" dirty="0"/>
          </a:p>
        </p:txBody>
      </p:sp>
      <p:sp>
        <p:nvSpPr>
          <p:cNvPr id="9" name="Text 7"/>
          <p:cNvSpPr txBox="1"/>
          <p:nvPr/>
        </p:nvSpPr>
        <p:spPr>
          <a:xfrm>
            <a:off x="868680" y="4023360"/>
            <a:ext cx="2194560" cy="192024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chemeClr val="tx1"/>
                </a:solidFill>
              </a:rPr>
              <a:t>Saint-Denis (1140)</a:t>
            </a:r>
            <a:endParaRPr lang="en-US" sz="1700" dirty="0"/>
          </a:p>
          <a:p>
            <a:pPr marL="342900" indent="-342900">
              <a:spcAft>
                <a:spcPts val="1200"/>
              </a:spcAft>
              <a:buSzPct val="100000"/>
              <a:buChar char="•"/>
            </a:pPr>
            <a:r>
              <a:rPr lang="en-US" sz="1700" dirty="0">
                <a:solidFill>
                  <a:schemeClr val="tx1"/>
                </a:solidFill>
              </a:rPr>
              <a:t>Sens</a:t>
            </a:r>
            <a:endParaRPr lang="en-US" sz="1700" dirty="0"/>
          </a:p>
          <a:p>
            <a:pPr marL="342900" indent="-342900">
              <a:spcAft>
                <a:spcPts val="1200"/>
              </a:spcAft>
              <a:buSzPct val="100000"/>
              <a:buChar char="•"/>
            </a:pPr>
            <a:r>
              <a:rPr lang="en-US" sz="1700" dirty="0">
                <a:solidFill>
                  <a:schemeClr val="tx1"/>
                </a:solidFill>
              </a:rPr>
              <a:t>Notre-Dame de Paris (1163)</a:t>
            </a:r>
            <a:endParaRPr lang="en-US" sz="1700" dirty="0"/>
          </a:p>
        </p:txBody>
      </p:sp>
      <p:sp>
        <p:nvSpPr>
          <p:cNvPr id="10" name="Text 8"/>
          <p:cNvSpPr txBox="1"/>
          <p:nvPr/>
        </p:nvSpPr>
        <p:spPr>
          <a:xfrm>
            <a:off x="3429000" y="1463040"/>
            <a:ext cx="25603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1200–1240</a:t>
            </a:r>
            <a:endParaRPr lang="en-US" sz="2400" dirty="0"/>
          </a:p>
        </p:txBody>
      </p:sp>
      <p:sp>
        <p:nvSpPr>
          <p:cNvPr id="11" name="Timeline node 2"/>
          <p:cNvSpPr/>
          <p:nvPr/>
        </p:nvSpPr>
        <p:spPr>
          <a:xfrm>
            <a:off x="3447288" y="2103120"/>
            <a:ext cx="274320" cy="274320"/>
          </a:xfrm>
          <a:prstGeom prst="ellipse">
            <a:avLst/>
          </a:prstGeom>
          <a:solidFill>
            <a:schemeClr val="accent3"/>
          </a:solidFill>
          <a:ln w="25400">
            <a:solidFill>
              <a:schemeClr val="accent1"/>
            </a:solidFill>
            <a:prstDash val="solid"/>
          </a:ln>
        </p:spPr>
      </p:sp>
      <p:sp>
        <p:nvSpPr>
          <p:cNvPr id="12" name="Chapter card 2"/>
          <p:cNvSpPr/>
          <p:nvPr/>
        </p:nvSpPr>
        <p:spPr>
          <a:xfrm>
            <a:off x="3429000" y="2697480"/>
            <a:ext cx="2560320" cy="3383280"/>
          </a:xfrm>
          <a:prstGeom prst="roundRect">
            <a:avLst>
              <a:gd name="adj" fmla="val 4286"/>
            </a:avLst>
          </a:prstGeom>
          <a:solidFill>
            <a:schemeClr val="bg2"/>
          </a:solidFill>
          <a:ln w="6350">
            <a:solidFill>
              <a:schemeClr val="bg2"/>
            </a:solidFill>
            <a:prstDash val="solid"/>
          </a:ln>
        </p:spPr>
      </p:sp>
      <p:sp>
        <p:nvSpPr>
          <p:cNvPr id="13" name="Text 11"/>
          <p:cNvSpPr txBox="1"/>
          <p:nvPr/>
        </p:nvSpPr>
        <p:spPr>
          <a:xfrm>
            <a:off x="3657600" y="2880360"/>
            <a:ext cx="219456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High Gothic</a:t>
            </a:r>
            <a:endParaRPr lang="en-US" sz="2200" dirty="0"/>
          </a:p>
        </p:txBody>
      </p:sp>
      <p:sp>
        <p:nvSpPr>
          <p:cNvPr id="14" name="Text 12"/>
          <p:cNvSpPr txBox="1"/>
          <p:nvPr/>
        </p:nvSpPr>
        <p:spPr>
          <a:xfrm>
            <a:off x="3657600" y="3383280"/>
            <a:ext cx="2194560" cy="457200"/>
          </a:xfrm>
          <a:prstGeom prst="rect">
            <a:avLst/>
          </a:prstGeom>
          <a:noFill/>
          <a:ln/>
        </p:spPr>
        <p:txBody>
          <a:bodyPr wrap="square" lIns="0" tIns="0" rIns="0" bIns="0" rtlCol="0" anchor="t"/>
          <a:lstStyle/>
          <a:p>
            <a:pPr indent="0" marL="0">
              <a:buNone/>
            </a:pPr>
            <a:r>
              <a:rPr lang="en-US" sz="1600" i="1" dirty="0">
                <a:solidFill>
                  <a:schemeClr val="accent1"/>
                </a:solidFill>
              </a:rPr>
              <a:t>Taller, lighter, bolder</a:t>
            </a:r>
            <a:endParaRPr lang="en-US" sz="1600" dirty="0"/>
          </a:p>
        </p:txBody>
      </p:sp>
      <p:sp>
        <p:nvSpPr>
          <p:cNvPr id="15" name="Text 13"/>
          <p:cNvSpPr txBox="1"/>
          <p:nvPr/>
        </p:nvSpPr>
        <p:spPr>
          <a:xfrm>
            <a:off x="3657600" y="4023360"/>
            <a:ext cx="2194560" cy="192024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chemeClr val="tx1"/>
                </a:solidFill>
              </a:rPr>
              <a:t>Chartres</a:t>
            </a:r>
            <a:endParaRPr lang="en-US" sz="1700" dirty="0"/>
          </a:p>
          <a:p>
            <a:pPr marL="342900" indent="-342900">
              <a:spcAft>
                <a:spcPts val="1200"/>
              </a:spcAft>
              <a:buSzPct val="100000"/>
              <a:buChar char="•"/>
            </a:pPr>
            <a:r>
              <a:rPr lang="en-US" sz="1700" dirty="0">
                <a:solidFill>
                  <a:schemeClr val="tx1"/>
                </a:solidFill>
              </a:rPr>
              <a:t>Reims</a:t>
            </a:r>
            <a:endParaRPr lang="en-US" sz="1700" dirty="0"/>
          </a:p>
          <a:p>
            <a:pPr marL="342900" indent="-342900">
              <a:spcAft>
                <a:spcPts val="1200"/>
              </a:spcAft>
              <a:buSzPct val="100000"/>
              <a:buChar char="•"/>
            </a:pPr>
            <a:r>
              <a:rPr lang="en-US" sz="1700" dirty="0">
                <a:solidFill>
                  <a:schemeClr val="tx1"/>
                </a:solidFill>
              </a:rPr>
              <a:t>Amiens</a:t>
            </a:r>
            <a:endParaRPr lang="en-US" sz="1700" dirty="0"/>
          </a:p>
        </p:txBody>
      </p:sp>
      <p:sp>
        <p:nvSpPr>
          <p:cNvPr id="16" name="Text 14"/>
          <p:cNvSpPr txBox="1"/>
          <p:nvPr/>
        </p:nvSpPr>
        <p:spPr>
          <a:xfrm>
            <a:off x="6217920" y="1463040"/>
            <a:ext cx="25603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1240–1350</a:t>
            </a:r>
            <a:endParaRPr lang="en-US" sz="2400" dirty="0"/>
          </a:p>
        </p:txBody>
      </p:sp>
      <p:sp>
        <p:nvSpPr>
          <p:cNvPr id="17" name="Timeline node 3"/>
          <p:cNvSpPr/>
          <p:nvPr/>
        </p:nvSpPr>
        <p:spPr>
          <a:xfrm>
            <a:off x="6236208" y="2103120"/>
            <a:ext cx="274320" cy="274320"/>
          </a:xfrm>
          <a:prstGeom prst="ellipse">
            <a:avLst/>
          </a:prstGeom>
          <a:solidFill>
            <a:schemeClr val="accent4"/>
          </a:solidFill>
          <a:ln w="25400">
            <a:solidFill>
              <a:schemeClr val="accent1"/>
            </a:solidFill>
            <a:prstDash val="solid"/>
          </a:ln>
        </p:spPr>
      </p:sp>
      <p:sp>
        <p:nvSpPr>
          <p:cNvPr id="18" name="Chapter card 3"/>
          <p:cNvSpPr/>
          <p:nvPr/>
        </p:nvSpPr>
        <p:spPr>
          <a:xfrm>
            <a:off x="6217920" y="2697480"/>
            <a:ext cx="2560320" cy="3383280"/>
          </a:xfrm>
          <a:prstGeom prst="roundRect">
            <a:avLst>
              <a:gd name="adj" fmla="val 4286"/>
            </a:avLst>
          </a:prstGeom>
          <a:solidFill>
            <a:schemeClr val="bg2"/>
          </a:solidFill>
          <a:ln w="6350">
            <a:solidFill>
              <a:schemeClr val="bg2"/>
            </a:solidFill>
            <a:prstDash val="solid"/>
          </a:ln>
        </p:spPr>
      </p:sp>
      <p:sp>
        <p:nvSpPr>
          <p:cNvPr id="19" name="Text 17"/>
          <p:cNvSpPr txBox="1"/>
          <p:nvPr/>
        </p:nvSpPr>
        <p:spPr>
          <a:xfrm>
            <a:off x="6446520" y="2880360"/>
            <a:ext cx="219456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Rayonnant</a:t>
            </a:r>
            <a:endParaRPr lang="en-US" sz="2200" dirty="0"/>
          </a:p>
        </p:txBody>
      </p:sp>
      <p:sp>
        <p:nvSpPr>
          <p:cNvPr id="20" name="Text 18"/>
          <p:cNvSpPr txBox="1"/>
          <p:nvPr/>
        </p:nvSpPr>
        <p:spPr>
          <a:xfrm>
            <a:off x="6446520" y="3383280"/>
            <a:ext cx="2194560" cy="457200"/>
          </a:xfrm>
          <a:prstGeom prst="rect">
            <a:avLst/>
          </a:prstGeom>
          <a:noFill/>
          <a:ln/>
        </p:spPr>
        <p:txBody>
          <a:bodyPr wrap="square" lIns="0" tIns="0" rIns="0" bIns="0" rtlCol="0" anchor="t"/>
          <a:lstStyle/>
          <a:p>
            <a:pPr indent="0" marL="0">
              <a:buNone/>
            </a:pPr>
            <a:r>
              <a:rPr lang="en-US" sz="1600" i="1" dirty="0">
                <a:solidFill>
                  <a:schemeClr val="accent1"/>
                </a:solidFill>
              </a:rPr>
              <a:t>Walls dissolve into glass</a:t>
            </a:r>
            <a:endParaRPr lang="en-US" sz="1600" dirty="0"/>
          </a:p>
        </p:txBody>
      </p:sp>
      <p:sp>
        <p:nvSpPr>
          <p:cNvPr id="21" name="Text 19"/>
          <p:cNvSpPr txBox="1"/>
          <p:nvPr/>
        </p:nvSpPr>
        <p:spPr>
          <a:xfrm>
            <a:off x="6446520" y="4023360"/>
            <a:ext cx="2194560" cy="192024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chemeClr val="tx1"/>
                </a:solidFill>
              </a:rPr>
              <a:t>Sainte-Chapelle (1248)</a:t>
            </a:r>
            <a:endParaRPr lang="en-US" sz="1700" dirty="0"/>
          </a:p>
          <a:p>
            <a:pPr marL="342900" indent="-342900">
              <a:spcAft>
                <a:spcPts val="1200"/>
              </a:spcAft>
              <a:buSzPct val="100000"/>
              <a:buChar char="•"/>
            </a:pPr>
            <a:r>
              <a:rPr lang="en-US" sz="1700" dirty="0">
                <a:solidFill>
                  <a:schemeClr val="tx1"/>
                </a:solidFill>
              </a:rPr>
              <a:t>Westminster Abbey</a:t>
            </a:r>
            <a:endParaRPr lang="en-US" sz="1700" dirty="0"/>
          </a:p>
          <a:p>
            <a:pPr marL="342900" indent="-342900">
              <a:spcAft>
                <a:spcPts val="1200"/>
              </a:spcAft>
              <a:buSzPct val="100000"/>
              <a:buChar char="•"/>
            </a:pPr>
            <a:r>
              <a:rPr lang="en-US" sz="1700" dirty="0">
                <a:solidFill>
                  <a:schemeClr val="tx1"/>
                </a:solidFill>
              </a:rPr>
              <a:t>Cologne (1248)</a:t>
            </a:r>
            <a:endParaRPr lang="en-US" sz="1700" dirty="0"/>
          </a:p>
        </p:txBody>
      </p:sp>
      <p:sp>
        <p:nvSpPr>
          <p:cNvPr id="22" name="Text 20"/>
          <p:cNvSpPr txBox="1"/>
          <p:nvPr/>
        </p:nvSpPr>
        <p:spPr>
          <a:xfrm>
            <a:off x="9006840" y="1463040"/>
            <a:ext cx="25603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1350–1520</a:t>
            </a:r>
            <a:endParaRPr lang="en-US" sz="2400" dirty="0"/>
          </a:p>
        </p:txBody>
      </p:sp>
      <p:sp>
        <p:nvSpPr>
          <p:cNvPr id="23" name="Timeline node 4"/>
          <p:cNvSpPr/>
          <p:nvPr/>
        </p:nvSpPr>
        <p:spPr>
          <a:xfrm>
            <a:off x="9025128" y="2103120"/>
            <a:ext cx="274320" cy="274320"/>
          </a:xfrm>
          <a:prstGeom prst="ellipse">
            <a:avLst/>
          </a:prstGeom>
          <a:solidFill>
            <a:schemeClr val="accent6"/>
          </a:solidFill>
          <a:ln w="25400">
            <a:solidFill>
              <a:schemeClr val="accent1"/>
            </a:solidFill>
            <a:prstDash val="solid"/>
          </a:ln>
        </p:spPr>
      </p:sp>
      <p:sp>
        <p:nvSpPr>
          <p:cNvPr id="24" name="Chapter card 4"/>
          <p:cNvSpPr/>
          <p:nvPr/>
        </p:nvSpPr>
        <p:spPr>
          <a:xfrm>
            <a:off x="9006840" y="2697480"/>
            <a:ext cx="2560320" cy="3383280"/>
          </a:xfrm>
          <a:prstGeom prst="roundRect">
            <a:avLst>
              <a:gd name="adj" fmla="val 4286"/>
            </a:avLst>
          </a:prstGeom>
          <a:solidFill>
            <a:schemeClr val="bg2"/>
          </a:solidFill>
          <a:ln w="6350">
            <a:solidFill>
              <a:schemeClr val="bg2"/>
            </a:solidFill>
            <a:prstDash val="solid"/>
          </a:ln>
        </p:spPr>
      </p:sp>
      <p:sp>
        <p:nvSpPr>
          <p:cNvPr id="25" name="Text 23"/>
          <p:cNvSpPr txBox="1"/>
          <p:nvPr/>
        </p:nvSpPr>
        <p:spPr>
          <a:xfrm>
            <a:off x="9235440" y="2880360"/>
            <a:ext cx="219456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Late Gothic</a:t>
            </a:r>
            <a:endParaRPr lang="en-US" sz="2200" dirty="0"/>
          </a:p>
        </p:txBody>
      </p:sp>
      <p:sp>
        <p:nvSpPr>
          <p:cNvPr id="26" name="Text 24"/>
          <p:cNvSpPr txBox="1"/>
          <p:nvPr/>
        </p:nvSpPr>
        <p:spPr>
          <a:xfrm>
            <a:off x="9235440" y="3383280"/>
            <a:ext cx="2194560" cy="457200"/>
          </a:xfrm>
          <a:prstGeom prst="rect">
            <a:avLst/>
          </a:prstGeom>
          <a:noFill/>
          <a:ln/>
        </p:spPr>
        <p:txBody>
          <a:bodyPr wrap="square" lIns="0" tIns="0" rIns="0" bIns="0" rtlCol="0" anchor="t"/>
          <a:lstStyle/>
          <a:p>
            <a:pPr indent="0" marL="0">
              <a:buNone/>
            </a:pPr>
            <a:r>
              <a:rPr lang="en-US" sz="1600" i="1" dirty="0">
                <a:solidFill>
                  <a:schemeClr val="accent1"/>
                </a:solidFill>
              </a:rPr>
              <a:t>Flames and fans</a:t>
            </a:r>
            <a:endParaRPr lang="en-US" sz="1600" dirty="0"/>
          </a:p>
        </p:txBody>
      </p:sp>
      <p:sp>
        <p:nvSpPr>
          <p:cNvPr id="27" name="Text 25"/>
          <p:cNvSpPr txBox="1"/>
          <p:nvPr/>
        </p:nvSpPr>
        <p:spPr>
          <a:xfrm>
            <a:off x="9235440" y="4023360"/>
            <a:ext cx="2194560" cy="192024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chemeClr val="tx1"/>
                </a:solidFill>
              </a:rPr>
              <a:t>Flamboyant tracery</a:t>
            </a:r>
            <a:endParaRPr lang="en-US" sz="1700" dirty="0"/>
          </a:p>
          <a:p>
            <a:pPr marL="342900" indent="-342900">
              <a:spcAft>
                <a:spcPts val="1200"/>
              </a:spcAft>
              <a:buSzPct val="100000"/>
              <a:buChar char="•"/>
            </a:pPr>
            <a:r>
              <a:rPr lang="en-US" sz="1700" dirty="0">
                <a:solidFill>
                  <a:schemeClr val="tx1"/>
                </a:solidFill>
              </a:rPr>
              <a:t>Fan vaults, England</a:t>
            </a:r>
            <a:endParaRPr lang="en-US" sz="1700" dirty="0"/>
          </a:p>
          <a:p>
            <a:pPr marL="342900" indent="-342900">
              <a:spcAft>
                <a:spcPts val="1200"/>
              </a:spcAft>
              <a:buSzPct val="100000"/>
              <a:buChar char="•"/>
            </a:pPr>
            <a:r>
              <a:rPr lang="en-US" sz="1700" dirty="0">
                <a:solidFill>
                  <a:schemeClr val="tx1"/>
                </a:solidFill>
              </a:rPr>
              <a:t>After the Black Death (1347)</a:t>
            </a:r>
            <a:endParaRPr lang="en-US" sz="17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9B3C8"/>
                </a:solidFill>
              </a:defRPr>
            </a:lvl1pPr>
          </a:lstStyle>
          <a:p>
            <a:pPr algn="r"/>
            <a:fld id="{F7021451-1387-4CA6-816F-3879F97B5CBC}" type="slidenum">
              <a:rPr b="0" lang="en-US"/>
              <a:t>3</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500">
        <p14:pan dir="r"/>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Built for God: a heaven made of stone</a:t>
            </a:r>
            <a:endParaRPr lang="en-US" sz="3600" dirty="0"/>
          </a:p>
        </p:txBody>
      </p:sp>
      <p:sp>
        <p:nvSpPr>
          <p:cNvPr id="3" name="Quote arch"/>
          <p:cNvSpPr/>
          <p:nvPr/>
        </p:nvSpPr>
        <p:spPr>
          <a:xfrm>
            <a:off x="640080" y="1508760"/>
            <a:ext cx="4023360" cy="4572000"/>
          </a:xfrm>
          <a:custGeom>
            <a:avLst/>
            <a:gdLst/>
            <a:ahLst/>
            <a:cxnLst/>
            <a:rect l="l" t="t" r="r" b="b"/>
            <a:pathLst>
              <a:path w="4023360" h="4572000">
                <a:moveTo>
                  <a:pt x="0" y="4572000"/>
                </a:moveTo>
                <a:lnTo>
                  <a:pt x="0" y="3484230"/>
                </a:lnTo>
                <a:cubicBezTo>
                  <a:pt x="0" y="2046683"/>
                  <a:pt x="766852" y="718572"/>
                  <a:pt x="2011680" y="0"/>
                </a:cubicBezTo>
                <a:cubicBezTo>
                  <a:pt x="3256508" y="718572"/>
                  <a:pt x="4023360" y="2046683"/>
                  <a:pt x="4023360" y="3484230"/>
                </a:cubicBezTo>
                <a:lnTo>
                  <a:pt x="4023360" y="4572000"/>
                </a:lnTo>
                <a:close/>
              </a:path>
            </a:pathLst>
          </a:custGeom>
          <a:solidFill>
            <a:schemeClr val="bg2"/>
          </a:solidFill>
          <a:ln w="19050">
            <a:solidFill>
              <a:schemeClr val="accent1"/>
            </a:solidFill>
            <a:prstDash val="solid"/>
          </a:ln>
        </p:spPr>
      </p:sp>
      <p:sp>
        <p:nvSpPr>
          <p:cNvPr id="4" name="Icon badge sun"/>
          <p:cNvSpPr/>
          <p:nvPr/>
        </p:nvSpPr>
        <p:spPr>
          <a:xfrm>
            <a:off x="2240280" y="2377440"/>
            <a:ext cx="822960" cy="822960"/>
          </a:xfrm>
          <a:prstGeom prst="ellipse">
            <a:avLst/>
          </a:prstGeom>
          <a:solidFill>
            <a:schemeClr val="accent1"/>
          </a:solidFill>
          <a:ln w="6350">
            <a:solidFill>
              <a:schemeClr val="accent1"/>
            </a:solidFill>
            <a:prstDash val="solid"/>
          </a:ln>
        </p:spPr>
      </p:sp>
      <p:pic>
        <p:nvPicPr>
          <p:cNvPr id="5" name="Image 0" descr="sun icon">    </p:cNvPr>
          <p:cNvPicPr>
            <a:picLocks noChangeAspect="1"/>
          </p:cNvPicPr>
          <p:nvPr/>
        </p:nvPicPr>
        <p:blipFill>
          <a:blip r:embed="rId1"/>
          <a:stretch>
            <a:fillRect/>
          </a:stretch>
        </p:blipFill>
        <p:spPr>
          <a:xfrm>
            <a:off x="2413102" y="2550262"/>
            <a:ext cx="477317" cy="477317"/>
          </a:xfrm>
          <a:prstGeom prst="rect">
            <a:avLst/>
          </a:prstGeom>
        </p:spPr>
      </p:pic>
      <p:sp>
        <p:nvSpPr>
          <p:cNvPr id="6" name="Text 3"/>
          <p:cNvSpPr txBox="1"/>
          <p:nvPr/>
        </p:nvSpPr>
        <p:spPr>
          <a:xfrm>
            <a:off x="1051560" y="3520440"/>
            <a:ext cx="3200400" cy="1645920"/>
          </a:xfrm>
          <a:prstGeom prst="rect">
            <a:avLst/>
          </a:prstGeom>
          <a:noFill/>
          <a:ln/>
        </p:spPr>
        <p:txBody>
          <a:bodyPr wrap="square" lIns="0" tIns="0" rIns="0" bIns="0" rtlCol="0" anchor="t"/>
          <a:lstStyle/>
          <a:p>
            <a:pPr algn="ctr" indent="0" marL="0">
              <a:buNone/>
            </a:pPr>
            <a:r>
              <a:rPr lang="en-US" sz="2200" i="1" dirty="0">
                <a:solidFill>
                  <a:schemeClr val="tx1"/>
                </a:solidFill>
                <a:latin typeface="Cambria" pitchFamily="34" charset="0"/>
                <a:ea typeface="Cambria" pitchFamily="34" charset="-122"/>
                <a:cs typeface="Cambria" pitchFamily="34" charset="-120"/>
              </a:rPr>
              <a:t>“The dull mind rises to truth through that which is material.”</a:t>
            </a:r>
            <a:endParaRPr lang="en-US" sz="2200" dirty="0"/>
          </a:p>
        </p:txBody>
      </p:sp>
      <p:sp>
        <p:nvSpPr>
          <p:cNvPr id="7" name="Text 4"/>
          <p:cNvSpPr txBox="1"/>
          <p:nvPr/>
        </p:nvSpPr>
        <p:spPr>
          <a:xfrm>
            <a:off x="1051560" y="5257800"/>
            <a:ext cx="3200400" cy="365760"/>
          </a:xfrm>
          <a:prstGeom prst="rect">
            <a:avLst/>
          </a:prstGeom>
          <a:noFill/>
          <a:ln/>
        </p:spPr>
        <p:txBody>
          <a:bodyPr wrap="square" lIns="0" tIns="0" rIns="0" bIns="0" rtlCol="0" anchor="t"/>
          <a:lstStyle/>
          <a:p>
            <a:pPr algn="ctr" indent="0" marL="0">
              <a:buNone/>
            </a:pPr>
            <a:r>
              <a:rPr lang="en-US" sz="1400" dirty="0">
                <a:solidFill>
                  <a:schemeClr val="accent1"/>
                </a:solidFill>
              </a:rPr>
              <a:t>Abbot Suger, Saint-Denis, c. 1144</a:t>
            </a:r>
            <a:endParaRPr lang="en-US" sz="1400" dirty="0"/>
          </a:p>
        </p:txBody>
      </p:sp>
      <p:sp>
        <p:nvSpPr>
          <p:cNvPr id="8" name="Idea card 1"/>
          <p:cNvSpPr/>
          <p:nvPr/>
        </p:nvSpPr>
        <p:spPr>
          <a:xfrm>
            <a:off x="5120640" y="1600200"/>
            <a:ext cx="6400800" cy="1371600"/>
          </a:xfrm>
          <a:prstGeom prst="roundRect">
            <a:avLst>
              <a:gd name="adj" fmla="val 8000"/>
            </a:avLst>
          </a:prstGeom>
          <a:solidFill>
            <a:schemeClr val="bg2"/>
          </a:solidFill>
          <a:ln w="6350">
            <a:solidFill>
              <a:schemeClr val="bg2"/>
            </a:solidFill>
            <a:prstDash val="solid"/>
          </a:ln>
        </p:spPr>
      </p:sp>
      <p:sp>
        <p:nvSpPr>
          <p:cNvPr id="9" name="Icon badge sun"/>
          <p:cNvSpPr/>
          <p:nvPr/>
        </p:nvSpPr>
        <p:spPr>
          <a:xfrm>
            <a:off x="5349240" y="1901952"/>
            <a:ext cx="777240" cy="777240"/>
          </a:xfrm>
          <a:prstGeom prst="ellipse">
            <a:avLst/>
          </a:prstGeom>
          <a:solidFill>
            <a:schemeClr val="accent1"/>
          </a:solidFill>
          <a:ln w="6350">
            <a:solidFill>
              <a:schemeClr val="accent1"/>
            </a:solidFill>
            <a:prstDash val="solid"/>
          </a:ln>
        </p:spPr>
      </p:sp>
      <p:pic>
        <p:nvPicPr>
          <p:cNvPr id="10" name="Image 1" descr="sun icon">    </p:cNvPr>
          <p:cNvPicPr>
            <a:picLocks noChangeAspect="1"/>
          </p:cNvPicPr>
          <p:nvPr/>
        </p:nvPicPr>
        <p:blipFill>
          <a:blip r:embed="rId2"/>
          <a:stretch>
            <a:fillRect/>
          </a:stretch>
        </p:blipFill>
        <p:spPr>
          <a:xfrm>
            <a:off x="5512460" y="2065172"/>
            <a:ext cx="450799" cy="450799"/>
          </a:xfrm>
          <a:prstGeom prst="rect">
            <a:avLst/>
          </a:prstGeom>
        </p:spPr>
      </p:pic>
      <p:sp>
        <p:nvSpPr>
          <p:cNvPr id="11" name="Text 7"/>
          <p:cNvSpPr txBox="1"/>
          <p:nvPr/>
        </p:nvSpPr>
        <p:spPr>
          <a:xfrm>
            <a:off x="6400800" y="1783080"/>
            <a:ext cx="4937760" cy="41148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Light is divine</a:t>
            </a:r>
            <a:endParaRPr lang="en-US" sz="2100" dirty="0"/>
          </a:p>
        </p:txBody>
      </p:sp>
      <p:sp>
        <p:nvSpPr>
          <p:cNvPr id="12" name="Text 8"/>
          <p:cNvSpPr txBox="1"/>
          <p:nvPr/>
        </p:nvSpPr>
        <p:spPr>
          <a:xfrm>
            <a:off x="6400800" y="2240280"/>
            <a:ext cx="4937760" cy="640080"/>
          </a:xfrm>
          <a:prstGeom prst="rect">
            <a:avLst/>
          </a:prstGeom>
          <a:noFill/>
          <a:ln/>
        </p:spPr>
        <p:txBody>
          <a:bodyPr wrap="square" lIns="0" tIns="0" rIns="0" bIns="0" rtlCol="0" anchor="t"/>
          <a:lstStyle/>
          <a:p>
            <a:pPr indent="0" marL="0">
              <a:buNone/>
            </a:pPr>
            <a:r>
              <a:rPr lang="en-US" sz="1500" dirty="0">
                <a:solidFill>
                  <a:schemeClr val="tx1"/>
                </a:solidFill>
              </a:rPr>
              <a:t>God is pure light. Windows, gold and jewels lift the soul towards heaven.</a:t>
            </a:r>
            <a:endParaRPr lang="en-US" sz="1500" dirty="0"/>
          </a:p>
        </p:txBody>
      </p:sp>
      <p:sp>
        <p:nvSpPr>
          <p:cNvPr id="13" name="Idea card 2"/>
          <p:cNvSpPr/>
          <p:nvPr/>
        </p:nvSpPr>
        <p:spPr>
          <a:xfrm>
            <a:off x="5120640" y="3154680"/>
            <a:ext cx="6400800" cy="1371600"/>
          </a:xfrm>
          <a:prstGeom prst="roundRect">
            <a:avLst>
              <a:gd name="adj" fmla="val 8000"/>
            </a:avLst>
          </a:prstGeom>
          <a:solidFill>
            <a:schemeClr val="bg2"/>
          </a:solidFill>
          <a:ln w="6350">
            <a:solidFill>
              <a:schemeClr val="bg2"/>
            </a:solidFill>
            <a:prstDash val="solid"/>
          </a:ln>
        </p:spPr>
      </p:sp>
      <p:sp>
        <p:nvSpPr>
          <p:cNvPr id="14" name="Icon badge cross"/>
          <p:cNvSpPr/>
          <p:nvPr/>
        </p:nvSpPr>
        <p:spPr>
          <a:xfrm>
            <a:off x="5349240" y="3456432"/>
            <a:ext cx="777240" cy="777240"/>
          </a:xfrm>
          <a:prstGeom prst="ellipse">
            <a:avLst/>
          </a:prstGeom>
          <a:solidFill>
            <a:schemeClr val="accent1"/>
          </a:solidFill>
          <a:ln w="6350">
            <a:solidFill>
              <a:schemeClr val="accent1"/>
            </a:solidFill>
            <a:prstDash val="solid"/>
          </a:ln>
        </p:spPr>
      </p:sp>
      <p:pic>
        <p:nvPicPr>
          <p:cNvPr id="15" name="Image 2" descr="cross icon">    </p:cNvPr>
          <p:cNvPicPr>
            <a:picLocks noChangeAspect="1"/>
          </p:cNvPicPr>
          <p:nvPr/>
        </p:nvPicPr>
        <p:blipFill>
          <a:blip r:embed="rId3"/>
          <a:stretch>
            <a:fillRect/>
          </a:stretch>
        </p:blipFill>
        <p:spPr>
          <a:xfrm>
            <a:off x="5512460" y="3619652"/>
            <a:ext cx="450799" cy="450799"/>
          </a:xfrm>
          <a:prstGeom prst="rect">
            <a:avLst/>
          </a:prstGeom>
        </p:spPr>
      </p:pic>
      <p:sp>
        <p:nvSpPr>
          <p:cNvPr id="16" name="Text 11"/>
          <p:cNvSpPr txBox="1"/>
          <p:nvPr/>
        </p:nvSpPr>
        <p:spPr>
          <a:xfrm>
            <a:off x="6400800" y="3337560"/>
            <a:ext cx="4937760" cy="41148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Mary and the pilgrims</a:t>
            </a:r>
            <a:endParaRPr lang="en-US" sz="2100" dirty="0"/>
          </a:p>
        </p:txBody>
      </p:sp>
      <p:sp>
        <p:nvSpPr>
          <p:cNvPr id="17" name="Text 12"/>
          <p:cNvSpPr txBox="1"/>
          <p:nvPr/>
        </p:nvSpPr>
        <p:spPr>
          <a:xfrm>
            <a:off x="6400800" y="3794760"/>
            <a:ext cx="4937760" cy="640080"/>
          </a:xfrm>
          <a:prstGeom prst="rect">
            <a:avLst/>
          </a:prstGeom>
          <a:noFill/>
          <a:ln/>
        </p:spPr>
        <p:txBody>
          <a:bodyPr wrap="square" lIns="0" tIns="0" rIns="0" bIns="0" rtlCol="0" anchor="t"/>
          <a:lstStyle/>
          <a:p>
            <a:pPr indent="0" marL="0">
              <a:buNone/>
            </a:pPr>
            <a:r>
              <a:rPr lang="en-US" sz="1500" dirty="0">
                <a:solidFill>
                  <a:schemeClr val="tx1"/>
                </a:solidFill>
              </a:rPr>
              <a:t>Notre-Dame means “Our Lady”. Relics drew crowds, and their gifts paid the builders.</a:t>
            </a:r>
            <a:endParaRPr lang="en-US" sz="1500" dirty="0"/>
          </a:p>
        </p:txBody>
      </p:sp>
      <p:sp>
        <p:nvSpPr>
          <p:cNvPr id="18" name="Idea card 3"/>
          <p:cNvSpPr/>
          <p:nvPr/>
        </p:nvSpPr>
        <p:spPr>
          <a:xfrm>
            <a:off x="5120640" y="4709160"/>
            <a:ext cx="6400800" cy="1371600"/>
          </a:xfrm>
          <a:prstGeom prst="roundRect">
            <a:avLst>
              <a:gd name="adj" fmla="val 8000"/>
            </a:avLst>
          </a:prstGeom>
          <a:solidFill>
            <a:schemeClr val="bg2"/>
          </a:solidFill>
          <a:ln w="6350">
            <a:solidFill>
              <a:schemeClr val="bg2"/>
            </a:solidFill>
            <a:prstDash val="solid"/>
          </a:ln>
        </p:spPr>
      </p:sp>
      <p:sp>
        <p:nvSpPr>
          <p:cNvPr id="19" name="Icon badge crown"/>
          <p:cNvSpPr/>
          <p:nvPr/>
        </p:nvSpPr>
        <p:spPr>
          <a:xfrm>
            <a:off x="5349240" y="5010912"/>
            <a:ext cx="777240" cy="777240"/>
          </a:xfrm>
          <a:prstGeom prst="ellipse">
            <a:avLst/>
          </a:prstGeom>
          <a:solidFill>
            <a:schemeClr val="accent1"/>
          </a:solidFill>
          <a:ln w="6350">
            <a:solidFill>
              <a:schemeClr val="accent1"/>
            </a:solidFill>
            <a:prstDash val="solid"/>
          </a:ln>
        </p:spPr>
      </p:sp>
      <p:pic>
        <p:nvPicPr>
          <p:cNvPr id="20" name="Image 3" descr="crown icon">    </p:cNvPr>
          <p:cNvPicPr>
            <a:picLocks noChangeAspect="1"/>
          </p:cNvPicPr>
          <p:nvPr/>
        </p:nvPicPr>
        <p:blipFill>
          <a:blip r:embed="rId4"/>
          <a:stretch>
            <a:fillRect/>
          </a:stretch>
        </p:blipFill>
        <p:spPr>
          <a:xfrm>
            <a:off x="5512460" y="5174132"/>
            <a:ext cx="450799" cy="450799"/>
          </a:xfrm>
          <a:prstGeom prst="rect">
            <a:avLst/>
          </a:prstGeom>
        </p:spPr>
      </p:pic>
      <p:sp>
        <p:nvSpPr>
          <p:cNvPr id="21" name="Text 15"/>
          <p:cNvSpPr txBox="1"/>
          <p:nvPr/>
        </p:nvSpPr>
        <p:spPr>
          <a:xfrm>
            <a:off x="6400800" y="4892040"/>
            <a:ext cx="4937760" cy="41148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Power and pride</a:t>
            </a:r>
            <a:endParaRPr lang="en-US" sz="2100" dirty="0"/>
          </a:p>
        </p:txBody>
      </p:sp>
      <p:sp>
        <p:nvSpPr>
          <p:cNvPr id="22" name="Text 16"/>
          <p:cNvSpPr txBox="1"/>
          <p:nvPr/>
        </p:nvSpPr>
        <p:spPr>
          <a:xfrm>
            <a:off x="6400800" y="5349240"/>
            <a:ext cx="4937760" cy="640080"/>
          </a:xfrm>
          <a:prstGeom prst="rect">
            <a:avLst/>
          </a:prstGeom>
          <a:noFill/>
          <a:ln/>
        </p:spPr>
        <p:txBody>
          <a:bodyPr wrap="square" lIns="0" tIns="0" rIns="0" bIns="0" rtlCol="0" anchor="t"/>
          <a:lstStyle/>
          <a:p>
            <a:pPr indent="0" marL="0">
              <a:buNone/>
            </a:pPr>
            <a:r>
              <a:rPr lang="en-US" sz="1500" dirty="0">
                <a:solidFill>
                  <a:schemeClr val="tx1"/>
                </a:solidFill>
              </a:rPr>
              <a:t>Bishops, kings and cities competed. A taller cathedral meant a more important town.</a:t>
            </a:r>
            <a:endParaRPr lang="en-US" sz="15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9B3C8"/>
                </a:solidFill>
              </a:defRPr>
            </a:lvl1pPr>
          </a:lstStyle>
          <a:p>
            <a:pPr algn="r"/>
            <a:fld id="{F7021451-1387-4CA6-816F-3879F97B5CBC}" type="slidenum">
              <a:rPr b="0" lang="en-US"/>
              <a:t>4</a:t>
            </a:fld>
            <a:endParaRPr lang="en-US"/>
          </a:p>
        </p:txBody>
      </p:sp>
    </p:spTree>
  </p:cSld>
  <p:clrMapOvr>
    <a:masterClrMapping/>
  </p:clrMapOvr>
  <mc:AlternateContent xmlns:mc="http://schemas.openxmlformats.org/markup-compatibility/2006">
    <mc:Choice xmlns:p14="http://schemas.microsoft.com/office/powerpoint/2010/main" Requires="p14">
      <p:transition spd="slow" p14:dur="2000">
        <p14:ripple dir="center"/>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From fortress-church to lantern</a:t>
            </a:r>
            <a:endParaRPr lang="en-US" sz="3600" dirty="0"/>
          </a:p>
        </p:txBody>
      </p:sp>
      <p:pic>
        <p:nvPicPr>
          <p:cNvPr id="3" name="Image 0" descr="Round Romanesque arch with strong sideways thrust">    </p:cNvPr>
          <p:cNvPicPr>
            <a:picLocks noChangeAspect="1"/>
          </p:cNvPicPr>
          <p:nvPr/>
        </p:nvPicPr>
        <p:blipFill>
          <a:blip r:embed="rId1"/>
          <a:stretch>
            <a:fillRect/>
          </a:stretch>
        </p:blipFill>
        <p:spPr>
          <a:xfrm>
            <a:off x="4114800" y="1280160"/>
            <a:ext cx="1828800" cy="1828800"/>
          </a:xfrm>
          <a:prstGeom prst="rect">
            <a:avLst/>
          </a:prstGeom>
        </p:spPr>
      </p:pic>
      <p:pic>
        <p:nvPicPr>
          <p:cNvPr id="4" name="Image 1" descr="Pointed Gothic arch with small sideways thrust">    </p:cNvPr>
          <p:cNvPicPr>
            <a:picLocks noChangeAspect="1"/>
          </p:cNvPicPr>
          <p:nvPr/>
        </p:nvPicPr>
        <p:blipFill>
          <a:blip r:embed="rId2"/>
          <a:stretch>
            <a:fillRect/>
          </a:stretch>
        </p:blipFill>
        <p:spPr>
          <a:xfrm>
            <a:off x="8686800" y="1280160"/>
            <a:ext cx="1828800" cy="1828800"/>
          </a:xfrm>
          <a:prstGeom prst="rect">
            <a:avLst/>
          </a:prstGeom>
        </p:spPr>
      </p:pic>
      <p:sp>
        <p:nvSpPr>
          <p:cNvPr id="5" name="Text 1"/>
          <p:cNvSpPr txBox="1"/>
          <p:nvPr/>
        </p:nvSpPr>
        <p:spPr>
          <a:xfrm>
            <a:off x="2926080" y="3108960"/>
            <a:ext cx="4206240" cy="685800"/>
          </a:xfrm>
          <a:prstGeom prst="rect">
            <a:avLst/>
          </a:prstGeom>
          <a:noFill/>
          <a:ln/>
        </p:spPr>
        <p:txBody>
          <a:bodyPr wrap="square" lIns="0" tIns="0" rIns="0" bIns="0" rtlCol="0" anchor="t"/>
          <a:lstStyle/>
          <a:p>
            <a:pPr algn="ctr" indent="0" marL="0">
              <a:buNone/>
            </a:pPr>
            <a:r>
              <a:rPr lang="en-US" sz="2000" b="1" dirty="0">
                <a:solidFill>
                  <a:schemeClr val="tx1"/>
                </a:solidFill>
                <a:latin typeface="Cambria" pitchFamily="34" charset="0"/>
                <a:ea typeface="Cambria" pitchFamily="34" charset="-122"/>
                <a:cs typeface="Cambria" pitchFamily="34" charset="-120"/>
              </a:rPr>
              <a:t>ROMANESQUE</a:t>
            </a:r>
            <a:endParaRPr lang="en-US" sz="1400" dirty="0"/>
          </a:p>
          <a:p>
            <a:pPr algn="ctr" indent="0" marL="0">
              <a:buNone/>
            </a:pPr>
            <a:r>
              <a:rPr lang="en-US" sz="1400" dirty="0">
                <a:solidFill>
                  <a:schemeClr val="tx2"/>
                </a:solidFill>
              </a:rPr>
              <a:t>c. 1000–1150</a:t>
            </a:r>
            <a:endParaRPr lang="en-US" sz="1400" dirty="0"/>
          </a:p>
        </p:txBody>
      </p:sp>
      <p:sp>
        <p:nvSpPr>
          <p:cNvPr id="6" name="Text 2"/>
          <p:cNvSpPr txBox="1"/>
          <p:nvPr/>
        </p:nvSpPr>
        <p:spPr>
          <a:xfrm>
            <a:off x="7498080" y="3108960"/>
            <a:ext cx="4206240" cy="685800"/>
          </a:xfrm>
          <a:prstGeom prst="rect">
            <a:avLst/>
          </a:prstGeom>
          <a:noFill/>
          <a:ln/>
        </p:spPr>
        <p:txBody>
          <a:bodyPr wrap="square" lIns="0" tIns="0" rIns="0" bIns="0" rtlCol="0" anchor="t"/>
          <a:lstStyle/>
          <a:p>
            <a:pPr algn="ctr" indent="0" marL="0">
              <a:buNone/>
            </a:pPr>
            <a:r>
              <a:rPr lang="en-US" sz="2000" b="1" dirty="0">
                <a:solidFill>
                  <a:schemeClr val="accent1"/>
                </a:solidFill>
                <a:latin typeface="Cambria" pitchFamily="34" charset="0"/>
                <a:ea typeface="Cambria" pitchFamily="34" charset="-122"/>
                <a:cs typeface="Cambria" pitchFamily="34" charset="-120"/>
              </a:rPr>
              <a:t>GOTHIC</a:t>
            </a:r>
            <a:endParaRPr lang="en-US" sz="1400" dirty="0"/>
          </a:p>
          <a:p>
            <a:pPr algn="ctr" indent="0" marL="0">
              <a:buNone/>
            </a:pPr>
            <a:r>
              <a:rPr lang="en-US" sz="1400" dirty="0">
                <a:solidFill>
                  <a:schemeClr val="tx2"/>
                </a:solidFill>
              </a:rPr>
              <a:t>c. 1140–1500</a:t>
            </a:r>
            <a:endParaRPr lang="en-US" sz="1400" dirty="0"/>
          </a:p>
        </p:txBody>
      </p:sp>
      <p:sp>
        <p:nvSpPr>
          <p:cNvPr id="7" name="Gothic column highlight"/>
          <p:cNvSpPr/>
          <p:nvPr/>
        </p:nvSpPr>
        <p:spPr>
          <a:xfrm>
            <a:off x="7315200" y="3840480"/>
            <a:ext cx="4389120" cy="2377440"/>
          </a:xfrm>
          <a:prstGeom prst="roundRect">
            <a:avLst>
              <a:gd name="adj" fmla="val 4615"/>
            </a:avLst>
          </a:prstGeom>
          <a:solidFill>
            <a:schemeClr val="bg2"/>
          </a:solidFill>
          <a:ln w="19050">
            <a:solidFill>
              <a:schemeClr val="accent1"/>
            </a:solidFill>
            <a:prstDash val="solid"/>
          </a:ln>
        </p:spPr>
      </p:sp>
      <p:sp>
        <p:nvSpPr>
          <p:cNvPr id="8" name="Text 4"/>
          <p:cNvSpPr txBox="1"/>
          <p:nvPr/>
        </p:nvSpPr>
        <p:spPr>
          <a:xfrm>
            <a:off x="640080" y="3886200"/>
            <a:ext cx="2011680" cy="457200"/>
          </a:xfrm>
          <a:prstGeom prst="rect">
            <a:avLst/>
          </a:prstGeom>
          <a:noFill/>
          <a:ln/>
        </p:spPr>
        <p:txBody>
          <a:bodyPr wrap="square" lIns="0" tIns="0" rIns="0" bIns="0" rtlCol="0" anchor="ctr"/>
          <a:lstStyle/>
          <a:p>
            <a:pPr indent="0" marL="0">
              <a:buNone/>
            </a:pPr>
            <a:r>
              <a:rPr lang="en-US" sz="1400" b="1" spc="200" kern="0" dirty="0">
                <a:solidFill>
                  <a:schemeClr val="tx2"/>
                </a:solidFill>
              </a:rPr>
              <a:t>ARCH</a:t>
            </a:r>
            <a:endParaRPr lang="en-US" sz="1400" dirty="0"/>
          </a:p>
        </p:txBody>
      </p:sp>
      <p:sp>
        <p:nvSpPr>
          <p:cNvPr id="9" name="Text 5"/>
          <p:cNvSpPr txBox="1"/>
          <p:nvPr/>
        </p:nvSpPr>
        <p:spPr>
          <a:xfrm>
            <a:off x="2926080" y="3886200"/>
            <a:ext cx="4206240" cy="457200"/>
          </a:xfrm>
          <a:prstGeom prst="rect">
            <a:avLst/>
          </a:prstGeom>
          <a:noFill/>
          <a:ln/>
        </p:spPr>
        <p:txBody>
          <a:bodyPr wrap="square" lIns="0" tIns="0" rIns="0" bIns="0" rtlCol="0" anchor="ctr"/>
          <a:lstStyle/>
          <a:p>
            <a:pPr algn="ctr" indent="0" marL="0">
              <a:buNone/>
            </a:pPr>
            <a:r>
              <a:rPr lang="en-US" sz="1600" dirty="0">
                <a:solidFill>
                  <a:schemeClr val="tx1"/>
                </a:solidFill>
              </a:rPr>
              <a:t>Round</a:t>
            </a:r>
            <a:endParaRPr lang="en-US" sz="1600" dirty="0"/>
          </a:p>
        </p:txBody>
      </p:sp>
      <p:sp>
        <p:nvSpPr>
          <p:cNvPr id="10" name="Text 6"/>
          <p:cNvSpPr txBox="1"/>
          <p:nvPr/>
        </p:nvSpPr>
        <p:spPr>
          <a:xfrm>
            <a:off x="7498080" y="3886200"/>
            <a:ext cx="4206240" cy="457200"/>
          </a:xfrm>
          <a:prstGeom prst="rect">
            <a:avLst/>
          </a:prstGeom>
          <a:noFill/>
          <a:ln/>
        </p:spPr>
        <p:txBody>
          <a:bodyPr wrap="square" lIns="0" tIns="0" rIns="0" bIns="0" rtlCol="0" anchor="ctr"/>
          <a:lstStyle/>
          <a:p>
            <a:pPr algn="ctr" indent="0" marL="0">
              <a:buNone/>
            </a:pPr>
            <a:r>
              <a:rPr lang="en-US" sz="1600" b="1" dirty="0">
                <a:solidFill>
                  <a:schemeClr val="tx1"/>
                </a:solidFill>
              </a:rPr>
              <a:t>Pointed</a:t>
            </a:r>
            <a:endParaRPr lang="en-US" sz="1600" dirty="0"/>
          </a:p>
        </p:txBody>
      </p:sp>
      <p:sp>
        <p:nvSpPr>
          <p:cNvPr id="11" name="Text 7"/>
          <p:cNvSpPr txBox="1"/>
          <p:nvPr/>
        </p:nvSpPr>
        <p:spPr>
          <a:xfrm>
            <a:off x="640080" y="4343400"/>
            <a:ext cx="2011680" cy="457200"/>
          </a:xfrm>
          <a:prstGeom prst="rect">
            <a:avLst/>
          </a:prstGeom>
          <a:noFill/>
          <a:ln/>
        </p:spPr>
        <p:txBody>
          <a:bodyPr wrap="square" lIns="0" tIns="0" rIns="0" bIns="0" rtlCol="0" anchor="ctr"/>
          <a:lstStyle/>
          <a:p>
            <a:pPr indent="0" marL="0">
              <a:buNone/>
            </a:pPr>
            <a:r>
              <a:rPr lang="en-US" sz="1400" b="1" spc="200" kern="0" dirty="0">
                <a:solidFill>
                  <a:schemeClr val="tx2"/>
                </a:solidFill>
              </a:rPr>
              <a:t>VAULT</a:t>
            </a:r>
            <a:endParaRPr lang="en-US" sz="1400" dirty="0"/>
          </a:p>
        </p:txBody>
      </p:sp>
      <p:sp>
        <p:nvSpPr>
          <p:cNvPr id="12" name="Text 8"/>
          <p:cNvSpPr txBox="1"/>
          <p:nvPr/>
        </p:nvSpPr>
        <p:spPr>
          <a:xfrm>
            <a:off x="2926080" y="4343400"/>
            <a:ext cx="4206240" cy="457200"/>
          </a:xfrm>
          <a:prstGeom prst="rect">
            <a:avLst/>
          </a:prstGeom>
          <a:noFill/>
          <a:ln/>
        </p:spPr>
        <p:txBody>
          <a:bodyPr wrap="square" lIns="0" tIns="0" rIns="0" bIns="0" rtlCol="0" anchor="ctr"/>
          <a:lstStyle/>
          <a:p>
            <a:pPr algn="ctr" indent="0" marL="0">
              <a:buNone/>
            </a:pPr>
            <a:r>
              <a:rPr lang="en-US" sz="1600" dirty="0">
                <a:solidFill>
                  <a:schemeClr val="tx1"/>
                </a:solidFill>
              </a:rPr>
              <a:t>Heavy barrel or groin vault</a:t>
            </a:r>
            <a:endParaRPr lang="en-US" sz="1600" dirty="0"/>
          </a:p>
        </p:txBody>
      </p:sp>
      <p:sp>
        <p:nvSpPr>
          <p:cNvPr id="13" name="Text 9"/>
          <p:cNvSpPr txBox="1"/>
          <p:nvPr/>
        </p:nvSpPr>
        <p:spPr>
          <a:xfrm>
            <a:off x="7498080" y="4343400"/>
            <a:ext cx="4206240" cy="457200"/>
          </a:xfrm>
          <a:prstGeom prst="rect">
            <a:avLst/>
          </a:prstGeom>
          <a:noFill/>
          <a:ln/>
        </p:spPr>
        <p:txBody>
          <a:bodyPr wrap="square" lIns="0" tIns="0" rIns="0" bIns="0" rtlCol="0" anchor="ctr"/>
          <a:lstStyle/>
          <a:p>
            <a:pPr algn="ctr" indent="0" marL="0">
              <a:buNone/>
            </a:pPr>
            <a:r>
              <a:rPr lang="en-US" sz="1600" b="1" dirty="0">
                <a:solidFill>
                  <a:schemeClr val="tx1"/>
                </a:solidFill>
              </a:rPr>
              <a:t>Light ribbed vault</a:t>
            </a:r>
            <a:endParaRPr lang="en-US" sz="1600" dirty="0"/>
          </a:p>
        </p:txBody>
      </p:sp>
      <p:sp>
        <p:nvSpPr>
          <p:cNvPr id="14" name="Text 10"/>
          <p:cNvSpPr txBox="1"/>
          <p:nvPr/>
        </p:nvSpPr>
        <p:spPr>
          <a:xfrm>
            <a:off x="640080" y="4800600"/>
            <a:ext cx="2011680" cy="457200"/>
          </a:xfrm>
          <a:prstGeom prst="rect">
            <a:avLst/>
          </a:prstGeom>
          <a:noFill/>
          <a:ln/>
        </p:spPr>
        <p:txBody>
          <a:bodyPr wrap="square" lIns="0" tIns="0" rIns="0" bIns="0" rtlCol="0" anchor="ctr"/>
          <a:lstStyle/>
          <a:p>
            <a:pPr indent="0" marL="0">
              <a:buNone/>
            </a:pPr>
            <a:r>
              <a:rPr lang="en-US" sz="1400" b="1" spc="200" kern="0" dirty="0">
                <a:solidFill>
                  <a:schemeClr val="tx2"/>
                </a:solidFill>
              </a:rPr>
              <a:t>WALLS</a:t>
            </a:r>
            <a:endParaRPr lang="en-US" sz="1400" dirty="0"/>
          </a:p>
        </p:txBody>
      </p:sp>
      <p:sp>
        <p:nvSpPr>
          <p:cNvPr id="15" name="Text 11"/>
          <p:cNvSpPr txBox="1"/>
          <p:nvPr/>
        </p:nvSpPr>
        <p:spPr>
          <a:xfrm>
            <a:off x="2926080" y="4800600"/>
            <a:ext cx="4206240" cy="457200"/>
          </a:xfrm>
          <a:prstGeom prst="rect">
            <a:avLst/>
          </a:prstGeom>
          <a:noFill/>
          <a:ln/>
        </p:spPr>
        <p:txBody>
          <a:bodyPr wrap="square" lIns="0" tIns="0" rIns="0" bIns="0" rtlCol="0" anchor="ctr"/>
          <a:lstStyle/>
          <a:p>
            <a:pPr algn="ctr" indent="0" marL="0">
              <a:buNone/>
            </a:pPr>
            <a:r>
              <a:rPr lang="en-US" sz="1600" dirty="0">
                <a:solidFill>
                  <a:schemeClr val="tx1"/>
                </a:solidFill>
              </a:rPr>
              <a:t>Thick, load-bearing mass</a:t>
            </a:r>
            <a:endParaRPr lang="en-US" sz="1600" dirty="0"/>
          </a:p>
        </p:txBody>
      </p:sp>
      <p:sp>
        <p:nvSpPr>
          <p:cNvPr id="16" name="Text 12"/>
          <p:cNvSpPr txBox="1"/>
          <p:nvPr/>
        </p:nvSpPr>
        <p:spPr>
          <a:xfrm>
            <a:off x="7498080" y="4800600"/>
            <a:ext cx="4206240" cy="457200"/>
          </a:xfrm>
          <a:prstGeom prst="rect">
            <a:avLst/>
          </a:prstGeom>
          <a:noFill/>
          <a:ln/>
        </p:spPr>
        <p:txBody>
          <a:bodyPr wrap="square" lIns="0" tIns="0" rIns="0" bIns="0" rtlCol="0" anchor="ctr"/>
          <a:lstStyle/>
          <a:p>
            <a:pPr algn="ctr" indent="0" marL="0">
              <a:buNone/>
            </a:pPr>
            <a:r>
              <a:rPr lang="en-US" sz="1600" b="1" dirty="0">
                <a:solidFill>
                  <a:schemeClr val="tx1"/>
                </a:solidFill>
              </a:rPr>
              <a:t>Thin skin on a stone skeleton</a:t>
            </a:r>
            <a:endParaRPr lang="en-US" sz="1600" dirty="0"/>
          </a:p>
        </p:txBody>
      </p:sp>
      <p:sp>
        <p:nvSpPr>
          <p:cNvPr id="17" name="Text 13"/>
          <p:cNvSpPr txBox="1"/>
          <p:nvPr/>
        </p:nvSpPr>
        <p:spPr>
          <a:xfrm>
            <a:off x="640080" y="5257800"/>
            <a:ext cx="2011680" cy="457200"/>
          </a:xfrm>
          <a:prstGeom prst="rect">
            <a:avLst/>
          </a:prstGeom>
          <a:noFill/>
          <a:ln/>
        </p:spPr>
        <p:txBody>
          <a:bodyPr wrap="square" lIns="0" tIns="0" rIns="0" bIns="0" rtlCol="0" anchor="ctr"/>
          <a:lstStyle/>
          <a:p>
            <a:pPr indent="0" marL="0">
              <a:buNone/>
            </a:pPr>
            <a:r>
              <a:rPr lang="en-US" sz="1400" b="1" spc="200" kern="0" dirty="0">
                <a:solidFill>
                  <a:schemeClr val="tx2"/>
                </a:solidFill>
              </a:rPr>
              <a:t>WINDOWS</a:t>
            </a:r>
            <a:endParaRPr lang="en-US" sz="1400" dirty="0"/>
          </a:p>
        </p:txBody>
      </p:sp>
      <p:sp>
        <p:nvSpPr>
          <p:cNvPr id="18" name="Text 14"/>
          <p:cNvSpPr txBox="1"/>
          <p:nvPr/>
        </p:nvSpPr>
        <p:spPr>
          <a:xfrm>
            <a:off x="2926080" y="5257800"/>
            <a:ext cx="4206240" cy="457200"/>
          </a:xfrm>
          <a:prstGeom prst="rect">
            <a:avLst/>
          </a:prstGeom>
          <a:noFill/>
          <a:ln/>
        </p:spPr>
        <p:txBody>
          <a:bodyPr wrap="square" lIns="0" tIns="0" rIns="0" bIns="0" rtlCol="0" anchor="ctr"/>
          <a:lstStyle/>
          <a:p>
            <a:pPr algn="ctr" indent="0" marL="0">
              <a:buNone/>
            </a:pPr>
            <a:r>
              <a:rPr lang="en-US" sz="1600" dirty="0">
                <a:solidFill>
                  <a:schemeClr val="tx1"/>
                </a:solidFill>
              </a:rPr>
              <a:t>Small and few</a:t>
            </a:r>
            <a:endParaRPr lang="en-US" sz="1600" dirty="0"/>
          </a:p>
        </p:txBody>
      </p:sp>
      <p:sp>
        <p:nvSpPr>
          <p:cNvPr id="19" name="Text 15"/>
          <p:cNvSpPr txBox="1"/>
          <p:nvPr/>
        </p:nvSpPr>
        <p:spPr>
          <a:xfrm>
            <a:off x="7498080" y="5257800"/>
            <a:ext cx="4206240" cy="457200"/>
          </a:xfrm>
          <a:prstGeom prst="rect">
            <a:avLst/>
          </a:prstGeom>
          <a:noFill/>
          <a:ln/>
        </p:spPr>
        <p:txBody>
          <a:bodyPr wrap="square" lIns="0" tIns="0" rIns="0" bIns="0" rtlCol="0" anchor="ctr"/>
          <a:lstStyle/>
          <a:p>
            <a:pPr algn="ctr" indent="0" marL="0">
              <a:buNone/>
            </a:pPr>
            <a:r>
              <a:rPr lang="en-US" sz="1600" b="1" dirty="0">
                <a:solidFill>
                  <a:schemeClr val="tx1"/>
                </a:solidFill>
              </a:rPr>
              <a:t>Huge, filled with coloured glass</a:t>
            </a:r>
            <a:endParaRPr lang="en-US" sz="1600" dirty="0"/>
          </a:p>
        </p:txBody>
      </p:sp>
      <p:sp>
        <p:nvSpPr>
          <p:cNvPr id="20" name="Text 16"/>
          <p:cNvSpPr txBox="1"/>
          <p:nvPr/>
        </p:nvSpPr>
        <p:spPr>
          <a:xfrm>
            <a:off x="640080" y="5715000"/>
            <a:ext cx="2011680" cy="457200"/>
          </a:xfrm>
          <a:prstGeom prst="rect">
            <a:avLst/>
          </a:prstGeom>
          <a:noFill/>
          <a:ln/>
        </p:spPr>
        <p:txBody>
          <a:bodyPr wrap="square" lIns="0" tIns="0" rIns="0" bIns="0" rtlCol="0" anchor="ctr"/>
          <a:lstStyle/>
          <a:p>
            <a:pPr indent="0" marL="0">
              <a:buNone/>
            </a:pPr>
            <a:r>
              <a:rPr lang="en-US" sz="1400" b="1" spc="200" kern="0" dirty="0">
                <a:solidFill>
                  <a:schemeClr val="tx2"/>
                </a:solidFill>
              </a:rPr>
              <a:t>FEELING</a:t>
            </a:r>
            <a:endParaRPr lang="en-US" sz="1400" dirty="0"/>
          </a:p>
        </p:txBody>
      </p:sp>
      <p:sp>
        <p:nvSpPr>
          <p:cNvPr id="21" name="Text 17"/>
          <p:cNvSpPr txBox="1"/>
          <p:nvPr/>
        </p:nvSpPr>
        <p:spPr>
          <a:xfrm>
            <a:off x="2926080" y="5715000"/>
            <a:ext cx="4206240" cy="457200"/>
          </a:xfrm>
          <a:prstGeom prst="rect">
            <a:avLst/>
          </a:prstGeom>
          <a:noFill/>
          <a:ln/>
        </p:spPr>
        <p:txBody>
          <a:bodyPr wrap="square" lIns="0" tIns="0" rIns="0" bIns="0" rtlCol="0" anchor="ctr"/>
          <a:lstStyle/>
          <a:p>
            <a:pPr algn="ctr" indent="0" marL="0">
              <a:buNone/>
            </a:pPr>
            <a:r>
              <a:rPr lang="en-US" sz="1600" dirty="0">
                <a:solidFill>
                  <a:schemeClr val="tx1"/>
                </a:solidFill>
              </a:rPr>
              <a:t>Solid, protective, earthly</a:t>
            </a:r>
            <a:endParaRPr lang="en-US" sz="1600" dirty="0"/>
          </a:p>
        </p:txBody>
      </p:sp>
      <p:sp>
        <p:nvSpPr>
          <p:cNvPr id="22" name="Text 18"/>
          <p:cNvSpPr txBox="1"/>
          <p:nvPr/>
        </p:nvSpPr>
        <p:spPr>
          <a:xfrm>
            <a:off x="7498080" y="5715000"/>
            <a:ext cx="4206240" cy="457200"/>
          </a:xfrm>
          <a:prstGeom prst="rect">
            <a:avLst/>
          </a:prstGeom>
          <a:noFill/>
          <a:ln/>
        </p:spPr>
        <p:txBody>
          <a:bodyPr wrap="square" lIns="0" tIns="0" rIns="0" bIns="0" rtlCol="0" anchor="ctr"/>
          <a:lstStyle/>
          <a:p>
            <a:pPr algn="ctr" indent="0" marL="0">
              <a:buNone/>
            </a:pPr>
            <a:r>
              <a:rPr lang="en-US" sz="1600" b="1" dirty="0">
                <a:solidFill>
                  <a:schemeClr val="tx1"/>
                </a:solidFill>
              </a:rPr>
              <a:t>Soaring, bright, heavenly</a:t>
            </a:r>
            <a:endParaRPr lang="en-US" sz="16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9B3C8"/>
                </a:solidFill>
              </a:defRPr>
            </a:lvl1pPr>
          </a:lstStyle>
          <a:p>
            <a:pPr algn="r"/>
            <a:fld id="{F7021451-1387-4CA6-816F-3879F97B5CBC}" type="slidenum">
              <a:rPr b="0" lang="en-US"/>
              <a:t>5</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500">
        <p14:flip dir="r"/>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Three ideas that changed everything</a:t>
            </a:r>
            <a:endParaRPr lang="en-US" sz="3600" dirty="0"/>
          </a:p>
        </p:txBody>
      </p:sp>
      <p:sp>
        <p:nvSpPr>
          <p:cNvPr id="3" name="Invention arch 1"/>
          <p:cNvSpPr/>
          <p:nvPr/>
        </p:nvSpPr>
        <p:spPr>
          <a:xfrm>
            <a:off x="548640" y="1463040"/>
            <a:ext cx="3520440" cy="4754880"/>
          </a:xfrm>
          <a:custGeom>
            <a:avLst/>
            <a:gdLst/>
            <a:ahLst/>
            <a:cxnLst/>
            <a:rect l="l" t="t" r="r" b="b"/>
            <a:pathLst>
              <a:path w="3520440" h="4754880">
                <a:moveTo>
                  <a:pt x="0" y="4754880"/>
                </a:moveTo>
                <a:lnTo>
                  <a:pt x="0" y="3048701"/>
                </a:lnTo>
                <a:cubicBezTo>
                  <a:pt x="0" y="1790848"/>
                  <a:pt x="670996" y="628751"/>
                  <a:pt x="1760220" y="0"/>
                </a:cubicBezTo>
                <a:cubicBezTo>
                  <a:pt x="2849444" y="628751"/>
                  <a:pt x="3520440" y="1790848"/>
                  <a:pt x="3520440" y="3048701"/>
                </a:cubicBezTo>
                <a:lnTo>
                  <a:pt x="3520440" y="4754880"/>
                </a:lnTo>
                <a:close/>
              </a:path>
            </a:pathLst>
          </a:custGeom>
          <a:solidFill>
            <a:schemeClr val="bg2"/>
          </a:solidFill>
          <a:ln w="19050">
            <a:solidFill>
              <a:schemeClr val="accent1"/>
            </a:solidFill>
            <a:prstDash val="solid"/>
          </a:ln>
        </p:spPr>
      </p:sp>
      <p:pic>
        <p:nvPicPr>
          <p:cNvPr id="4" name="Image 0" descr="1  Pointed arch">    </p:cNvPr>
          <p:cNvPicPr>
            <a:picLocks noChangeAspect="1"/>
          </p:cNvPicPr>
          <p:nvPr/>
        </p:nvPicPr>
        <p:blipFill>
          <a:blip r:embed="rId1"/>
          <a:stretch>
            <a:fillRect/>
          </a:stretch>
        </p:blipFill>
        <p:spPr>
          <a:xfrm>
            <a:off x="1303020" y="2331720"/>
            <a:ext cx="2011680" cy="2011680"/>
          </a:xfrm>
          <a:prstGeom prst="rect">
            <a:avLst/>
          </a:prstGeom>
        </p:spPr>
      </p:pic>
      <p:sp>
        <p:nvSpPr>
          <p:cNvPr id="5" name="Text 2"/>
          <p:cNvSpPr txBox="1"/>
          <p:nvPr/>
        </p:nvSpPr>
        <p:spPr>
          <a:xfrm>
            <a:off x="822960" y="4434840"/>
            <a:ext cx="2971800" cy="411480"/>
          </a:xfrm>
          <a:prstGeom prst="rect">
            <a:avLst/>
          </a:prstGeom>
          <a:noFill/>
          <a:ln/>
        </p:spPr>
        <p:txBody>
          <a:bodyPr wrap="square" lIns="0" tIns="0" rIns="0" bIns="0" rtlCol="0" anchor="t"/>
          <a:lstStyle/>
          <a:p>
            <a:pPr algn="ctr" indent="0" marL="0">
              <a:buNone/>
            </a:pPr>
            <a:r>
              <a:rPr lang="en-US" sz="2200" b="1" dirty="0">
                <a:solidFill>
                  <a:schemeClr val="accent1"/>
                </a:solidFill>
                <a:latin typeface="Cambria" pitchFamily="34" charset="0"/>
                <a:ea typeface="Cambria" pitchFamily="34" charset="-122"/>
                <a:cs typeface="Cambria" pitchFamily="34" charset="-120"/>
              </a:rPr>
              <a:t>1  Pointed arch</a:t>
            </a:r>
            <a:endParaRPr lang="en-US" sz="2200" dirty="0"/>
          </a:p>
        </p:txBody>
      </p:sp>
      <p:sp>
        <p:nvSpPr>
          <p:cNvPr id="6" name="Text 3"/>
          <p:cNvSpPr txBox="1"/>
          <p:nvPr/>
        </p:nvSpPr>
        <p:spPr>
          <a:xfrm>
            <a:off x="822960" y="4937760"/>
            <a:ext cx="2971800" cy="1188720"/>
          </a:xfrm>
          <a:prstGeom prst="rect">
            <a:avLst/>
          </a:prstGeom>
          <a:noFill/>
          <a:ln/>
        </p:spPr>
        <p:txBody>
          <a:bodyPr wrap="square" lIns="0" tIns="0" rIns="0" bIns="0" rtlCol="0" anchor="t"/>
          <a:lstStyle/>
          <a:p>
            <a:pPr algn="ctr" indent="0" marL="0">
              <a:buNone/>
            </a:pPr>
            <a:r>
              <a:rPr lang="en-US" sz="1500" dirty="0">
                <a:solidFill>
                  <a:schemeClr val="tx1"/>
                </a:solidFill>
              </a:rPr>
              <a:t>Steeper sides push the load down, not out. Any width can reach any height.</a:t>
            </a:r>
            <a:endParaRPr lang="en-US" sz="1500" dirty="0"/>
          </a:p>
        </p:txBody>
      </p:sp>
      <p:sp>
        <p:nvSpPr>
          <p:cNvPr id="7" name="Invention arch 2"/>
          <p:cNvSpPr/>
          <p:nvPr/>
        </p:nvSpPr>
        <p:spPr>
          <a:xfrm>
            <a:off x="4343400" y="1463040"/>
            <a:ext cx="3520440" cy="4754880"/>
          </a:xfrm>
          <a:custGeom>
            <a:avLst/>
            <a:gdLst/>
            <a:ahLst/>
            <a:cxnLst/>
            <a:rect l="l" t="t" r="r" b="b"/>
            <a:pathLst>
              <a:path w="3520440" h="4754880">
                <a:moveTo>
                  <a:pt x="0" y="4754880"/>
                </a:moveTo>
                <a:lnTo>
                  <a:pt x="0" y="3048701"/>
                </a:lnTo>
                <a:cubicBezTo>
                  <a:pt x="0" y="1790848"/>
                  <a:pt x="670996" y="628751"/>
                  <a:pt x="1760220" y="0"/>
                </a:cubicBezTo>
                <a:cubicBezTo>
                  <a:pt x="2849444" y="628751"/>
                  <a:pt x="3520440" y="1790848"/>
                  <a:pt x="3520440" y="3048701"/>
                </a:cubicBezTo>
                <a:lnTo>
                  <a:pt x="3520440" y="4754880"/>
                </a:lnTo>
                <a:close/>
              </a:path>
            </a:pathLst>
          </a:custGeom>
          <a:solidFill>
            <a:schemeClr val="bg2"/>
          </a:solidFill>
          <a:ln w="19050">
            <a:solidFill>
              <a:schemeClr val="accent1"/>
            </a:solidFill>
            <a:prstDash val="solid"/>
          </a:ln>
        </p:spPr>
      </p:sp>
      <p:pic>
        <p:nvPicPr>
          <p:cNvPr id="8" name="Image 1" descr="2  Ribbed vault">    </p:cNvPr>
          <p:cNvPicPr>
            <a:picLocks noChangeAspect="1"/>
          </p:cNvPicPr>
          <p:nvPr/>
        </p:nvPicPr>
        <p:blipFill>
          <a:blip r:embed="rId2"/>
          <a:stretch>
            <a:fillRect/>
          </a:stretch>
        </p:blipFill>
        <p:spPr>
          <a:xfrm>
            <a:off x="5097780" y="2331720"/>
            <a:ext cx="2011680" cy="2011680"/>
          </a:xfrm>
          <a:prstGeom prst="rect">
            <a:avLst/>
          </a:prstGeom>
        </p:spPr>
      </p:pic>
      <p:sp>
        <p:nvSpPr>
          <p:cNvPr id="9" name="Text 5"/>
          <p:cNvSpPr txBox="1"/>
          <p:nvPr/>
        </p:nvSpPr>
        <p:spPr>
          <a:xfrm>
            <a:off x="4617720" y="4434840"/>
            <a:ext cx="2971800" cy="411480"/>
          </a:xfrm>
          <a:prstGeom prst="rect">
            <a:avLst/>
          </a:prstGeom>
          <a:noFill/>
          <a:ln/>
        </p:spPr>
        <p:txBody>
          <a:bodyPr wrap="square" lIns="0" tIns="0" rIns="0" bIns="0" rtlCol="0" anchor="t"/>
          <a:lstStyle/>
          <a:p>
            <a:pPr algn="ctr" indent="0" marL="0">
              <a:buNone/>
            </a:pPr>
            <a:r>
              <a:rPr lang="en-US" sz="2200" b="1" dirty="0">
                <a:solidFill>
                  <a:schemeClr val="accent1"/>
                </a:solidFill>
                <a:latin typeface="Cambria" pitchFamily="34" charset="0"/>
                <a:ea typeface="Cambria" pitchFamily="34" charset="-122"/>
                <a:cs typeface="Cambria" pitchFamily="34" charset="-120"/>
              </a:rPr>
              <a:t>2  Ribbed vault</a:t>
            </a:r>
            <a:endParaRPr lang="en-US" sz="2200" dirty="0"/>
          </a:p>
        </p:txBody>
      </p:sp>
      <p:sp>
        <p:nvSpPr>
          <p:cNvPr id="10" name="Text 6"/>
          <p:cNvSpPr txBox="1"/>
          <p:nvPr/>
        </p:nvSpPr>
        <p:spPr>
          <a:xfrm>
            <a:off x="4617720" y="4937760"/>
            <a:ext cx="2971800" cy="1188720"/>
          </a:xfrm>
          <a:prstGeom prst="rect">
            <a:avLst/>
          </a:prstGeom>
          <a:noFill/>
          <a:ln/>
        </p:spPr>
        <p:txBody>
          <a:bodyPr wrap="square" lIns="0" tIns="0" rIns="0" bIns="0" rtlCol="0" anchor="t"/>
          <a:lstStyle/>
          <a:p>
            <a:pPr algn="ctr" indent="0" marL="0">
              <a:buNone/>
            </a:pPr>
            <a:r>
              <a:rPr lang="en-US" sz="1500" dirty="0">
                <a:solidFill>
                  <a:schemeClr val="tx1"/>
                </a:solidFill>
              </a:rPr>
              <a:t>Stone ribs form a skeleton with thin panels between. Loads flow to the piers.</a:t>
            </a:r>
            <a:endParaRPr lang="en-US" sz="1500" dirty="0"/>
          </a:p>
        </p:txBody>
      </p:sp>
      <p:sp>
        <p:nvSpPr>
          <p:cNvPr id="11" name="Invention arch 3"/>
          <p:cNvSpPr/>
          <p:nvPr/>
        </p:nvSpPr>
        <p:spPr>
          <a:xfrm>
            <a:off x="8138160" y="1463040"/>
            <a:ext cx="3520440" cy="4754880"/>
          </a:xfrm>
          <a:custGeom>
            <a:avLst/>
            <a:gdLst/>
            <a:ahLst/>
            <a:cxnLst/>
            <a:rect l="l" t="t" r="r" b="b"/>
            <a:pathLst>
              <a:path w="3520440" h="4754880">
                <a:moveTo>
                  <a:pt x="0" y="4754880"/>
                </a:moveTo>
                <a:lnTo>
                  <a:pt x="0" y="3048701"/>
                </a:lnTo>
                <a:cubicBezTo>
                  <a:pt x="0" y="1790848"/>
                  <a:pt x="670996" y="628751"/>
                  <a:pt x="1760220" y="0"/>
                </a:cubicBezTo>
                <a:cubicBezTo>
                  <a:pt x="2849444" y="628751"/>
                  <a:pt x="3520440" y="1790848"/>
                  <a:pt x="3520440" y="3048701"/>
                </a:cubicBezTo>
                <a:lnTo>
                  <a:pt x="3520440" y="4754880"/>
                </a:lnTo>
                <a:close/>
              </a:path>
            </a:pathLst>
          </a:custGeom>
          <a:solidFill>
            <a:schemeClr val="bg2"/>
          </a:solidFill>
          <a:ln w="19050">
            <a:solidFill>
              <a:schemeClr val="accent1"/>
            </a:solidFill>
            <a:prstDash val="solid"/>
          </a:ln>
        </p:spPr>
      </p:sp>
      <p:pic>
        <p:nvPicPr>
          <p:cNvPr id="12" name="Image 2" descr="3  Flying buttress">    </p:cNvPr>
          <p:cNvPicPr>
            <a:picLocks noChangeAspect="1"/>
          </p:cNvPicPr>
          <p:nvPr/>
        </p:nvPicPr>
        <p:blipFill>
          <a:blip r:embed="rId3"/>
          <a:stretch>
            <a:fillRect/>
          </a:stretch>
        </p:blipFill>
        <p:spPr>
          <a:xfrm>
            <a:off x="9074447" y="2331720"/>
            <a:ext cx="1647866" cy="2011680"/>
          </a:xfrm>
          <a:prstGeom prst="rect">
            <a:avLst/>
          </a:prstGeom>
        </p:spPr>
      </p:pic>
      <p:sp>
        <p:nvSpPr>
          <p:cNvPr id="13" name="Text 8"/>
          <p:cNvSpPr txBox="1"/>
          <p:nvPr/>
        </p:nvSpPr>
        <p:spPr>
          <a:xfrm>
            <a:off x="8412480" y="4434840"/>
            <a:ext cx="2971800" cy="411480"/>
          </a:xfrm>
          <a:prstGeom prst="rect">
            <a:avLst/>
          </a:prstGeom>
          <a:noFill/>
          <a:ln/>
        </p:spPr>
        <p:txBody>
          <a:bodyPr wrap="square" lIns="0" tIns="0" rIns="0" bIns="0" rtlCol="0" anchor="t"/>
          <a:lstStyle/>
          <a:p>
            <a:pPr algn="ctr" indent="0" marL="0">
              <a:buNone/>
            </a:pPr>
            <a:r>
              <a:rPr lang="en-US" sz="2200" b="1" dirty="0">
                <a:solidFill>
                  <a:schemeClr val="accent1"/>
                </a:solidFill>
                <a:latin typeface="Cambria" pitchFamily="34" charset="0"/>
                <a:ea typeface="Cambria" pitchFamily="34" charset="-122"/>
                <a:cs typeface="Cambria" pitchFamily="34" charset="-120"/>
              </a:rPr>
              <a:t>3  Flying buttress</a:t>
            </a:r>
            <a:endParaRPr lang="en-US" sz="2200" dirty="0"/>
          </a:p>
        </p:txBody>
      </p:sp>
      <p:sp>
        <p:nvSpPr>
          <p:cNvPr id="14" name="Text 9"/>
          <p:cNvSpPr txBox="1"/>
          <p:nvPr/>
        </p:nvSpPr>
        <p:spPr>
          <a:xfrm>
            <a:off x="8412480" y="4937760"/>
            <a:ext cx="2971800" cy="1188720"/>
          </a:xfrm>
          <a:prstGeom prst="rect">
            <a:avLst/>
          </a:prstGeom>
          <a:noFill/>
          <a:ln/>
        </p:spPr>
        <p:txBody>
          <a:bodyPr wrap="square" lIns="0" tIns="0" rIns="0" bIns="0" rtlCol="0" anchor="t"/>
          <a:lstStyle/>
          <a:p>
            <a:pPr algn="ctr" indent="0" marL="0">
              <a:buNone/>
            </a:pPr>
            <a:r>
              <a:rPr lang="en-US" sz="1500" dirty="0">
                <a:solidFill>
                  <a:schemeClr val="tx1"/>
                </a:solidFill>
              </a:rPr>
              <a:t>An arch outside the wall catches the roof's push and carries it to a heavy pier.</a:t>
            </a:r>
            <a:endParaRPr lang="en-US" sz="15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9B3C8"/>
                </a:solidFill>
              </a:defRPr>
            </a:lvl1pPr>
          </a:lstStyle>
          <a:p>
            <a:pPr algn="r"/>
            <a:fld id="{F7021451-1387-4CA6-816F-3879F97B5CBC}" type="slidenum">
              <a:rPr b="0" lang="en-US"/>
              <a:t>6</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800">
        <p14:doors dir="ver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Follow the force</a:t>
            </a:r>
            <a:endParaRPr lang="en-US" sz="3600" dirty="0"/>
          </a:p>
        </p:txBody>
      </p:sp>
      <p:pic>
        <p:nvPicPr>
          <p:cNvPr id="3" name="Image 0" descr="Cross-section of a Gothic nave showing how thrust flows through the flying buttress to the ground">    </p:cNvPr>
          <p:cNvPicPr>
            <a:picLocks noChangeAspect="1"/>
          </p:cNvPicPr>
          <p:nvPr/>
        </p:nvPicPr>
        <p:blipFill>
          <a:blip r:embed="rId1"/>
          <a:stretch>
            <a:fillRect/>
          </a:stretch>
        </p:blipFill>
        <p:spPr>
          <a:xfrm>
            <a:off x="548640" y="1463040"/>
            <a:ext cx="6583680" cy="5003597"/>
          </a:xfrm>
          <a:prstGeom prst="rect">
            <a:avLst/>
          </a:prstGeom>
        </p:spPr>
      </p:pic>
      <p:sp>
        <p:nvSpPr>
          <p:cNvPr id="4" name="Text 1"/>
          <p:cNvSpPr txBox="1"/>
          <p:nvPr/>
        </p:nvSpPr>
        <p:spPr>
          <a:xfrm>
            <a:off x="3116275" y="3959352"/>
            <a:ext cx="144841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CLERESTORY</a:t>
            </a:r>
            <a:endParaRPr lang="en-US" sz="1200" dirty="0"/>
          </a:p>
        </p:txBody>
      </p:sp>
      <p:sp>
        <p:nvSpPr>
          <p:cNvPr id="5" name="Text 2"/>
          <p:cNvSpPr txBox="1"/>
          <p:nvPr/>
        </p:nvSpPr>
        <p:spPr>
          <a:xfrm>
            <a:off x="3116275" y="4584802"/>
            <a:ext cx="144841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TRIFORIUM</a:t>
            </a:r>
            <a:endParaRPr lang="en-US" sz="1200" dirty="0"/>
          </a:p>
        </p:txBody>
      </p:sp>
      <p:sp>
        <p:nvSpPr>
          <p:cNvPr id="6" name="Text 3"/>
          <p:cNvSpPr txBox="1"/>
          <p:nvPr/>
        </p:nvSpPr>
        <p:spPr>
          <a:xfrm>
            <a:off x="3116275" y="5407762"/>
            <a:ext cx="144841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ARCADE</a:t>
            </a:r>
            <a:endParaRPr lang="en-US" sz="1200" dirty="0"/>
          </a:p>
        </p:txBody>
      </p:sp>
      <p:sp>
        <p:nvSpPr>
          <p:cNvPr id="7" name="Number 1"/>
          <p:cNvSpPr/>
          <p:nvPr/>
        </p:nvSpPr>
        <p:spPr>
          <a:xfrm>
            <a:off x="7498080" y="1554480"/>
            <a:ext cx="502920" cy="502920"/>
          </a:xfrm>
          <a:prstGeom prst="ellipse">
            <a:avLst/>
          </a:prstGeom>
          <a:solidFill>
            <a:schemeClr val="accent1"/>
          </a:solidFill>
          <a:ln w="6350">
            <a:solidFill>
              <a:schemeClr val="accent1"/>
            </a:solidFill>
            <a:prstDash val="solid"/>
          </a:ln>
        </p:spPr>
      </p:sp>
      <p:sp>
        <p:nvSpPr>
          <p:cNvPr id="8" name="Text 5"/>
          <p:cNvSpPr txBox="1"/>
          <p:nvPr/>
        </p:nvSpPr>
        <p:spPr>
          <a:xfrm>
            <a:off x="7498080" y="155448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1</a:t>
            </a:r>
            <a:endParaRPr lang="en-US" sz="2000" dirty="0"/>
          </a:p>
        </p:txBody>
      </p:sp>
      <p:sp>
        <p:nvSpPr>
          <p:cNvPr id="9" name="Text 6"/>
          <p:cNvSpPr txBox="1"/>
          <p:nvPr/>
        </p:nvSpPr>
        <p:spPr>
          <a:xfrm>
            <a:off x="8229600" y="1508760"/>
            <a:ext cx="338328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The vault pushes</a:t>
            </a:r>
            <a:endParaRPr lang="en-US" sz="1800" dirty="0"/>
          </a:p>
        </p:txBody>
      </p:sp>
      <p:sp>
        <p:nvSpPr>
          <p:cNvPr id="10" name="Text 7"/>
          <p:cNvSpPr txBox="1"/>
          <p:nvPr/>
        </p:nvSpPr>
        <p:spPr>
          <a:xfrm>
            <a:off x="8229600" y="1892808"/>
            <a:ext cx="3383280" cy="594360"/>
          </a:xfrm>
          <a:prstGeom prst="rect">
            <a:avLst/>
          </a:prstGeom>
          <a:noFill/>
          <a:ln/>
        </p:spPr>
        <p:txBody>
          <a:bodyPr wrap="square" lIns="0" tIns="0" rIns="0" bIns="0" rtlCol="0" anchor="t"/>
          <a:lstStyle/>
          <a:p>
            <a:pPr indent="0" marL="0">
              <a:buNone/>
            </a:pPr>
            <a:r>
              <a:rPr lang="en-US" sz="1400" dirty="0">
                <a:solidFill>
                  <a:schemeClr val="tx1"/>
                </a:solidFill>
              </a:rPr>
              <a:t>Heavy stone presses down and outwards at the top of the wall.</a:t>
            </a:r>
            <a:endParaRPr lang="en-US" sz="1400" dirty="0"/>
          </a:p>
        </p:txBody>
      </p:sp>
      <p:sp>
        <p:nvSpPr>
          <p:cNvPr id="11" name="Number 2"/>
          <p:cNvSpPr/>
          <p:nvPr/>
        </p:nvSpPr>
        <p:spPr>
          <a:xfrm>
            <a:off x="7498080" y="2606040"/>
            <a:ext cx="502920" cy="502920"/>
          </a:xfrm>
          <a:prstGeom prst="ellipse">
            <a:avLst/>
          </a:prstGeom>
          <a:solidFill>
            <a:schemeClr val="accent1"/>
          </a:solidFill>
          <a:ln w="6350">
            <a:solidFill>
              <a:schemeClr val="accent1"/>
            </a:solidFill>
            <a:prstDash val="solid"/>
          </a:ln>
        </p:spPr>
      </p:sp>
      <p:sp>
        <p:nvSpPr>
          <p:cNvPr id="12" name="Text 9"/>
          <p:cNvSpPr txBox="1"/>
          <p:nvPr/>
        </p:nvSpPr>
        <p:spPr>
          <a:xfrm>
            <a:off x="7498080" y="260604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2</a:t>
            </a:r>
            <a:endParaRPr lang="en-US" sz="2000" dirty="0"/>
          </a:p>
        </p:txBody>
      </p:sp>
      <p:sp>
        <p:nvSpPr>
          <p:cNvPr id="13" name="Text 10"/>
          <p:cNvSpPr txBox="1"/>
          <p:nvPr/>
        </p:nvSpPr>
        <p:spPr>
          <a:xfrm>
            <a:off x="8229600" y="2560320"/>
            <a:ext cx="338328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The flying buttress catches it</a:t>
            </a:r>
            <a:endParaRPr lang="en-US" sz="1800" dirty="0"/>
          </a:p>
        </p:txBody>
      </p:sp>
      <p:sp>
        <p:nvSpPr>
          <p:cNvPr id="14" name="Text 11"/>
          <p:cNvSpPr txBox="1"/>
          <p:nvPr/>
        </p:nvSpPr>
        <p:spPr>
          <a:xfrm>
            <a:off x="8229600" y="2944368"/>
            <a:ext cx="3383280" cy="594360"/>
          </a:xfrm>
          <a:prstGeom prst="rect">
            <a:avLst/>
          </a:prstGeom>
          <a:noFill/>
          <a:ln/>
        </p:spPr>
        <p:txBody>
          <a:bodyPr wrap="square" lIns="0" tIns="0" rIns="0" bIns="0" rtlCol="0" anchor="t"/>
          <a:lstStyle/>
          <a:p>
            <a:pPr indent="0" marL="0">
              <a:buNone/>
            </a:pPr>
            <a:r>
              <a:rPr lang="en-US" sz="1400" dirty="0">
                <a:solidFill>
                  <a:schemeClr val="tx1"/>
                </a:solidFill>
              </a:rPr>
              <a:t>A half-arch sends the thrust over the aisle.</a:t>
            </a:r>
            <a:endParaRPr lang="en-US" sz="1400" dirty="0"/>
          </a:p>
        </p:txBody>
      </p:sp>
      <p:sp>
        <p:nvSpPr>
          <p:cNvPr id="15" name="Number 3"/>
          <p:cNvSpPr/>
          <p:nvPr/>
        </p:nvSpPr>
        <p:spPr>
          <a:xfrm>
            <a:off x="7498080" y="3657600"/>
            <a:ext cx="502920" cy="502920"/>
          </a:xfrm>
          <a:prstGeom prst="ellipse">
            <a:avLst/>
          </a:prstGeom>
          <a:solidFill>
            <a:schemeClr val="accent1"/>
          </a:solidFill>
          <a:ln w="6350">
            <a:solidFill>
              <a:schemeClr val="accent1"/>
            </a:solidFill>
            <a:prstDash val="solid"/>
          </a:ln>
        </p:spPr>
      </p:sp>
      <p:sp>
        <p:nvSpPr>
          <p:cNvPr id="16" name="Text 13"/>
          <p:cNvSpPr txBox="1"/>
          <p:nvPr/>
        </p:nvSpPr>
        <p:spPr>
          <a:xfrm>
            <a:off x="7498080" y="365760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3</a:t>
            </a:r>
            <a:endParaRPr lang="en-US" sz="2000" dirty="0"/>
          </a:p>
        </p:txBody>
      </p:sp>
      <p:sp>
        <p:nvSpPr>
          <p:cNvPr id="17" name="Text 14"/>
          <p:cNvSpPr txBox="1"/>
          <p:nvPr/>
        </p:nvSpPr>
        <p:spPr>
          <a:xfrm>
            <a:off x="8229600" y="3611880"/>
            <a:ext cx="338328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The pinnacle adds weight</a:t>
            </a:r>
            <a:endParaRPr lang="en-US" sz="1800" dirty="0"/>
          </a:p>
        </p:txBody>
      </p:sp>
      <p:sp>
        <p:nvSpPr>
          <p:cNvPr id="18" name="Text 15"/>
          <p:cNvSpPr txBox="1"/>
          <p:nvPr/>
        </p:nvSpPr>
        <p:spPr>
          <a:xfrm>
            <a:off x="8229600" y="3995928"/>
            <a:ext cx="3383280" cy="594360"/>
          </a:xfrm>
          <a:prstGeom prst="rect">
            <a:avLst/>
          </a:prstGeom>
          <a:noFill/>
          <a:ln/>
        </p:spPr>
        <p:txBody>
          <a:bodyPr wrap="square" lIns="0" tIns="0" rIns="0" bIns="0" rtlCol="0" anchor="t"/>
          <a:lstStyle/>
          <a:p>
            <a:pPr indent="0" marL="0">
              <a:buNone/>
            </a:pPr>
            <a:r>
              <a:rPr lang="en-US" sz="1400" dirty="0">
                <a:solidFill>
                  <a:schemeClr val="tx1"/>
                </a:solidFill>
              </a:rPr>
              <a:t>It keeps the line of force inside the pier.</a:t>
            </a:r>
            <a:endParaRPr lang="en-US" sz="1400" dirty="0"/>
          </a:p>
        </p:txBody>
      </p:sp>
      <p:sp>
        <p:nvSpPr>
          <p:cNvPr id="19" name="Number 4"/>
          <p:cNvSpPr/>
          <p:nvPr/>
        </p:nvSpPr>
        <p:spPr>
          <a:xfrm>
            <a:off x="7498080" y="4709160"/>
            <a:ext cx="502920" cy="502920"/>
          </a:xfrm>
          <a:prstGeom prst="ellipse">
            <a:avLst/>
          </a:prstGeom>
          <a:solidFill>
            <a:schemeClr val="accent1"/>
          </a:solidFill>
          <a:ln w="6350">
            <a:solidFill>
              <a:schemeClr val="accent1"/>
            </a:solidFill>
            <a:prstDash val="solid"/>
          </a:ln>
        </p:spPr>
      </p:sp>
      <p:sp>
        <p:nvSpPr>
          <p:cNvPr id="20" name="Text 17"/>
          <p:cNvSpPr txBox="1"/>
          <p:nvPr/>
        </p:nvSpPr>
        <p:spPr>
          <a:xfrm>
            <a:off x="7498080" y="470916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4</a:t>
            </a:r>
            <a:endParaRPr lang="en-US" sz="2000" dirty="0"/>
          </a:p>
        </p:txBody>
      </p:sp>
      <p:sp>
        <p:nvSpPr>
          <p:cNvPr id="21" name="Text 18"/>
          <p:cNvSpPr txBox="1"/>
          <p:nvPr/>
        </p:nvSpPr>
        <p:spPr>
          <a:xfrm>
            <a:off x="8229600" y="4663440"/>
            <a:ext cx="338328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The pier reaches the ground</a:t>
            </a:r>
            <a:endParaRPr lang="en-US" sz="1800" dirty="0"/>
          </a:p>
        </p:txBody>
      </p:sp>
      <p:sp>
        <p:nvSpPr>
          <p:cNvPr id="22" name="Text 19"/>
          <p:cNvSpPr txBox="1"/>
          <p:nvPr/>
        </p:nvSpPr>
        <p:spPr>
          <a:xfrm>
            <a:off x="8229600" y="5047488"/>
            <a:ext cx="3383280" cy="594360"/>
          </a:xfrm>
          <a:prstGeom prst="rect">
            <a:avLst/>
          </a:prstGeom>
          <a:noFill/>
          <a:ln/>
        </p:spPr>
        <p:txBody>
          <a:bodyPr wrap="square" lIns="0" tIns="0" rIns="0" bIns="0" rtlCol="0" anchor="t"/>
          <a:lstStyle/>
          <a:p>
            <a:pPr indent="0" marL="0">
              <a:buNone/>
            </a:pPr>
            <a:r>
              <a:rPr lang="en-US" sz="1400" dirty="0">
                <a:solidFill>
                  <a:schemeClr val="tx1"/>
                </a:solidFill>
              </a:rPr>
              <a:t>The wall itself carries almost nothing.</a:t>
            </a:r>
            <a:endParaRPr lang="en-US" sz="1400" dirty="0"/>
          </a:p>
        </p:txBody>
      </p:sp>
      <p:sp>
        <p:nvSpPr>
          <p:cNvPr id="23" name="Takeaway"/>
          <p:cNvSpPr/>
          <p:nvPr/>
        </p:nvSpPr>
        <p:spPr>
          <a:xfrm>
            <a:off x="7498080" y="5623560"/>
            <a:ext cx="4114800" cy="594360"/>
          </a:xfrm>
          <a:prstGeom prst="roundRect">
            <a:avLst>
              <a:gd name="adj" fmla="val 18462"/>
            </a:avLst>
          </a:prstGeom>
          <a:solidFill>
            <a:schemeClr val="bg2"/>
          </a:solidFill>
          <a:ln w="6350">
            <a:solidFill>
              <a:schemeClr val="bg2"/>
            </a:solidFill>
            <a:prstDash val="solid"/>
          </a:ln>
        </p:spPr>
      </p:sp>
      <p:sp>
        <p:nvSpPr>
          <p:cNvPr id="24" name="Text 21"/>
          <p:cNvSpPr txBox="1"/>
          <p:nvPr/>
        </p:nvSpPr>
        <p:spPr>
          <a:xfrm>
            <a:off x="7680960" y="5623560"/>
            <a:ext cx="3749040" cy="594360"/>
          </a:xfrm>
          <a:prstGeom prst="rect">
            <a:avLst/>
          </a:prstGeom>
          <a:noFill/>
          <a:ln/>
        </p:spPr>
        <p:txBody>
          <a:bodyPr wrap="square" lIns="0" tIns="0" rIns="0" bIns="0" rtlCol="0" anchor="ctr"/>
          <a:lstStyle/>
          <a:p>
            <a:pPr indent="0" marL="0">
              <a:buNone/>
            </a:pPr>
            <a:r>
              <a:rPr lang="en-US" sz="1700" i="1" dirty="0">
                <a:solidFill>
                  <a:schemeClr val="accent1"/>
                </a:solidFill>
                <a:latin typeface="Cambria" pitchFamily="34" charset="0"/>
                <a:ea typeface="Cambria" pitchFamily="34" charset="-122"/>
                <a:cs typeface="Cambria" pitchFamily="34" charset="-120"/>
              </a:rPr>
              <a:t>A cathedral is an exoskeleton.</a:t>
            </a:r>
            <a:endParaRPr lang="en-US" sz="17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9B3C8"/>
                </a:solidFill>
              </a:defRPr>
            </a:lvl1pPr>
          </a:lstStyle>
          <a:p>
            <a:pPr algn="r"/>
            <a:fld id="{F7021451-1387-4CA6-816F-3879F97B5CBC}" type="slidenum">
              <a:rPr b="0" lang="en-US"/>
              <a:t>7</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800">
        <p14:warp dir="in"/>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Walls made of light</a:t>
            </a:r>
            <a:endParaRPr lang="en-US" sz="3600" dirty="0"/>
          </a:p>
        </p:txBody>
      </p:sp>
      <p:pic>
        <p:nvPicPr>
          <p:cNvPr id="3" name="Image 0" descr="Rose window in jewel-coloured stained glass">    </p:cNvPr>
          <p:cNvPicPr>
            <a:picLocks noChangeAspect="1"/>
          </p:cNvPicPr>
          <p:nvPr/>
        </p:nvPicPr>
        <p:blipFill>
          <a:blip r:embed="rId1"/>
          <a:stretch>
            <a:fillRect/>
          </a:stretch>
        </p:blipFill>
        <p:spPr>
          <a:xfrm>
            <a:off x="640080" y="1508760"/>
            <a:ext cx="4754880" cy="4754880"/>
          </a:xfrm>
          <a:prstGeom prst="rect">
            <a:avLst/>
          </a:prstGeom>
        </p:spPr>
      </p:pic>
      <p:sp>
        <p:nvSpPr>
          <p:cNvPr id="4" name="Glass fact 1"/>
          <p:cNvSpPr/>
          <p:nvPr/>
        </p:nvSpPr>
        <p:spPr>
          <a:xfrm>
            <a:off x="5943600" y="1554480"/>
            <a:ext cx="5669280" cy="1143000"/>
          </a:xfrm>
          <a:prstGeom prst="roundRect">
            <a:avLst>
              <a:gd name="adj" fmla="val 9600"/>
            </a:avLst>
          </a:prstGeom>
          <a:solidFill>
            <a:schemeClr val="bg2"/>
          </a:solidFill>
          <a:ln w="6350">
            <a:solidFill>
              <a:schemeClr val="bg2"/>
            </a:solidFill>
            <a:prstDash val="solid"/>
          </a:ln>
        </p:spPr>
      </p:sp>
      <p:sp>
        <p:nvSpPr>
          <p:cNvPr id="5" name="Text 2"/>
          <p:cNvSpPr txBox="1"/>
          <p:nvPr/>
        </p:nvSpPr>
        <p:spPr>
          <a:xfrm>
            <a:off x="6172200" y="1554480"/>
            <a:ext cx="2103120" cy="11430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1,113</a:t>
            </a:r>
            <a:endParaRPr lang="en-US" sz="3600" dirty="0"/>
          </a:p>
        </p:txBody>
      </p:sp>
      <p:sp>
        <p:nvSpPr>
          <p:cNvPr id="6" name="Text 3"/>
          <p:cNvSpPr txBox="1"/>
          <p:nvPr/>
        </p:nvSpPr>
        <p:spPr>
          <a:xfrm>
            <a:off x="8321040" y="1554480"/>
            <a:ext cx="3108960" cy="1143000"/>
          </a:xfrm>
          <a:prstGeom prst="rect">
            <a:avLst/>
          </a:prstGeom>
          <a:noFill/>
          <a:ln/>
        </p:spPr>
        <p:txBody>
          <a:bodyPr wrap="square" lIns="0" tIns="0" rIns="0" bIns="0" rtlCol="0" anchor="ctr"/>
          <a:lstStyle/>
          <a:p>
            <a:pPr indent="0" marL="0">
              <a:buNone/>
            </a:pPr>
            <a:r>
              <a:rPr lang="en-US" sz="1600" dirty="0">
                <a:solidFill>
                  <a:schemeClr val="tx1"/>
                </a:solidFill>
              </a:rPr>
              <a:t>Bible scenes in the Sainte-Chapelle windows, Paris</a:t>
            </a:r>
            <a:endParaRPr lang="en-US" sz="1600" dirty="0"/>
          </a:p>
        </p:txBody>
      </p:sp>
      <p:sp>
        <p:nvSpPr>
          <p:cNvPr id="7" name="Glass fact 2"/>
          <p:cNvSpPr/>
          <p:nvPr/>
        </p:nvSpPr>
        <p:spPr>
          <a:xfrm>
            <a:off x="5943600" y="2880360"/>
            <a:ext cx="5669280" cy="1143000"/>
          </a:xfrm>
          <a:prstGeom prst="roundRect">
            <a:avLst>
              <a:gd name="adj" fmla="val 9600"/>
            </a:avLst>
          </a:prstGeom>
          <a:solidFill>
            <a:schemeClr val="bg2"/>
          </a:solidFill>
          <a:ln w="6350">
            <a:solidFill>
              <a:schemeClr val="bg2"/>
            </a:solidFill>
            <a:prstDash val="solid"/>
          </a:ln>
        </p:spPr>
      </p:sp>
      <p:sp>
        <p:nvSpPr>
          <p:cNvPr id="8" name="Text 5"/>
          <p:cNvSpPr txBox="1"/>
          <p:nvPr/>
        </p:nvSpPr>
        <p:spPr>
          <a:xfrm>
            <a:off x="6172200" y="2880360"/>
            <a:ext cx="2103120" cy="11430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15 m</a:t>
            </a:r>
            <a:endParaRPr lang="en-US" sz="3600" dirty="0"/>
          </a:p>
        </p:txBody>
      </p:sp>
      <p:sp>
        <p:nvSpPr>
          <p:cNvPr id="9" name="Text 6"/>
          <p:cNvSpPr txBox="1"/>
          <p:nvPr/>
        </p:nvSpPr>
        <p:spPr>
          <a:xfrm>
            <a:off x="8321040" y="2880360"/>
            <a:ext cx="3108960" cy="1143000"/>
          </a:xfrm>
          <a:prstGeom prst="rect">
            <a:avLst/>
          </a:prstGeom>
          <a:noFill/>
          <a:ln/>
        </p:spPr>
        <p:txBody>
          <a:bodyPr wrap="square" lIns="0" tIns="0" rIns="0" bIns="0" rtlCol="0" anchor="ctr"/>
          <a:lstStyle/>
          <a:p>
            <a:pPr indent="0" marL="0">
              <a:buNone/>
            </a:pPr>
            <a:r>
              <a:rPr lang="en-US" sz="1600" dirty="0">
                <a:solidFill>
                  <a:schemeClr val="tx1"/>
                </a:solidFill>
              </a:rPr>
              <a:t>height of each window: glass replaces almost the whole wall</a:t>
            </a:r>
            <a:endParaRPr lang="en-US" sz="1600" dirty="0"/>
          </a:p>
        </p:txBody>
      </p:sp>
      <p:sp>
        <p:nvSpPr>
          <p:cNvPr id="10" name="Glass fact 3"/>
          <p:cNvSpPr/>
          <p:nvPr/>
        </p:nvSpPr>
        <p:spPr>
          <a:xfrm>
            <a:off x="5943600" y="4206240"/>
            <a:ext cx="5669280" cy="1143000"/>
          </a:xfrm>
          <a:prstGeom prst="roundRect">
            <a:avLst>
              <a:gd name="adj" fmla="val 9600"/>
            </a:avLst>
          </a:prstGeom>
          <a:solidFill>
            <a:schemeClr val="bg2"/>
          </a:solidFill>
          <a:ln w="6350">
            <a:solidFill>
              <a:schemeClr val="bg2"/>
            </a:solidFill>
            <a:prstDash val="solid"/>
          </a:ln>
        </p:spPr>
      </p:sp>
      <p:sp>
        <p:nvSpPr>
          <p:cNvPr id="11" name="Text 8"/>
          <p:cNvSpPr txBox="1"/>
          <p:nvPr/>
        </p:nvSpPr>
        <p:spPr>
          <a:xfrm>
            <a:off x="6172200" y="4206240"/>
            <a:ext cx="2103120" cy="11430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 7 yrs</a:t>
            </a:r>
            <a:endParaRPr lang="en-US" sz="3600" dirty="0"/>
          </a:p>
        </p:txBody>
      </p:sp>
      <p:sp>
        <p:nvSpPr>
          <p:cNvPr id="12" name="Text 9"/>
          <p:cNvSpPr txBox="1"/>
          <p:nvPr/>
        </p:nvSpPr>
        <p:spPr>
          <a:xfrm>
            <a:off x="8321040" y="4206240"/>
            <a:ext cx="3108960" cy="1143000"/>
          </a:xfrm>
          <a:prstGeom prst="rect">
            <a:avLst/>
          </a:prstGeom>
          <a:noFill/>
          <a:ln/>
        </p:spPr>
        <p:txBody>
          <a:bodyPr wrap="square" lIns="0" tIns="0" rIns="0" bIns="0" rtlCol="0" anchor="ctr"/>
          <a:lstStyle/>
          <a:p>
            <a:pPr indent="0" marL="0">
              <a:buNone/>
            </a:pPr>
            <a:r>
              <a:rPr lang="en-US" sz="1600" dirty="0">
                <a:solidFill>
                  <a:schemeClr val="tx1"/>
                </a:solidFill>
              </a:rPr>
              <a:t>to build it: 1241–1248, for King Louis IX</a:t>
            </a:r>
            <a:endParaRPr lang="en-US" sz="1600" dirty="0"/>
          </a:p>
        </p:txBody>
      </p:sp>
      <p:sp>
        <p:nvSpPr>
          <p:cNvPr id="13" name="Glass recipe"/>
          <p:cNvSpPr/>
          <p:nvPr/>
        </p:nvSpPr>
        <p:spPr>
          <a:xfrm>
            <a:off x="5943600" y="5532120"/>
            <a:ext cx="5669280" cy="777240"/>
          </a:xfrm>
          <a:prstGeom prst="roundRect">
            <a:avLst>
              <a:gd name="adj" fmla="val 14118"/>
            </a:avLst>
          </a:prstGeom>
          <a:solidFill>
            <a:schemeClr val="bg2"/>
          </a:solidFill>
          <a:ln w="19050">
            <a:solidFill>
              <a:schemeClr val="accent1"/>
            </a:solidFill>
            <a:prstDash val="solid"/>
          </a:ln>
        </p:spPr>
      </p:sp>
      <p:sp>
        <p:nvSpPr>
          <p:cNvPr id="14" name="Text 11"/>
          <p:cNvSpPr txBox="1"/>
          <p:nvPr/>
        </p:nvSpPr>
        <p:spPr>
          <a:xfrm>
            <a:off x="6172200" y="5532120"/>
            <a:ext cx="5257800" cy="777240"/>
          </a:xfrm>
          <a:prstGeom prst="rect">
            <a:avLst/>
          </a:prstGeom>
          <a:noFill/>
          <a:ln/>
        </p:spPr>
        <p:txBody>
          <a:bodyPr wrap="square" lIns="0" tIns="0" rIns="0" bIns="0" rtlCol="0" anchor="ctr"/>
          <a:lstStyle/>
          <a:p>
            <a:pPr indent="0" marL="0">
              <a:buNone/>
            </a:pPr>
            <a:r>
              <a:rPr lang="en-US" sz="1500" i="1" dirty="0">
                <a:solidFill>
                  <a:schemeClr val="tx1"/>
                </a:solidFill>
              </a:rPr>
              <a:t>Metal oxides colour the glass: cobalt blue, copper red.</a:t>
            </a:r>
            <a:endParaRPr lang="en-US" sz="15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9B3C8"/>
                </a:solidFill>
              </a:defRPr>
            </a:lvl1pPr>
          </a:lstStyle>
          <a:p>
            <a:pPr algn="r"/>
            <a:fld id="{F7021451-1387-4CA6-816F-3879F97B5CBC}" type="slidenum">
              <a:rPr b="0" lang="en-US"/>
              <a:t>8</a:t>
            </a:fld>
            <a:endParaRPr lang="en-US"/>
          </a:p>
        </p:txBody>
      </p:sp>
    </p:spTree>
  </p:cSld>
  <p:clrMapOvr>
    <a:masterClrMapping/>
  </p:clrMapOvr>
  <mc:AlternateContent xmlns:mc="http://schemas.openxmlformats.org/markup-compatibility/2006">
    <mc:Choice xmlns:p14="http://schemas.microsoft.com/office/powerpoint/2010/main" xmlns:p15="http://schemas.microsoft.com/office/powerpoint/2012/main" Requires="p15">
      <p:transition spd="slow" p14:dur="2500">
        <p15:prstTrans prst="fracture"/>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Reading a cathedral</a:t>
            </a:r>
            <a:endParaRPr lang="en-US" sz="3600" dirty="0"/>
          </a:p>
        </p:txBody>
      </p:sp>
      <p:pic>
        <p:nvPicPr>
          <p:cNvPr id="3" name="Image 0" descr="Floor plan of a Gothic cathedral shaped like a Latin cross">    </p:cNvPr>
          <p:cNvPicPr>
            <a:picLocks noChangeAspect="1"/>
          </p:cNvPicPr>
          <p:nvPr/>
        </p:nvPicPr>
        <p:blipFill>
          <a:blip r:embed="rId1"/>
          <a:stretch>
            <a:fillRect/>
          </a:stretch>
        </p:blipFill>
        <p:spPr>
          <a:xfrm>
            <a:off x="548640" y="1463040"/>
            <a:ext cx="2907792" cy="4846320"/>
          </a:xfrm>
          <a:prstGeom prst="rect">
            <a:avLst/>
          </a:prstGeom>
        </p:spPr>
      </p:pic>
      <p:pic>
        <p:nvPicPr>
          <p:cNvPr id="4" name="Image 1" descr="West facade with three portals, a rose window and two towers">    </p:cNvPr>
          <p:cNvPicPr>
            <a:picLocks noChangeAspect="1"/>
          </p:cNvPicPr>
          <p:nvPr/>
        </p:nvPicPr>
        <p:blipFill>
          <a:blip r:embed="rId2"/>
          <a:stretch>
            <a:fillRect/>
          </a:stretch>
        </p:blipFill>
        <p:spPr>
          <a:xfrm>
            <a:off x="3749040" y="1463040"/>
            <a:ext cx="3639312" cy="4846320"/>
          </a:xfrm>
          <a:prstGeom prst="rect">
            <a:avLst/>
          </a:prstGeom>
        </p:spPr>
      </p:pic>
      <p:sp>
        <p:nvSpPr>
          <p:cNvPr id="5" name="Text 1"/>
          <p:cNvSpPr txBox="1"/>
          <p:nvPr/>
        </p:nvSpPr>
        <p:spPr>
          <a:xfrm>
            <a:off x="7772400" y="1508760"/>
            <a:ext cx="3840480" cy="320040"/>
          </a:xfrm>
          <a:prstGeom prst="rect">
            <a:avLst/>
          </a:prstGeom>
          <a:noFill/>
          <a:ln/>
        </p:spPr>
        <p:txBody>
          <a:bodyPr wrap="square" lIns="0" tIns="0" rIns="0" bIns="0" rtlCol="0" anchor="t"/>
          <a:lstStyle/>
          <a:p>
            <a:pPr indent="0" marL="0">
              <a:buNone/>
            </a:pPr>
            <a:r>
              <a:rPr lang="en-US" sz="1300" b="1" spc="300" kern="0" dirty="0">
                <a:solidFill>
                  <a:schemeClr val="tx2"/>
                </a:solidFill>
              </a:rPr>
              <a:t>PLAN: A LATIN CROSS</a:t>
            </a:r>
            <a:endParaRPr lang="en-US" sz="1300" dirty="0"/>
          </a:p>
        </p:txBody>
      </p:sp>
      <p:sp>
        <p:nvSpPr>
          <p:cNvPr id="6" name="Number 1"/>
          <p:cNvSpPr/>
          <p:nvPr/>
        </p:nvSpPr>
        <p:spPr>
          <a:xfrm>
            <a:off x="7772400" y="1929384"/>
            <a:ext cx="365760" cy="365760"/>
          </a:xfrm>
          <a:prstGeom prst="ellipse">
            <a:avLst/>
          </a:prstGeom>
          <a:solidFill>
            <a:schemeClr val="accent1"/>
          </a:solidFill>
          <a:ln w="6350">
            <a:solidFill>
              <a:schemeClr val="accent1"/>
            </a:solidFill>
            <a:prstDash val="solid"/>
          </a:ln>
        </p:spPr>
      </p:sp>
      <p:sp>
        <p:nvSpPr>
          <p:cNvPr id="7" name="Text 3"/>
          <p:cNvSpPr txBox="1"/>
          <p:nvPr/>
        </p:nvSpPr>
        <p:spPr>
          <a:xfrm>
            <a:off x="7772400" y="192938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1</a:t>
            </a:r>
            <a:endParaRPr lang="en-US" sz="1400" dirty="0"/>
          </a:p>
        </p:txBody>
      </p:sp>
      <p:sp>
        <p:nvSpPr>
          <p:cNvPr id="8" name="Text 4"/>
          <p:cNvSpPr txBox="1"/>
          <p:nvPr/>
        </p:nvSpPr>
        <p:spPr>
          <a:xfrm>
            <a:off x="8321040" y="1892808"/>
            <a:ext cx="3291840" cy="438912"/>
          </a:xfrm>
          <a:prstGeom prst="rect">
            <a:avLst/>
          </a:prstGeom>
          <a:noFill/>
          <a:ln/>
        </p:spPr>
        <p:txBody>
          <a:bodyPr wrap="square" lIns="0" tIns="0" rIns="0" bIns="0" rtlCol="0" anchor="ctr"/>
          <a:lstStyle/>
          <a:p>
            <a:pPr indent="0" marL="0">
              <a:buNone/>
            </a:pPr>
            <a:r>
              <a:rPr lang="en-US" sz="1400" b="1" dirty="0">
                <a:solidFill>
                  <a:schemeClr val="accent1"/>
                </a:solidFill>
              </a:rPr>
              <a:t>Nave &amp; aisles  </a:t>
            </a:r>
            <a:pPr indent="0" marL="0">
              <a:buNone/>
            </a:pPr>
            <a:r>
              <a:rPr lang="en-US" sz="1400" dirty="0">
                <a:solidFill>
                  <a:schemeClr val="tx1"/>
                </a:solidFill>
              </a:rPr>
              <a:t>hall for the people</a:t>
            </a:r>
            <a:endParaRPr lang="en-US" sz="1400" dirty="0"/>
          </a:p>
        </p:txBody>
      </p:sp>
      <p:sp>
        <p:nvSpPr>
          <p:cNvPr id="9" name="Number 2"/>
          <p:cNvSpPr/>
          <p:nvPr/>
        </p:nvSpPr>
        <p:spPr>
          <a:xfrm>
            <a:off x="7772400" y="2386584"/>
            <a:ext cx="365760" cy="365760"/>
          </a:xfrm>
          <a:prstGeom prst="ellipse">
            <a:avLst/>
          </a:prstGeom>
          <a:solidFill>
            <a:schemeClr val="accent1"/>
          </a:solidFill>
          <a:ln w="6350">
            <a:solidFill>
              <a:schemeClr val="accent1"/>
            </a:solidFill>
            <a:prstDash val="solid"/>
          </a:ln>
        </p:spPr>
      </p:sp>
      <p:sp>
        <p:nvSpPr>
          <p:cNvPr id="10" name="Text 6"/>
          <p:cNvSpPr txBox="1"/>
          <p:nvPr/>
        </p:nvSpPr>
        <p:spPr>
          <a:xfrm>
            <a:off x="7772400" y="238658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2</a:t>
            </a:r>
            <a:endParaRPr lang="en-US" sz="1400" dirty="0"/>
          </a:p>
        </p:txBody>
      </p:sp>
      <p:sp>
        <p:nvSpPr>
          <p:cNvPr id="11" name="Text 7"/>
          <p:cNvSpPr txBox="1"/>
          <p:nvPr/>
        </p:nvSpPr>
        <p:spPr>
          <a:xfrm>
            <a:off x="8321040" y="2350008"/>
            <a:ext cx="3291840" cy="438912"/>
          </a:xfrm>
          <a:prstGeom prst="rect">
            <a:avLst/>
          </a:prstGeom>
          <a:noFill/>
          <a:ln/>
        </p:spPr>
        <p:txBody>
          <a:bodyPr wrap="square" lIns="0" tIns="0" rIns="0" bIns="0" rtlCol="0" anchor="ctr"/>
          <a:lstStyle/>
          <a:p>
            <a:pPr indent="0" marL="0">
              <a:buNone/>
            </a:pPr>
            <a:r>
              <a:rPr lang="en-US" sz="1400" b="1" dirty="0">
                <a:solidFill>
                  <a:schemeClr val="accent1"/>
                </a:solidFill>
              </a:rPr>
              <a:t>Transept  </a:t>
            </a:r>
            <a:pPr indent="0" marL="0">
              <a:buNone/>
            </a:pPr>
            <a:r>
              <a:rPr lang="en-US" sz="1400" dirty="0">
                <a:solidFill>
                  <a:schemeClr val="tx1"/>
                </a:solidFill>
              </a:rPr>
              <a:t>arms of the cross</a:t>
            </a:r>
            <a:endParaRPr lang="en-US" sz="1400" dirty="0"/>
          </a:p>
        </p:txBody>
      </p:sp>
      <p:sp>
        <p:nvSpPr>
          <p:cNvPr id="12" name="Number 3"/>
          <p:cNvSpPr/>
          <p:nvPr/>
        </p:nvSpPr>
        <p:spPr>
          <a:xfrm>
            <a:off x="7772400" y="2843784"/>
            <a:ext cx="365760" cy="365760"/>
          </a:xfrm>
          <a:prstGeom prst="ellipse">
            <a:avLst/>
          </a:prstGeom>
          <a:solidFill>
            <a:schemeClr val="accent1"/>
          </a:solidFill>
          <a:ln w="6350">
            <a:solidFill>
              <a:schemeClr val="accent1"/>
            </a:solidFill>
            <a:prstDash val="solid"/>
          </a:ln>
        </p:spPr>
      </p:sp>
      <p:sp>
        <p:nvSpPr>
          <p:cNvPr id="13" name="Text 9"/>
          <p:cNvSpPr txBox="1"/>
          <p:nvPr/>
        </p:nvSpPr>
        <p:spPr>
          <a:xfrm>
            <a:off x="7772400" y="284378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3</a:t>
            </a:r>
            <a:endParaRPr lang="en-US" sz="1400" dirty="0"/>
          </a:p>
        </p:txBody>
      </p:sp>
      <p:sp>
        <p:nvSpPr>
          <p:cNvPr id="14" name="Text 10"/>
          <p:cNvSpPr txBox="1"/>
          <p:nvPr/>
        </p:nvSpPr>
        <p:spPr>
          <a:xfrm>
            <a:off x="8321040" y="2807208"/>
            <a:ext cx="3291840" cy="438912"/>
          </a:xfrm>
          <a:prstGeom prst="rect">
            <a:avLst/>
          </a:prstGeom>
          <a:noFill/>
          <a:ln/>
        </p:spPr>
        <p:txBody>
          <a:bodyPr wrap="square" lIns="0" tIns="0" rIns="0" bIns="0" rtlCol="0" anchor="ctr"/>
          <a:lstStyle/>
          <a:p>
            <a:pPr indent="0" marL="0">
              <a:buNone/>
            </a:pPr>
            <a:r>
              <a:rPr lang="en-US" sz="1400" b="1" dirty="0">
                <a:solidFill>
                  <a:schemeClr val="accent1"/>
                </a:solidFill>
              </a:rPr>
              <a:t>Choir  </a:t>
            </a:r>
            <a:pPr indent="0" marL="0">
              <a:buNone/>
            </a:pPr>
            <a:r>
              <a:rPr lang="en-US" sz="1400" dirty="0">
                <a:solidFill>
                  <a:schemeClr val="tx1"/>
                </a:solidFill>
              </a:rPr>
              <a:t>clergy and altar, east</a:t>
            </a:r>
            <a:endParaRPr lang="en-US" sz="1400" dirty="0"/>
          </a:p>
        </p:txBody>
      </p:sp>
      <p:sp>
        <p:nvSpPr>
          <p:cNvPr id="15" name="Number 4"/>
          <p:cNvSpPr/>
          <p:nvPr/>
        </p:nvSpPr>
        <p:spPr>
          <a:xfrm>
            <a:off x="7772400" y="3300984"/>
            <a:ext cx="365760" cy="365760"/>
          </a:xfrm>
          <a:prstGeom prst="ellipse">
            <a:avLst/>
          </a:prstGeom>
          <a:solidFill>
            <a:schemeClr val="accent1"/>
          </a:solidFill>
          <a:ln w="6350">
            <a:solidFill>
              <a:schemeClr val="accent1"/>
            </a:solidFill>
            <a:prstDash val="solid"/>
          </a:ln>
        </p:spPr>
      </p:sp>
      <p:sp>
        <p:nvSpPr>
          <p:cNvPr id="16" name="Text 12"/>
          <p:cNvSpPr txBox="1"/>
          <p:nvPr/>
        </p:nvSpPr>
        <p:spPr>
          <a:xfrm>
            <a:off x="7772400" y="330098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4</a:t>
            </a:r>
            <a:endParaRPr lang="en-US" sz="1400" dirty="0"/>
          </a:p>
        </p:txBody>
      </p:sp>
      <p:sp>
        <p:nvSpPr>
          <p:cNvPr id="17" name="Text 13"/>
          <p:cNvSpPr txBox="1"/>
          <p:nvPr/>
        </p:nvSpPr>
        <p:spPr>
          <a:xfrm>
            <a:off x="8321040" y="3264408"/>
            <a:ext cx="3291840" cy="438912"/>
          </a:xfrm>
          <a:prstGeom prst="rect">
            <a:avLst/>
          </a:prstGeom>
          <a:noFill/>
          <a:ln/>
        </p:spPr>
        <p:txBody>
          <a:bodyPr wrap="square" lIns="0" tIns="0" rIns="0" bIns="0" rtlCol="0" anchor="ctr"/>
          <a:lstStyle/>
          <a:p>
            <a:pPr indent="0" marL="0">
              <a:buNone/>
            </a:pPr>
            <a:r>
              <a:rPr lang="en-US" sz="1400" b="1" dirty="0">
                <a:solidFill>
                  <a:schemeClr val="accent1"/>
                </a:solidFill>
              </a:rPr>
              <a:t>Ambulatory  </a:t>
            </a:r>
            <a:pPr indent="0" marL="0">
              <a:buNone/>
            </a:pPr>
            <a:r>
              <a:rPr lang="en-US" sz="1400" dirty="0">
                <a:solidFill>
                  <a:schemeClr val="tx1"/>
                </a:solidFill>
              </a:rPr>
              <a:t>walkway to relic chapels</a:t>
            </a:r>
            <a:endParaRPr lang="en-US" sz="1400" dirty="0"/>
          </a:p>
        </p:txBody>
      </p:sp>
      <p:sp>
        <p:nvSpPr>
          <p:cNvPr id="18" name="Number 5"/>
          <p:cNvSpPr/>
          <p:nvPr/>
        </p:nvSpPr>
        <p:spPr>
          <a:xfrm>
            <a:off x="7772400" y="3758184"/>
            <a:ext cx="365760" cy="365760"/>
          </a:xfrm>
          <a:prstGeom prst="ellipse">
            <a:avLst/>
          </a:prstGeom>
          <a:solidFill>
            <a:schemeClr val="accent1"/>
          </a:solidFill>
          <a:ln w="6350">
            <a:solidFill>
              <a:schemeClr val="accent1"/>
            </a:solidFill>
            <a:prstDash val="solid"/>
          </a:ln>
        </p:spPr>
      </p:sp>
      <p:sp>
        <p:nvSpPr>
          <p:cNvPr id="19" name="Text 15"/>
          <p:cNvSpPr txBox="1"/>
          <p:nvPr/>
        </p:nvSpPr>
        <p:spPr>
          <a:xfrm>
            <a:off x="7772400" y="375818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5</a:t>
            </a:r>
            <a:endParaRPr lang="en-US" sz="1400" dirty="0"/>
          </a:p>
        </p:txBody>
      </p:sp>
      <p:sp>
        <p:nvSpPr>
          <p:cNvPr id="20" name="Text 16"/>
          <p:cNvSpPr txBox="1"/>
          <p:nvPr/>
        </p:nvSpPr>
        <p:spPr>
          <a:xfrm>
            <a:off x="8321040" y="3721608"/>
            <a:ext cx="3291840" cy="438912"/>
          </a:xfrm>
          <a:prstGeom prst="rect">
            <a:avLst/>
          </a:prstGeom>
          <a:noFill/>
          <a:ln/>
        </p:spPr>
        <p:txBody>
          <a:bodyPr wrap="square" lIns="0" tIns="0" rIns="0" bIns="0" rtlCol="0" anchor="ctr"/>
          <a:lstStyle/>
          <a:p>
            <a:pPr indent="0" marL="0">
              <a:buNone/>
            </a:pPr>
            <a:r>
              <a:rPr lang="en-US" sz="1400" b="1" dirty="0">
                <a:solidFill>
                  <a:schemeClr val="accent1"/>
                </a:solidFill>
              </a:rPr>
              <a:t>West front  </a:t>
            </a:r>
            <a:pPr indent="0" marL="0">
              <a:buNone/>
            </a:pPr>
            <a:r>
              <a:rPr lang="en-US" sz="1400" dirty="0">
                <a:solidFill>
                  <a:schemeClr val="tx1"/>
                </a:solidFill>
              </a:rPr>
              <a:t>main entrance</a:t>
            </a:r>
            <a:endParaRPr lang="en-US" sz="1400" dirty="0"/>
          </a:p>
        </p:txBody>
      </p:sp>
      <p:sp>
        <p:nvSpPr>
          <p:cNvPr id="21" name="Text 17"/>
          <p:cNvSpPr txBox="1"/>
          <p:nvPr/>
        </p:nvSpPr>
        <p:spPr>
          <a:xfrm>
            <a:off x="7772400" y="4343400"/>
            <a:ext cx="3840480" cy="320040"/>
          </a:xfrm>
          <a:prstGeom prst="rect">
            <a:avLst/>
          </a:prstGeom>
          <a:noFill/>
          <a:ln/>
        </p:spPr>
        <p:txBody>
          <a:bodyPr wrap="square" lIns="0" tIns="0" rIns="0" bIns="0" rtlCol="0" anchor="t"/>
          <a:lstStyle/>
          <a:p>
            <a:pPr indent="0" marL="0">
              <a:buNone/>
            </a:pPr>
            <a:r>
              <a:rPr lang="en-US" sz="1300" b="1" spc="300" kern="0" dirty="0">
                <a:solidFill>
                  <a:schemeClr val="tx2"/>
                </a:solidFill>
              </a:rPr>
              <a:t>FACADE</a:t>
            </a:r>
            <a:endParaRPr lang="en-US" sz="1300" dirty="0"/>
          </a:p>
        </p:txBody>
      </p:sp>
      <p:sp>
        <p:nvSpPr>
          <p:cNvPr id="22" name="Number A"/>
          <p:cNvSpPr/>
          <p:nvPr/>
        </p:nvSpPr>
        <p:spPr>
          <a:xfrm>
            <a:off x="7772400" y="4764024"/>
            <a:ext cx="365760" cy="365760"/>
          </a:xfrm>
          <a:prstGeom prst="ellipse">
            <a:avLst/>
          </a:prstGeom>
          <a:solidFill>
            <a:schemeClr val="accent1"/>
          </a:solidFill>
          <a:ln w="6350">
            <a:solidFill>
              <a:schemeClr val="accent1"/>
            </a:solidFill>
            <a:prstDash val="solid"/>
          </a:ln>
        </p:spPr>
      </p:sp>
      <p:sp>
        <p:nvSpPr>
          <p:cNvPr id="23" name="Text 19"/>
          <p:cNvSpPr txBox="1"/>
          <p:nvPr/>
        </p:nvSpPr>
        <p:spPr>
          <a:xfrm>
            <a:off x="7772400" y="476402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A</a:t>
            </a:r>
            <a:endParaRPr lang="en-US" sz="1400" dirty="0"/>
          </a:p>
        </p:txBody>
      </p:sp>
      <p:sp>
        <p:nvSpPr>
          <p:cNvPr id="24" name="Text 20"/>
          <p:cNvSpPr txBox="1"/>
          <p:nvPr/>
        </p:nvSpPr>
        <p:spPr>
          <a:xfrm>
            <a:off x="8321040" y="4727448"/>
            <a:ext cx="3291840" cy="438912"/>
          </a:xfrm>
          <a:prstGeom prst="rect">
            <a:avLst/>
          </a:prstGeom>
          <a:noFill/>
          <a:ln/>
        </p:spPr>
        <p:txBody>
          <a:bodyPr wrap="square" lIns="0" tIns="0" rIns="0" bIns="0" rtlCol="0" anchor="ctr"/>
          <a:lstStyle/>
          <a:p>
            <a:pPr indent="0" marL="0">
              <a:buNone/>
            </a:pPr>
            <a:r>
              <a:rPr lang="en-US" sz="1400" b="1" dirty="0">
                <a:solidFill>
                  <a:schemeClr val="accent1"/>
                </a:solidFill>
              </a:rPr>
              <a:t>Portals  </a:t>
            </a:r>
            <a:pPr indent="0" marL="0">
              <a:buNone/>
            </a:pPr>
            <a:r>
              <a:rPr lang="en-US" sz="1400" dirty="0">
                <a:solidFill>
                  <a:schemeClr val="tx1"/>
                </a:solidFill>
              </a:rPr>
              <a:t>carved stone stories</a:t>
            </a:r>
            <a:endParaRPr lang="en-US" sz="1400" dirty="0"/>
          </a:p>
        </p:txBody>
      </p:sp>
      <p:sp>
        <p:nvSpPr>
          <p:cNvPr id="25" name="Number B"/>
          <p:cNvSpPr/>
          <p:nvPr/>
        </p:nvSpPr>
        <p:spPr>
          <a:xfrm>
            <a:off x="7772400" y="5221224"/>
            <a:ext cx="365760" cy="365760"/>
          </a:xfrm>
          <a:prstGeom prst="ellipse">
            <a:avLst/>
          </a:prstGeom>
          <a:solidFill>
            <a:schemeClr val="accent1"/>
          </a:solidFill>
          <a:ln w="6350">
            <a:solidFill>
              <a:schemeClr val="accent1"/>
            </a:solidFill>
            <a:prstDash val="solid"/>
          </a:ln>
        </p:spPr>
      </p:sp>
      <p:sp>
        <p:nvSpPr>
          <p:cNvPr id="26" name="Text 22"/>
          <p:cNvSpPr txBox="1"/>
          <p:nvPr/>
        </p:nvSpPr>
        <p:spPr>
          <a:xfrm>
            <a:off x="7772400" y="522122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B</a:t>
            </a:r>
            <a:endParaRPr lang="en-US" sz="1400" dirty="0"/>
          </a:p>
        </p:txBody>
      </p:sp>
      <p:sp>
        <p:nvSpPr>
          <p:cNvPr id="27" name="Text 23"/>
          <p:cNvSpPr txBox="1"/>
          <p:nvPr/>
        </p:nvSpPr>
        <p:spPr>
          <a:xfrm>
            <a:off x="8321040" y="5184648"/>
            <a:ext cx="3291840" cy="438912"/>
          </a:xfrm>
          <a:prstGeom prst="rect">
            <a:avLst/>
          </a:prstGeom>
          <a:noFill/>
          <a:ln/>
        </p:spPr>
        <p:txBody>
          <a:bodyPr wrap="square" lIns="0" tIns="0" rIns="0" bIns="0" rtlCol="0" anchor="ctr"/>
          <a:lstStyle/>
          <a:p>
            <a:pPr indent="0" marL="0">
              <a:buNone/>
            </a:pPr>
            <a:r>
              <a:rPr lang="en-US" sz="1400" b="1" dirty="0">
                <a:solidFill>
                  <a:schemeClr val="accent1"/>
                </a:solidFill>
              </a:rPr>
              <a:t>Rose window  </a:t>
            </a:r>
            <a:pPr indent="0" marL="0">
              <a:buNone/>
            </a:pPr>
            <a:r>
              <a:rPr lang="en-US" sz="1400" dirty="0">
                <a:solidFill>
                  <a:schemeClr val="tx1"/>
                </a:solidFill>
              </a:rPr>
              <a:t>circle of glass</a:t>
            </a:r>
            <a:endParaRPr lang="en-US" sz="1400" dirty="0"/>
          </a:p>
        </p:txBody>
      </p:sp>
      <p:sp>
        <p:nvSpPr>
          <p:cNvPr id="28" name="Number C"/>
          <p:cNvSpPr/>
          <p:nvPr/>
        </p:nvSpPr>
        <p:spPr>
          <a:xfrm>
            <a:off x="7772400" y="5678424"/>
            <a:ext cx="365760" cy="365760"/>
          </a:xfrm>
          <a:prstGeom prst="ellipse">
            <a:avLst/>
          </a:prstGeom>
          <a:solidFill>
            <a:schemeClr val="accent1"/>
          </a:solidFill>
          <a:ln w="6350">
            <a:solidFill>
              <a:schemeClr val="accent1"/>
            </a:solidFill>
            <a:prstDash val="solid"/>
          </a:ln>
        </p:spPr>
      </p:sp>
      <p:sp>
        <p:nvSpPr>
          <p:cNvPr id="29" name="Text 25"/>
          <p:cNvSpPr txBox="1"/>
          <p:nvPr/>
        </p:nvSpPr>
        <p:spPr>
          <a:xfrm>
            <a:off x="7772400" y="567842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C</a:t>
            </a:r>
            <a:endParaRPr lang="en-US" sz="1400" dirty="0"/>
          </a:p>
        </p:txBody>
      </p:sp>
      <p:sp>
        <p:nvSpPr>
          <p:cNvPr id="30" name="Text 26"/>
          <p:cNvSpPr txBox="1"/>
          <p:nvPr/>
        </p:nvSpPr>
        <p:spPr>
          <a:xfrm>
            <a:off x="8321040" y="5641848"/>
            <a:ext cx="3291840" cy="438912"/>
          </a:xfrm>
          <a:prstGeom prst="rect">
            <a:avLst/>
          </a:prstGeom>
          <a:noFill/>
          <a:ln/>
        </p:spPr>
        <p:txBody>
          <a:bodyPr wrap="square" lIns="0" tIns="0" rIns="0" bIns="0" rtlCol="0" anchor="ctr"/>
          <a:lstStyle/>
          <a:p>
            <a:pPr indent="0" marL="0">
              <a:buNone/>
            </a:pPr>
            <a:r>
              <a:rPr lang="en-US" sz="1400" b="1" dirty="0">
                <a:solidFill>
                  <a:schemeClr val="accent1"/>
                </a:solidFill>
              </a:rPr>
              <a:t>Twin towers  </a:t>
            </a:r>
            <a:pPr indent="0" marL="0">
              <a:buNone/>
            </a:pPr>
            <a:r>
              <a:rPr lang="en-US" sz="1400" dirty="0">
                <a:solidFill>
                  <a:schemeClr val="tx1"/>
                </a:solidFill>
              </a:rPr>
              <a:t>bell towers</a:t>
            </a:r>
            <a:endParaRPr lang="en-US" sz="14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9B3C8"/>
                </a:solidFill>
              </a:defRPr>
            </a:lvl1pPr>
          </a:lstStyle>
          <a:p>
            <a:pPr algn="r"/>
            <a:fld id="{F7021451-1387-4CA6-816F-3879F97B5CBC}" type="slidenum">
              <a:rPr b="0" lang="en-US"/>
              <a:t>9</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800">
        <p14:prism dir="r"/>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Built by generations, not by one genius</a:t>
            </a:r>
            <a:endParaRPr lang="en-US" sz="3600" dirty="0"/>
          </a:p>
        </p:txBody>
      </p:sp>
      <p:sp>
        <p:nvSpPr>
          <p:cNvPr id="3" name="Icon badge coin"/>
          <p:cNvSpPr/>
          <p:nvPr/>
        </p:nvSpPr>
        <p:spPr>
          <a:xfrm>
            <a:off x="640080" y="1554480"/>
            <a:ext cx="731520" cy="731520"/>
          </a:xfrm>
          <a:prstGeom prst="ellipse">
            <a:avLst/>
          </a:prstGeom>
          <a:solidFill>
            <a:schemeClr val="accent1"/>
          </a:solidFill>
          <a:ln w="6350">
            <a:solidFill>
              <a:schemeClr val="accent1"/>
            </a:solidFill>
            <a:prstDash val="solid"/>
          </a:ln>
        </p:spPr>
      </p:sp>
      <p:pic>
        <p:nvPicPr>
          <p:cNvPr id="4" name="Image 0" descr="coin icon">    </p:cNvPr>
          <p:cNvPicPr>
            <a:picLocks noChangeAspect="1"/>
          </p:cNvPicPr>
          <p:nvPr/>
        </p:nvPicPr>
        <p:blipFill>
          <a:blip r:embed="rId1"/>
          <a:stretch>
            <a:fillRect/>
          </a:stretch>
        </p:blipFill>
        <p:spPr>
          <a:xfrm>
            <a:off x="793699" y="1708099"/>
            <a:ext cx="424282" cy="424282"/>
          </a:xfrm>
          <a:prstGeom prst="rect">
            <a:avLst/>
          </a:prstGeom>
        </p:spPr>
      </p:pic>
      <p:sp>
        <p:nvSpPr>
          <p:cNvPr id="5" name="Text 2"/>
          <p:cNvSpPr txBox="1"/>
          <p:nvPr/>
        </p:nvSpPr>
        <p:spPr>
          <a:xfrm>
            <a:off x="1600200" y="1508760"/>
            <a:ext cx="5394960" cy="36576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Fund</a:t>
            </a:r>
            <a:endParaRPr lang="en-US" sz="2000" dirty="0"/>
          </a:p>
        </p:txBody>
      </p:sp>
      <p:sp>
        <p:nvSpPr>
          <p:cNvPr id="6" name="Text 3"/>
          <p:cNvSpPr txBox="1"/>
          <p:nvPr/>
        </p:nvSpPr>
        <p:spPr>
          <a:xfrm>
            <a:off x="1600200" y="1892808"/>
            <a:ext cx="5394960" cy="502920"/>
          </a:xfrm>
          <a:prstGeom prst="rect">
            <a:avLst/>
          </a:prstGeom>
          <a:noFill/>
          <a:ln/>
        </p:spPr>
        <p:txBody>
          <a:bodyPr wrap="square" lIns="0" tIns="0" rIns="0" bIns="0" rtlCol="0" anchor="t"/>
          <a:lstStyle/>
          <a:p>
            <a:pPr indent="0" marL="0">
              <a:buNone/>
            </a:pPr>
            <a:r>
              <a:rPr lang="en-US" sz="1500" dirty="0">
                <a:solidFill>
                  <a:schemeClr val="tx1"/>
                </a:solidFill>
              </a:rPr>
              <a:t>Bishops, kings, guilds and pilgrims pay. Money often ran out.</a:t>
            </a:r>
            <a:endParaRPr lang="en-US" sz="1500" dirty="0"/>
          </a:p>
        </p:txBody>
      </p:sp>
      <p:sp>
        <p:nvSpPr>
          <p:cNvPr id="7" name="Icon badge compass"/>
          <p:cNvSpPr/>
          <p:nvPr/>
        </p:nvSpPr>
        <p:spPr>
          <a:xfrm>
            <a:off x="640080" y="2514600"/>
            <a:ext cx="731520" cy="731520"/>
          </a:xfrm>
          <a:prstGeom prst="ellipse">
            <a:avLst/>
          </a:prstGeom>
          <a:solidFill>
            <a:schemeClr val="accent1"/>
          </a:solidFill>
          <a:ln w="6350">
            <a:solidFill>
              <a:schemeClr val="accent1"/>
            </a:solidFill>
            <a:prstDash val="solid"/>
          </a:ln>
        </p:spPr>
      </p:sp>
      <p:pic>
        <p:nvPicPr>
          <p:cNvPr id="8" name="Image 1" descr="compass icon">    </p:cNvPr>
          <p:cNvPicPr>
            <a:picLocks noChangeAspect="1"/>
          </p:cNvPicPr>
          <p:nvPr/>
        </p:nvPicPr>
        <p:blipFill>
          <a:blip r:embed="rId2"/>
          <a:stretch>
            <a:fillRect/>
          </a:stretch>
        </p:blipFill>
        <p:spPr>
          <a:xfrm>
            <a:off x="793699" y="2668219"/>
            <a:ext cx="424282" cy="424282"/>
          </a:xfrm>
          <a:prstGeom prst="rect">
            <a:avLst/>
          </a:prstGeom>
        </p:spPr>
      </p:pic>
      <p:sp>
        <p:nvSpPr>
          <p:cNvPr id="9" name="Text 5"/>
          <p:cNvSpPr txBox="1"/>
          <p:nvPr/>
        </p:nvSpPr>
        <p:spPr>
          <a:xfrm>
            <a:off x="1600200" y="2468880"/>
            <a:ext cx="5394960" cy="36576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Design</a:t>
            </a:r>
            <a:endParaRPr lang="en-US" sz="2000" dirty="0"/>
          </a:p>
        </p:txBody>
      </p:sp>
      <p:sp>
        <p:nvSpPr>
          <p:cNvPr id="10" name="Text 6"/>
          <p:cNvSpPr txBox="1"/>
          <p:nvPr/>
        </p:nvSpPr>
        <p:spPr>
          <a:xfrm>
            <a:off x="1600200" y="2852928"/>
            <a:ext cx="5394960" cy="502920"/>
          </a:xfrm>
          <a:prstGeom prst="rect">
            <a:avLst/>
          </a:prstGeom>
          <a:noFill/>
          <a:ln/>
        </p:spPr>
        <p:txBody>
          <a:bodyPr wrap="square" lIns="0" tIns="0" rIns="0" bIns="0" rtlCol="0" anchor="t"/>
          <a:lstStyle/>
          <a:p>
            <a:pPr indent="0" marL="0">
              <a:buNone/>
            </a:pPr>
            <a:r>
              <a:rPr lang="en-US" sz="1500" dirty="0">
                <a:solidFill>
                  <a:schemeClr val="tx1"/>
                </a:solidFill>
              </a:rPr>
              <a:t>A master mason draws with compass and geometry.</a:t>
            </a:r>
            <a:endParaRPr lang="en-US" sz="1500" dirty="0"/>
          </a:p>
        </p:txBody>
      </p:sp>
      <p:sp>
        <p:nvSpPr>
          <p:cNvPr id="11" name="Icon badge hammer"/>
          <p:cNvSpPr/>
          <p:nvPr/>
        </p:nvSpPr>
        <p:spPr>
          <a:xfrm>
            <a:off x="640080" y="3474720"/>
            <a:ext cx="731520" cy="731520"/>
          </a:xfrm>
          <a:prstGeom prst="ellipse">
            <a:avLst/>
          </a:prstGeom>
          <a:solidFill>
            <a:schemeClr val="accent1"/>
          </a:solidFill>
          <a:ln w="6350">
            <a:solidFill>
              <a:schemeClr val="accent1"/>
            </a:solidFill>
            <a:prstDash val="solid"/>
          </a:ln>
        </p:spPr>
      </p:sp>
      <p:pic>
        <p:nvPicPr>
          <p:cNvPr id="12" name="Image 2" descr="hammer icon">    </p:cNvPr>
          <p:cNvPicPr>
            <a:picLocks noChangeAspect="1"/>
          </p:cNvPicPr>
          <p:nvPr/>
        </p:nvPicPr>
        <p:blipFill>
          <a:blip r:embed="rId3"/>
          <a:stretch>
            <a:fillRect/>
          </a:stretch>
        </p:blipFill>
        <p:spPr>
          <a:xfrm>
            <a:off x="793699" y="3628339"/>
            <a:ext cx="424282" cy="424282"/>
          </a:xfrm>
          <a:prstGeom prst="rect">
            <a:avLst/>
          </a:prstGeom>
        </p:spPr>
      </p:pic>
      <p:sp>
        <p:nvSpPr>
          <p:cNvPr id="13" name="Text 8"/>
          <p:cNvSpPr txBox="1"/>
          <p:nvPr/>
        </p:nvSpPr>
        <p:spPr>
          <a:xfrm>
            <a:off x="1600200" y="3429000"/>
            <a:ext cx="5394960" cy="36576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Carve</a:t>
            </a:r>
            <a:endParaRPr lang="en-US" sz="2000" dirty="0"/>
          </a:p>
        </p:txBody>
      </p:sp>
      <p:sp>
        <p:nvSpPr>
          <p:cNvPr id="14" name="Text 9"/>
          <p:cNvSpPr txBox="1"/>
          <p:nvPr/>
        </p:nvSpPr>
        <p:spPr>
          <a:xfrm>
            <a:off x="1600200" y="3813048"/>
            <a:ext cx="5394960" cy="502920"/>
          </a:xfrm>
          <a:prstGeom prst="rect">
            <a:avLst/>
          </a:prstGeom>
          <a:noFill/>
          <a:ln/>
        </p:spPr>
        <p:txBody>
          <a:bodyPr wrap="square" lIns="0" tIns="0" rIns="0" bIns="0" rtlCol="0" anchor="t"/>
          <a:lstStyle/>
          <a:p>
            <a:pPr indent="0" marL="0">
              <a:buNone/>
            </a:pPr>
            <a:r>
              <a:rPr lang="en-US" sz="1500" dirty="0">
                <a:solidFill>
                  <a:schemeClr val="tx1"/>
                </a:solidFill>
              </a:rPr>
              <a:t>Each stone is cut on the ground and marked with the mason's sign.</a:t>
            </a:r>
            <a:endParaRPr lang="en-US" sz="1500" dirty="0"/>
          </a:p>
        </p:txBody>
      </p:sp>
      <p:sp>
        <p:nvSpPr>
          <p:cNvPr id="15" name="Icon badge lift"/>
          <p:cNvSpPr/>
          <p:nvPr/>
        </p:nvSpPr>
        <p:spPr>
          <a:xfrm>
            <a:off x="640080" y="4434840"/>
            <a:ext cx="731520" cy="731520"/>
          </a:xfrm>
          <a:prstGeom prst="ellipse">
            <a:avLst/>
          </a:prstGeom>
          <a:solidFill>
            <a:schemeClr val="accent1"/>
          </a:solidFill>
          <a:ln w="6350">
            <a:solidFill>
              <a:schemeClr val="accent1"/>
            </a:solidFill>
            <a:prstDash val="solid"/>
          </a:ln>
        </p:spPr>
      </p:sp>
      <p:pic>
        <p:nvPicPr>
          <p:cNvPr id="16" name="Image 3" descr="lift icon">    </p:cNvPr>
          <p:cNvPicPr>
            <a:picLocks noChangeAspect="1"/>
          </p:cNvPicPr>
          <p:nvPr/>
        </p:nvPicPr>
        <p:blipFill>
          <a:blip r:embed="rId4"/>
          <a:stretch>
            <a:fillRect/>
          </a:stretch>
        </p:blipFill>
        <p:spPr>
          <a:xfrm>
            <a:off x="793699" y="4588459"/>
            <a:ext cx="424282" cy="424282"/>
          </a:xfrm>
          <a:prstGeom prst="rect">
            <a:avLst/>
          </a:prstGeom>
        </p:spPr>
      </p:pic>
      <p:sp>
        <p:nvSpPr>
          <p:cNvPr id="17" name="Text 11"/>
          <p:cNvSpPr txBox="1"/>
          <p:nvPr/>
        </p:nvSpPr>
        <p:spPr>
          <a:xfrm>
            <a:off x="1600200" y="4389120"/>
            <a:ext cx="5394960" cy="36576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Lift &amp; set</a:t>
            </a:r>
            <a:endParaRPr lang="en-US" sz="2000" dirty="0"/>
          </a:p>
        </p:txBody>
      </p:sp>
      <p:sp>
        <p:nvSpPr>
          <p:cNvPr id="18" name="Text 12"/>
          <p:cNvSpPr txBox="1"/>
          <p:nvPr/>
        </p:nvSpPr>
        <p:spPr>
          <a:xfrm>
            <a:off x="1600200" y="4773168"/>
            <a:ext cx="5394960" cy="502920"/>
          </a:xfrm>
          <a:prstGeom prst="rect">
            <a:avLst/>
          </a:prstGeom>
          <a:noFill/>
          <a:ln/>
        </p:spPr>
        <p:txBody>
          <a:bodyPr wrap="square" lIns="0" tIns="0" rIns="0" bIns="0" rtlCol="0" anchor="t"/>
          <a:lstStyle/>
          <a:p>
            <a:pPr indent="0" marL="0">
              <a:buNone/>
            </a:pPr>
            <a:r>
              <a:rPr lang="en-US" sz="1500" dirty="0">
                <a:solidFill>
                  <a:schemeClr val="tx1"/>
                </a:solidFill>
              </a:rPr>
              <a:t>Treadwheel cranes, scaffolds and wooden centering.</a:t>
            </a:r>
            <a:endParaRPr lang="en-US" sz="1500" dirty="0"/>
          </a:p>
        </p:txBody>
      </p:sp>
      <p:sp>
        <p:nvSpPr>
          <p:cNvPr id="19" name="Icon badge clock"/>
          <p:cNvSpPr/>
          <p:nvPr/>
        </p:nvSpPr>
        <p:spPr>
          <a:xfrm>
            <a:off x="640080" y="5394960"/>
            <a:ext cx="731520" cy="731520"/>
          </a:xfrm>
          <a:prstGeom prst="ellipse">
            <a:avLst/>
          </a:prstGeom>
          <a:solidFill>
            <a:schemeClr val="accent1"/>
          </a:solidFill>
          <a:ln w="6350">
            <a:solidFill>
              <a:schemeClr val="accent1"/>
            </a:solidFill>
            <a:prstDash val="solid"/>
          </a:ln>
        </p:spPr>
      </p:sp>
      <p:pic>
        <p:nvPicPr>
          <p:cNvPr id="20" name="Image 4" descr="clock icon">    </p:cNvPr>
          <p:cNvPicPr>
            <a:picLocks noChangeAspect="1"/>
          </p:cNvPicPr>
          <p:nvPr/>
        </p:nvPicPr>
        <p:blipFill>
          <a:blip r:embed="rId5"/>
          <a:stretch>
            <a:fillRect/>
          </a:stretch>
        </p:blipFill>
        <p:spPr>
          <a:xfrm>
            <a:off x="793699" y="5548579"/>
            <a:ext cx="424282" cy="424282"/>
          </a:xfrm>
          <a:prstGeom prst="rect">
            <a:avLst/>
          </a:prstGeom>
        </p:spPr>
      </p:pic>
      <p:sp>
        <p:nvSpPr>
          <p:cNvPr id="21" name="Text 14"/>
          <p:cNvSpPr txBox="1"/>
          <p:nvPr/>
        </p:nvSpPr>
        <p:spPr>
          <a:xfrm>
            <a:off x="1600200" y="5349240"/>
            <a:ext cx="5394960" cy="36576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Wait</a:t>
            </a:r>
            <a:endParaRPr lang="en-US" sz="2000" dirty="0"/>
          </a:p>
        </p:txBody>
      </p:sp>
      <p:sp>
        <p:nvSpPr>
          <p:cNvPr id="22" name="Text 15"/>
          <p:cNvSpPr txBox="1"/>
          <p:nvPr/>
        </p:nvSpPr>
        <p:spPr>
          <a:xfrm>
            <a:off x="1600200" y="5733288"/>
            <a:ext cx="5394960" cy="502920"/>
          </a:xfrm>
          <a:prstGeom prst="rect">
            <a:avLst/>
          </a:prstGeom>
          <a:noFill/>
          <a:ln/>
        </p:spPr>
        <p:txBody>
          <a:bodyPr wrap="square" lIns="0" tIns="0" rIns="0" bIns="0" rtlCol="0" anchor="t"/>
          <a:lstStyle/>
          <a:p>
            <a:pPr indent="0" marL="0">
              <a:buNone/>
            </a:pPr>
            <a:r>
              <a:rPr lang="en-US" sz="1500" dirty="0">
                <a:solidFill>
                  <a:schemeClr val="tx1"/>
                </a:solidFill>
              </a:rPr>
              <a:t>Decades, even centuries. Many builders never saw the end.</a:t>
            </a:r>
            <a:endParaRPr lang="en-US" sz="1500" dirty="0"/>
          </a:p>
        </p:txBody>
      </p:sp>
      <p:sp>
        <p:nvSpPr>
          <p:cNvPr id="23" name="Duration card 1"/>
          <p:cNvSpPr/>
          <p:nvPr/>
        </p:nvSpPr>
        <p:spPr>
          <a:xfrm>
            <a:off x="7498080" y="1554480"/>
            <a:ext cx="4114800" cy="2194560"/>
          </a:xfrm>
          <a:prstGeom prst="roundRect">
            <a:avLst>
              <a:gd name="adj" fmla="val 5000"/>
            </a:avLst>
          </a:prstGeom>
          <a:solidFill>
            <a:schemeClr val="bg2"/>
          </a:solidFill>
          <a:ln w="6350">
            <a:solidFill>
              <a:schemeClr val="bg2"/>
            </a:solidFill>
            <a:prstDash val="solid"/>
          </a:ln>
        </p:spPr>
      </p:sp>
      <p:sp>
        <p:nvSpPr>
          <p:cNvPr id="24" name="Text 17"/>
          <p:cNvSpPr txBox="1"/>
          <p:nvPr/>
        </p:nvSpPr>
        <p:spPr>
          <a:xfrm>
            <a:off x="7772400" y="1783080"/>
            <a:ext cx="3566160" cy="109728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 180 </a:t>
            </a:r>
            <a:pPr indent="0" marL="0">
              <a:buNone/>
            </a:pPr>
            <a:r>
              <a:rPr lang="en-US" sz="2200" dirty="0">
                <a:solidFill>
                  <a:schemeClr val="tx1"/>
                </a:solidFill>
              </a:rPr>
              <a:t>years</a:t>
            </a:r>
            <a:endParaRPr lang="en-US" sz="1400" dirty="0"/>
          </a:p>
        </p:txBody>
      </p:sp>
      <p:sp>
        <p:nvSpPr>
          <p:cNvPr id="25" name="Text 18"/>
          <p:cNvSpPr txBox="1"/>
          <p:nvPr/>
        </p:nvSpPr>
        <p:spPr>
          <a:xfrm>
            <a:off x="7772400" y="2926080"/>
            <a:ext cx="3566160" cy="640080"/>
          </a:xfrm>
          <a:prstGeom prst="rect">
            <a:avLst/>
          </a:prstGeom>
          <a:noFill/>
          <a:ln/>
        </p:spPr>
        <p:txBody>
          <a:bodyPr wrap="square" lIns="0" tIns="0" rIns="0" bIns="0" rtlCol="0" anchor="t"/>
          <a:lstStyle/>
          <a:p>
            <a:pPr indent="0" marL="0">
              <a:buNone/>
            </a:pPr>
            <a:r>
              <a:rPr lang="en-US" sz="1600" dirty="0">
                <a:solidFill>
                  <a:schemeClr val="tx1"/>
                </a:solidFill>
              </a:rPr>
              <a:t>Notre-Dame de Paris, 1163 to about 1345</a:t>
            </a:r>
            <a:endParaRPr lang="en-US" sz="1600" dirty="0"/>
          </a:p>
        </p:txBody>
      </p:sp>
      <p:sp>
        <p:nvSpPr>
          <p:cNvPr id="26" name="Duration card 2"/>
          <p:cNvSpPr/>
          <p:nvPr/>
        </p:nvSpPr>
        <p:spPr>
          <a:xfrm>
            <a:off x="7498080" y="3977640"/>
            <a:ext cx="4114800" cy="2194560"/>
          </a:xfrm>
          <a:prstGeom prst="roundRect">
            <a:avLst>
              <a:gd name="adj" fmla="val 5000"/>
            </a:avLst>
          </a:prstGeom>
          <a:solidFill>
            <a:schemeClr val="bg2"/>
          </a:solidFill>
          <a:ln w="6350">
            <a:solidFill>
              <a:schemeClr val="bg2"/>
            </a:solidFill>
            <a:prstDash val="solid"/>
          </a:ln>
        </p:spPr>
      </p:sp>
      <p:sp>
        <p:nvSpPr>
          <p:cNvPr id="27" name="Text 20"/>
          <p:cNvSpPr txBox="1"/>
          <p:nvPr/>
        </p:nvSpPr>
        <p:spPr>
          <a:xfrm>
            <a:off x="7772400" y="4206240"/>
            <a:ext cx="3566160" cy="109728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632 </a:t>
            </a:r>
            <a:pPr indent="0" marL="0">
              <a:buNone/>
            </a:pPr>
            <a:r>
              <a:rPr lang="en-US" sz="2200" dirty="0">
                <a:solidFill>
                  <a:schemeClr val="tx1"/>
                </a:solidFill>
              </a:rPr>
              <a:t>years</a:t>
            </a:r>
            <a:endParaRPr lang="en-US" sz="1400" dirty="0"/>
          </a:p>
        </p:txBody>
      </p:sp>
      <p:sp>
        <p:nvSpPr>
          <p:cNvPr id="28" name="Text 21"/>
          <p:cNvSpPr txBox="1"/>
          <p:nvPr/>
        </p:nvSpPr>
        <p:spPr>
          <a:xfrm>
            <a:off x="7772400" y="5349240"/>
            <a:ext cx="3566160" cy="640080"/>
          </a:xfrm>
          <a:prstGeom prst="rect">
            <a:avLst/>
          </a:prstGeom>
          <a:noFill/>
          <a:ln/>
        </p:spPr>
        <p:txBody>
          <a:bodyPr wrap="square" lIns="0" tIns="0" rIns="0" bIns="0" rtlCol="0" anchor="t"/>
          <a:lstStyle/>
          <a:p>
            <a:pPr indent="0" marL="0">
              <a:buNone/>
            </a:pPr>
            <a:r>
              <a:rPr lang="en-US" sz="1600" dirty="0">
                <a:solidFill>
                  <a:schemeClr val="tx1"/>
                </a:solidFill>
              </a:rPr>
              <a:t>Cologne Cathedral, 1248 to 1880</a:t>
            </a:r>
            <a:endParaRPr lang="en-US" sz="16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9B3C8"/>
                </a:solidFill>
              </a:defRPr>
            </a:lvl1pPr>
          </a:lstStyle>
          <a:p>
            <a:pPr algn="r"/>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800">
        <p14:conveyor dir="l"/>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The race to the sky</a:t>
            </a:r>
            <a:endParaRPr lang="en-US" sz="3600" dirty="0"/>
          </a:p>
        </p:txBody>
      </p:sp>
      <p:graphicFrame>
        <p:nvGraphicFramePr>
          <p:cNvPr id="3" name="Chart 0" descr=""/>
          <p:cNvGraphicFramePr/>
          <p:nvPr/>
        </p:nvGraphicFramePr>
        <p:xfrm>
          <a:off x="548640" y="1417320"/>
          <a:ext cx="7132320" cy="4892040"/>
        </p:xfrm>
        <a:graphic xmlns:a="http://schemas.openxmlformats.org/drawingml/2006/main">
          <a:graphicData uri="http://schemas.openxmlformats.org/drawingml/2006/chart">
            <c:chart xmlns:c="http://schemas.openxmlformats.org/drawingml/2006/chart" r:id="rId1"/>
          </a:graphicData>
        </a:graphic>
      </p:graphicFrame>
      <p:sp>
        <p:nvSpPr>
          <p:cNvPr id="4" name="Insights"/>
          <p:cNvSpPr/>
          <p:nvPr/>
        </p:nvSpPr>
        <p:spPr>
          <a:xfrm>
            <a:off x="8046720" y="1554480"/>
            <a:ext cx="3566160" cy="4663440"/>
          </a:xfrm>
          <a:prstGeom prst="roundRect">
            <a:avLst>
              <a:gd name="adj" fmla="val 3077"/>
            </a:avLst>
          </a:prstGeom>
          <a:solidFill>
            <a:schemeClr val="bg2"/>
          </a:solidFill>
          <a:ln w="6350">
            <a:solidFill>
              <a:schemeClr val="bg2"/>
            </a:solidFill>
            <a:prstDash val="solid"/>
          </a:ln>
        </p:spPr>
      </p:sp>
      <p:sp>
        <p:nvSpPr>
          <p:cNvPr id="5" name="Text 2"/>
          <p:cNvSpPr txBox="1"/>
          <p:nvPr/>
        </p:nvSpPr>
        <p:spPr>
          <a:xfrm>
            <a:off x="8321040" y="1783080"/>
            <a:ext cx="310896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+45%</a:t>
            </a:r>
            <a:endParaRPr lang="en-US" sz="2400" dirty="0"/>
          </a:p>
        </p:txBody>
      </p:sp>
      <p:sp>
        <p:nvSpPr>
          <p:cNvPr id="6" name="Text 3"/>
          <p:cNvSpPr txBox="1"/>
          <p:nvPr/>
        </p:nvSpPr>
        <p:spPr>
          <a:xfrm>
            <a:off x="8321040" y="2240280"/>
            <a:ext cx="3108960" cy="868680"/>
          </a:xfrm>
          <a:prstGeom prst="rect">
            <a:avLst/>
          </a:prstGeom>
          <a:noFill/>
          <a:ln/>
        </p:spPr>
        <p:txBody>
          <a:bodyPr wrap="square" lIns="0" tIns="0" rIns="0" bIns="0" rtlCol="0" anchor="t"/>
          <a:lstStyle/>
          <a:p>
            <a:pPr indent="0" marL="0">
              <a:buNone/>
            </a:pPr>
            <a:r>
              <a:rPr lang="en-US" sz="1500" dirty="0">
                <a:solidFill>
                  <a:schemeClr val="tx1"/>
                </a:solidFill>
              </a:rPr>
              <a:t>in about 60 years: each bishop wanted to beat the last.</a:t>
            </a:r>
            <a:endParaRPr lang="en-US" sz="1500" dirty="0"/>
          </a:p>
        </p:txBody>
      </p:sp>
      <p:sp>
        <p:nvSpPr>
          <p:cNvPr id="7" name="Text 4"/>
          <p:cNvSpPr txBox="1"/>
          <p:nvPr/>
        </p:nvSpPr>
        <p:spPr>
          <a:xfrm>
            <a:off x="8321040" y="3246120"/>
            <a:ext cx="3108960" cy="45720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1284</a:t>
            </a:r>
            <a:endParaRPr lang="en-US" sz="2400" dirty="0"/>
          </a:p>
        </p:txBody>
      </p:sp>
      <p:sp>
        <p:nvSpPr>
          <p:cNvPr id="8" name="Text 5"/>
          <p:cNvSpPr txBox="1"/>
          <p:nvPr/>
        </p:nvSpPr>
        <p:spPr>
          <a:xfrm>
            <a:off x="8321040" y="3703320"/>
            <a:ext cx="3108960" cy="868680"/>
          </a:xfrm>
          <a:prstGeom prst="rect">
            <a:avLst/>
          </a:prstGeom>
          <a:noFill/>
          <a:ln/>
        </p:spPr>
        <p:txBody>
          <a:bodyPr wrap="square" lIns="0" tIns="0" rIns="0" bIns="0" rtlCol="0" anchor="t"/>
          <a:lstStyle/>
          <a:p>
            <a:pPr indent="0" marL="0">
              <a:buNone/>
            </a:pPr>
            <a:r>
              <a:rPr lang="en-US" sz="1500" dirty="0">
                <a:solidFill>
                  <a:schemeClr val="tx1"/>
                </a:solidFill>
              </a:rPr>
              <a:t>Beauvais' vault collapses, only 12 years after the choir was finished.</a:t>
            </a:r>
            <a:endParaRPr lang="en-US" sz="1500" dirty="0"/>
          </a:p>
        </p:txBody>
      </p:sp>
      <p:sp>
        <p:nvSpPr>
          <p:cNvPr id="9" name="Text 6"/>
          <p:cNvSpPr txBox="1"/>
          <p:nvPr/>
        </p:nvSpPr>
        <p:spPr>
          <a:xfrm>
            <a:off x="8321040" y="4709160"/>
            <a:ext cx="310896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Trial &amp; error</a:t>
            </a:r>
            <a:endParaRPr lang="en-US" sz="2400" dirty="0"/>
          </a:p>
        </p:txBody>
      </p:sp>
      <p:sp>
        <p:nvSpPr>
          <p:cNvPr id="10" name="Text 7"/>
          <p:cNvSpPr txBox="1"/>
          <p:nvPr/>
        </p:nvSpPr>
        <p:spPr>
          <a:xfrm>
            <a:off x="8321040" y="5166360"/>
            <a:ext cx="3108960" cy="868680"/>
          </a:xfrm>
          <a:prstGeom prst="rect">
            <a:avLst/>
          </a:prstGeom>
          <a:noFill/>
          <a:ln/>
        </p:spPr>
        <p:txBody>
          <a:bodyPr wrap="square" lIns="0" tIns="0" rIns="0" bIns="0" rtlCol="0" anchor="t"/>
          <a:lstStyle/>
          <a:p>
            <a:pPr indent="0" marL="0">
              <a:buNone/>
            </a:pPr>
            <a:r>
              <a:rPr lang="en-US" sz="1500" dirty="0">
                <a:solidFill>
                  <a:schemeClr val="tx1"/>
                </a:solidFill>
              </a:rPr>
              <a:t>No structural theory yet: every failure taught the masons something.</a:t>
            </a:r>
            <a:endParaRPr lang="en-US" sz="15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9B3C8"/>
                </a:solidFill>
              </a:defRPr>
            </a:lvl1pPr>
          </a:lstStyle>
          <a:p>
            <a:pPr algn="r"/>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Requires="p14">
      <p:transition spd="slow" p14:dur="2000">
        <p14:ferris dir="r"/>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Spread, decline and rebirth</a:t>
            </a:r>
            <a:endParaRPr lang="en-US" sz="3600" dirty="0"/>
          </a:p>
        </p:txBody>
      </p:sp>
      <p:sp>
        <p:nvSpPr>
          <p:cNvPr id="3" name="Act card 1"/>
          <p:cNvSpPr/>
          <p:nvPr/>
        </p:nvSpPr>
        <p:spPr>
          <a:xfrm>
            <a:off x="640080" y="1508760"/>
            <a:ext cx="3566160" cy="4754880"/>
          </a:xfrm>
          <a:prstGeom prst="roundRect">
            <a:avLst>
              <a:gd name="adj" fmla="val 3077"/>
            </a:avLst>
          </a:prstGeom>
          <a:solidFill>
            <a:schemeClr val="bg2"/>
          </a:solidFill>
          <a:ln w="6350">
            <a:solidFill>
              <a:schemeClr val="bg2"/>
            </a:solidFill>
            <a:prstDash val="solid"/>
          </a:ln>
        </p:spPr>
      </p:sp>
      <p:sp>
        <p:nvSpPr>
          <p:cNvPr id="4" name="Number 1"/>
          <p:cNvSpPr/>
          <p:nvPr/>
        </p:nvSpPr>
        <p:spPr>
          <a:xfrm>
            <a:off x="914400" y="1737360"/>
            <a:ext cx="548640" cy="548640"/>
          </a:xfrm>
          <a:prstGeom prst="ellipse">
            <a:avLst/>
          </a:prstGeom>
          <a:solidFill>
            <a:schemeClr val="accent1"/>
          </a:solidFill>
          <a:ln w="6350">
            <a:solidFill>
              <a:schemeClr val="accent1"/>
            </a:solidFill>
            <a:prstDash val="solid"/>
          </a:ln>
        </p:spPr>
      </p:sp>
      <p:sp>
        <p:nvSpPr>
          <p:cNvPr id="5" name="Text 3"/>
          <p:cNvSpPr txBox="1"/>
          <p:nvPr/>
        </p:nvSpPr>
        <p:spPr>
          <a:xfrm>
            <a:off x="914400" y="173736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1</a:t>
            </a:r>
            <a:endParaRPr lang="en-US" sz="2200" dirty="0"/>
          </a:p>
        </p:txBody>
      </p:sp>
      <p:sp>
        <p:nvSpPr>
          <p:cNvPr id="6" name="Text 4"/>
          <p:cNvSpPr txBox="1"/>
          <p:nvPr/>
        </p:nvSpPr>
        <p:spPr>
          <a:xfrm>
            <a:off x="1645920" y="1737360"/>
            <a:ext cx="2377440" cy="548640"/>
          </a:xfrm>
          <a:prstGeom prst="rect">
            <a:avLst/>
          </a:prstGeom>
          <a:noFill/>
          <a:ln/>
        </p:spPr>
        <p:txBody>
          <a:bodyPr wrap="square" lIns="0" tIns="0" rIns="0" bIns="0" rtlCol="0" anchor="ctr"/>
          <a:lstStyle/>
          <a:p>
            <a:pPr indent="0" marL="0">
              <a:buNone/>
            </a:pPr>
            <a:r>
              <a:rPr lang="en-US" sz="2600" b="1" dirty="0">
                <a:solidFill>
                  <a:schemeClr val="tx1"/>
                </a:solidFill>
                <a:latin typeface="Cambria" pitchFamily="34" charset="0"/>
                <a:ea typeface="Cambria" pitchFamily="34" charset="-122"/>
                <a:cs typeface="Cambria" pitchFamily="34" charset="-120"/>
              </a:rPr>
              <a:t>Spread</a:t>
            </a:r>
            <a:endParaRPr lang="en-US" sz="2600" dirty="0"/>
          </a:p>
        </p:txBody>
      </p:sp>
      <p:sp>
        <p:nvSpPr>
          <p:cNvPr id="7" name="Text 5"/>
          <p:cNvSpPr txBox="1"/>
          <p:nvPr/>
        </p:nvSpPr>
        <p:spPr>
          <a:xfrm>
            <a:off x="914400" y="2468880"/>
            <a:ext cx="3017520" cy="640080"/>
          </a:xfrm>
          <a:prstGeom prst="rect">
            <a:avLst/>
          </a:prstGeom>
          <a:noFill/>
          <a:ln/>
        </p:spPr>
        <p:txBody>
          <a:bodyPr wrap="square" lIns="0" tIns="0" rIns="0" bIns="0" rtlCol="0" anchor="t"/>
          <a:lstStyle/>
          <a:p>
            <a:pPr indent="0" marL="0">
              <a:buNone/>
            </a:pPr>
            <a:r>
              <a:rPr lang="en-US" sz="1600" i="1" dirty="0">
                <a:solidFill>
                  <a:schemeClr val="accent1"/>
                </a:solidFill>
              </a:rPr>
              <a:t>Every country adds an accent</a:t>
            </a:r>
            <a:endParaRPr lang="en-US" sz="1600" dirty="0"/>
          </a:p>
        </p:txBody>
      </p:sp>
      <p:sp>
        <p:nvSpPr>
          <p:cNvPr id="8" name="Text 6"/>
          <p:cNvSpPr txBox="1"/>
          <p:nvPr/>
        </p:nvSpPr>
        <p:spPr>
          <a:xfrm>
            <a:off x="914400" y="3200400"/>
            <a:ext cx="3017520" cy="292608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chemeClr val="tx1"/>
                </a:solidFill>
              </a:rPr>
              <a:t>England: Salisbury, Westminster Abbey</a:t>
            </a:r>
            <a:endParaRPr lang="en-US" sz="1700" dirty="0"/>
          </a:p>
          <a:p>
            <a:pPr marL="342900" indent="-342900">
              <a:spcAft>
                <a:spcPts val="1200"/>
              </a:spcAft>
              <a:buSzPct val="100000"/>
              <a:buChar char="•"/>
            </a:pPr>
            <a:r>
              <a:rPr lang="en-US" sz="1700" dirty="0">
                <a:solidFill>
                  <a:schemeClr val="tx1"/>
                </a:solidFill>
              </a:rPr>
              <a:t>Germany: Cologne</a:t>
            </a:r>
            <a:endParaRPr lang="en-US" sz="1700" dirty="0"/>
          </a:p>
          <a:p>
            <a:pPr marL="342900" indent="-342900">
              <a:spcAft>
                <a:spcPts val="1200"/>
              </a:spcAft>
              <a:buSzPct val="100000"/>
              <a:buChar char="•"/>
            </a:pPr>
            <a:r>
              <a:rPr lang="en-US" sz="1700" dirty="0">
                <a:solidFill>
                  <a:schemeClr val="tx1"/>
                </a:solidFill>
              </a:rPr>
              <a:t>Italy: Milan Duomo, in marble</a:t>
            </a:r>
            <a:endParaRPr lang="en-US" sz="1700" dirty="0"/>
          </a:p>
          <a:p>
            <a:pPr marL="342900" indent="-342900">
              <a:spcAft>
                <a:spcPts val="1200"/>
              </a:spcAft>
              <a:buSzPct val="100000"/>
              <a:buChar char="•"/>
            </a:pPr>
            <a:r>
              <a:rPr lang="en-US" sz="1700" dirty="0">
                <a:solidFill>
                  <a:schemeClr val="tx1"/>
                </a:solidFill>
              </a:rPr>
              <a:t>Spain: Seville, the largest Gothic cathedral</a:t>
            </a:r>
            <a:endParaRPr lang="en-US" sz="1700" dirty="0"/>
          </a:p>
        </p:txBody>
      </p:sp>
      <p:sp>
        <p:nvSpPr>
          <p:cNvPr id="9" name="Act card 2"/>
          <p:cNvSpPr/>
          <p:nvPr/>
        </p:nvSpPr>
        <p:spPr>
          <a:xfrm>
            <a:off x="4389120" y="1508760"/>
            <a:ext cx="3566160" cy="4754880"/>
          </a:xfrm>
          <a:prstGeom prst="roundRect">
            <a:avLst>
              <a:gd name="adj" fmla="val 3077"/>
            </a:avLst>
          </a:prstGeom>
          <a:solidFill>
            <a:schemeClr val="bg2"/>
          </a:solidFill>
          <a:ln w="6350">
            <a:solidFill>
              <a:schemeClr val="bg2"/>
            </a:solidFill>
            <a:prstDash val="solid"/>
          </a:ln>
        </p:spPr>
      </p:sp>
      <p:sp>
        <p:nvSpPr>
          <p:cNvPr id="10" name="Number 2"/>
          <p:cNvSpPr/>
          <p:nvPr/>
        </p:nvSpPr>
        <p:spPr>
          <a:xfrm>
            <a:off x="4663440" y="1737360"/>
            <a:ext cx="548640" cy="548640"/>
          </a:xfrm>
          <a:prstGeom prst="ellipse">
            <a:avLst/>
          </a:prstGeom>
          <a:solidFill>
            <a:schemeClr val="accent1"/>
          </a:solidFill>
          <a:ln w="6350">
            <a:solidFill>
              <a:schemeClr val="accent1"/>
            </a:solidFill>
            <a:prstDash val="solid"/>
          </a:ln>
        </p:spPr>
      </p:sp>
      <p:sp>
        <p:nvSpPr>
          <p:cNvPr id="11" name="Text 9"/>
          <p:cNvSpPr txBox="1"/>
          <p:nvPr/>
        </p:nvSpPr>
        <p:spPr>
          <a:xfrm>
            <a:off x="4663440" y="173736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2</a:t>
            </a:r>
            <a:endParaRPr lang="en-US" sz="2200" dirty="0"/>
          </a:p>
        </p:txBody>
      </p:sp>
      <p:sp>
        <p:nvSpPr>
          <p:cNvPr id="12" name="Text 10"/>
          <p:cNvSpPr txBox="1"/>
          <p:nvPr/>
        </p:nvSpPr>
        <p:spPr>
          <a:xfrm>
            <a:off x="5394960" y="1737360"/>
            <a:ext cx="2377440" cy="548640"/>
          </a:xfrm>
          <a:prstGeom prst="rect">
            <a:avLst/>
          </a:prstGeom>
          <a:noFill/>
          <a:ln/>
        </p:spPr>
        <p:txBody>
          <a:bodyPr wrap="square" lIns="0" tIns="0" rIns="0" bIns="0" rtlCol="0" anchor="ctr"/>
          <a:lstStyle/>
          <a:p>
            <a:pPr indent="0" marL="0">
              <a:buNone/>
            </a:pPr>
            <a:r>
              <a:rPr lang="en-US" sz="2600" b="1" dirty="0">
                <a:solidFill>
                  <a:schemeClr val="tx1"/>
                </a:solidFill>
                <a:latin typeface="Cambria" pitchFamily="34" charset="0"/>
                <a:ea typeface="Cambria" pitchFamily="34" charset="-122"/>
                <a:cs typeface="Cambria" pitchFamily="34" charset="-120"/>
              </a:rPr>
              <a:t>Decline</a:t>
            </a:r>
            <a:endParaRPr lang="en-US" sz="2600" dirty="0"/>
          </a:p>
        </p:txBody>
      </p:sp>
      <p:sp>
        <p:nvSpPr>
          <p:cNvPr id="13" name="Text 11"/>
          <p:cNvSpPr txBox="1"/>
          <p:nvPr/>
        </p:nvSpPr>
        <p:spPr>
          <a:xfrm>
            <a:off x="4663440" y="2468880"/>
            <a:ext cx="3017520" cy="640080"/>
          </a:xfrm>
          <a:prstGeom prst="rect">
            <a:avLst/>
          </a:prstGeom>
          <a:noFill/>
          <a:ln/>
        </p:spPr>
        <p:txBody>
          <a:bodyPr wrap="square" lIns="0" tIns="0" rIns="0" bIns="0" rtlCol="0" anchor="t"/>
          <a:lstStyle/>
          <a:p>
            <a:pPr indent="0" marL="0">
              <a:buNone/>
            </a:pPr>
            <a:r>
              <a:rPr lang="en-US" sz="1600" i="1" dirty="0">
                <a:solidFill>
                  <a:schemeClr val="accent1"/>
                </a:solidFill>
              </a:rPr>
              <a:t>The Renaissance looks back to Rome</a:t>
            </a:r>
            <a:endParaRPr lang="en-US" sz="1600" dirty="0"/>
          </a:p>
        </p:txBody>
      </p:sp>
      <p:sp>
        <p:nvSpPr>
          <p:cNvPr id="14" name="Text 12"/>
          <p:cNvSpPr txBox="1"/>
          <p:nvPr/>
        </p:nvSpPr>
        <p:spPr>
          <a:xfrm>
            <a:off x="4663440" y="3200400"/>
            <a:ext cx="3017520" cy="292608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chemeClr val="tx1"/>
                </a:solidFill>
              </a:rPr>
              <a:t>Columns, domes and symmetry return</a:t>
            </a:r>
            <a:endParaRPr lang="en-US" sz="1700" dirty="0"/>
          </a:p>
          <a:p>
            <a:pPr marL="342900" indent="-342900">
              <a:spcAft>
                <a:spcPts val="1200"/>
              </a:spcAft>
              <a:buSzPct val="100000"/>
              <a:buChar char="•"/>
            </a:pPr>
            <a:r>
              <a:rPr lang="en-US" sz="1700" dirty="0">
                <a:solidFill>
                  <a:schemeClr val="tx1"/>
                </a:solidFill>
              </a:rPr>
              <a:t>Vasari calls the old style “Gothic”: barbarian, like the Goths</a:t>
            </a:r>
            <a:endParaRPr lang="en-US" sz="1700" dirty="0"/>
          </a:p>
          <a:p>
            <a:pPr marL="342900" indent="-342900">
              <a:spcAft>
                <a:spcPts val="1200"/>
              </a:spcAft>
              <a:buSzPct val="100000"/>
              <a:buChar char="•"/>
            </a:pPr>
            <a:r>
              <a:rPr lang="en-US" sz="1700" dirty="0">
                <a:solidFill>
                  <a:schemeClr val="tx1"/>
                </a:solidFill>
              </a:rPr>
              <a:t>The name began as an insult</a:t>
            </a:r>
            <a:endParaRPr lang="en-US" sz="1700" dirty="0"/>
          </a:p>
        </p:txBody>
      </p:sp>
      <p:sp>
        <p:nvSpPr>
          <p:cNvPr id="15" name="Act card 3"/>
          <p:cNvSpPr/>
          <p:nvPr/>
        </p:nvSpPr>
        <p:spPr>
          <a:xfrm>
            <a:off x="8138160" y="1508760"/>
            <a:ext cx="3566160" cy="4754880"/>
          </a:xfrm>
          <a:prstGeom prst="roundRect">
            <a:avLst>
              <a:gd name="adj" fmla="val 3077"/>
            </a:avLst>
          </a:prstGeom>
          <a:solidFill>
            <a:schemeClr val="bg2"/>
          </a:solidFill>
          <a:ln w="6350">
            <a:solidFill>
              <a:schemeClr val="bg2"/>
            </a:solidFill>
            <a:prstDash val="solid"/>
          </a:ln>
        </p:spPr>
      </p:sp>
      <p:sp>
        <p:nvSpPr>
          <p:cNvPr id="16" name="Number 3"/>
          <p:cNvSpPr/>
          <p:nvPr/>
        </p:nvSpPr>
        <p:spPr>
          <a:xfrm>
            <a:off x="8412480" y="1737360"/>
            <a:ext cx="548640" cy="548640"/>
          </a:xfrm>
          <a:prstGeom prst="ellipse">
            <a:avLst/>
          </a:prstGeom>
          <a:solidFill>
            <a:schemeClr val="accent1"/>
          </a:solidFill>
          <a:ln w="6350">
            <a:solidFill>
              <a:schemeClr val="accent1"/>
            </a:solidFill>
            <a:prstDash val="solid"/>
          </a:ln>
        </p:spPr>
      </p:sp>
      <p:sp>
        <p:nvSpPr>
          <p:cNvPr id="17" name="Text 15"/>
          <p:cNvSpPr txBox="1"/>
          <p:nvPr/>
        </p:nvSpPr>
        <p:spPr>
          <a:xfrm>
            <a:off x="8412480" y="173736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3</a:t>
            </a:r>
            <a:endParaRPr lang="en-US" sz="2200" dirty="0"/>
          </a:p>
        </p:txBody>
      </p:sp>
      <p:sp>
        <p:nvSpPr>
          <p:cNvPr id="18" name="Text 16"/>
          <p:cNvSpPr txBox="1"/>
          <p:nvPr/>
        </p:nvSpPr>
        <p:spPr>
          <a:xfrm>
            <a:off x="9144000" y="1737360"/>
            <a:ext cx="2377440" cy="548640"/>
          </a:xfrm>
          <a:prstGeom prst="rect">
            <a:avLst/>
          </a:prstGeom>
          <a:noFill/>
          <a:ln/>
        </p:spPr>
        <p:txBody>
          <a:bodyPr wrap="square" lIns="0" tIns="0" rIns="0" bIns="0" rtlCol="0" anchor="ctr"/>
          <a:lstStyle/>
          <a:p>
            <a:pPr indent="0" marL="0">
              <a:buNone/>
            </a:pPr>
            <a:r>
              <a:rPr lang="en-US" sz="2600" b="1" dirty="0">
                <a:solidFill>
                  <a:schemeClr val="tx1"/>
                </a:solidFill>
                <a:latin typeface="Cambria" pitchFamily="34" charset="0"/>
                <a:ea typeface="Cambria" pitchFamily="34" charset="-122"/>
                <a:cs typeface="Cambria" pitchFamily="34" charset="-120"/>
              </a:rPr>
              <a:t>Rebirth</a:t>
            </a:r>
            <a:endParaRPr lang="en-US" sz="2600" dirty="0"/>
          </a:p>
        </p:txBody>
      </p:sp>
      <p:sp>
        <p:nvSpPr>
          <p:cNvPr id="19" name="Text 17"/>
          <p:cNvSpPr txBox="1"/>
          <p:nvPr/>
        </p:nvSpPr>
        <p:spPr>
          <a:xfrm>
            <a:off x="8412480" y="2468880"/>
            <a:ext cx="3017520" cy="640080"/>
          </a:xfrm>
          <a:prstGeom prst="rect">
            <a:avLst/>
          </a:prstGeom>
          <a:noFill/>
          <a:ln/>
        </p:spPr>
        <p:txBody>
          <a:bodyPr wrap="square" lIns="0" tIns="0" rIns="0" bIns="0" rtlCol="0" anchor="t"/>
          <a:lstStyle/>
          <a:p>
            <a:pPr indent="0" marL="0">
              <a:buNone/>
            </a:pPr>
            <a:r>
              <a:rPr lang="en-US" sz="1600" i="1" dirty="0">
                <a:solidFill>
                  <a:schemeClr val="accent1"/>
                </a:solidFill>
              </a:rPr>
              <a:t>Romantic love for the Middle Ages</a:t>
            </a:r>
            <a:endParaRPr lang="en-US" sz="1600" dirty="0"/>
          </a:p>
        </p:txBody>
      </p:sp>
      <p:sp>
        <p:nvSpPr>
          <p:cNvPr id="20" name="Text 18"/>
          <p:cNvSpPr txBox="1"/>
          <p:nvPr/>
        </p:nvSpPr>
        <p:spPr>
          <a:xfrm>
            <a:off x="8412480" y="3200400"/>
            <a:ext cx="3017520" cy="292608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chemeClr val="tx1"/>
                </a:solidFill>
              </a:rPr>
              <a:t>Houses of Parliament, London (1840)</a:t>
            </a:r>
            <a:endParaRPr lang="en-US" sz="1700" dirty="0"/>
          </a:p>
          <a:p>
            <a:pPr marL="342900" indent="-342900">
              <a:spcAft>
                <a:spcPts val="1200"/>
              </a:spcAft>
              <a:buSzPct val="100000"/>
              <a:buChar char="•"/>
            </a:pPr>
            <a:r>
              <a:rPr lang="en-US" sz="1700" dirty="0">
                <a:solidFill>
                  <a:schemeClr val="tx1"/>
                </a:solidFill>
              </a:rPr>
              <a:t>Viollet-le-Duc restores Notre-Dame</a:t>
            </a:r>
            <a:endParaRPr lang="en-US" sz="1700" dirty="0"/>
          </a:p>
          <a:p>
            <a:pPr marL="342900" indent="-342900">
              <a:spcAft>
                <a:spcPts val="1200"/>
              </a:spcAft>
              <a:buSzPct val="100000"/>
              <a:buChar char="•"/>
            </a:pPr>
            <a:r>
              <a:rPr lang="en-US" sz="1700" dirty="0">
                <a:solidFill>
                  <a:schemeClr val="tx1"/>
                </a:solidFill>
              </a:rPr>
              <a:t>Gaudí's Sagrada Família (1882)</a:t>
            </a:r>
            <a:endParaRPr lang="en-US" sz="1700" dirty="0"/>
          </a:p>
          <a:p>
            <a:pPr marL="342900" indent="-342900">
              <a:spcAft>
                <a:spcPts val="1200"/>
              </a:spcAft>
              <a:buSzPct val="100000"/>
              <a:buChar char="•"/>
            </a:pPr>
            <a:r>
              <a:rPr lang="en-US" sz="1700" dirty="0">
                <a:solidFill>
                  <a:schemeClr val="tx1"/>
                </a:solidFill>
              </a:rPr>
              <a:t>Notre-Dame: fire 2019, reopened 2024</a:t>
            </a:r>
            <a:endParaRPr lang="en-US" sz="17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9B3C8"/>
                </a:solidFill>
              </a:defRPr>
            </a:lvl1pPr>
          </a:lstStyle>
          <a:p>
            <a:pPr algn="r"/>
            <a:fld id="{F7021451-1387-4CA6-816F-3879F97B5CBC}" type="slidenum">
              <a:rPr b="0" lang="en-US"/>
              <a:t>12</a:t>
            </a:fld>
            <a:endParaRPr lang="en-US"/>
          </a:p>
        </p:txBody>
      </p:sp>
    </p:spTree>
  </p:cSld>
  <p:clrMapOvr>
    <a:masterClrMapping/>
  </p:clrMapOvr>
  <mc:AlternateContent xmlns:mc="http://schemas.openxmlformats.org/markup-compatibility/2006">
    <mc:Choice xmlns:p14="http://schemas.microsoft.com/office/powerpoint/2010/main" xmlns:p15="http://schemas.microsoft.com/office/powerpoint/2012/main" Requires="p15">
      <p:transition spd="slow" p14:dur="2000">
        <p15:prstTrans prst="pageCurlDouble"/>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Rose window">    </p:cNvPr>
          <p:cNvPicPr>
            <a:picLocks noChangeAspect="1"/>
          </p:cNvPicPr>
          <p:nvPr/>
        </p:nvPicPr>
        <p:blipFill>
          <a:blip r:embed="rId1"/>
          <a:stretch>
            <a:fillRect/>
          </a:stretch>
        </p:blipFill>
        <p:spPr>
          <a:xfrm>
            <a:off x="7132320" y="914400"/>
            <a:ext cx="4846320" cy="4846320"/>
          </a:xfrm>
          <a:prstGeom prst="rect">
            <a:avLst/>
          </a:prstGeom>
        </p:spPr>
      </p:pic>
      <p:sp>
        <p:nvSpPr>
          <p:cNvPr id="3" name="Text 0"/>
          <p:cNvSpPr/>
          <p:nvPr>
            <p:ph idx="100" type="title" hasCustomPrompt="1"/>
          </p:nvPr>
        </p:nvSpPr>
        <p:spPr>
          <a:xfrm>
            <a:off x="731520" y="640080"/>
            <a:ext cx="6400800" cy="1554480"/>
          </a:xfrm>
          <a:prstGeom prst="rect">
            <a:avLst/>
          </a:prstGeom>
          <a:noFill/>
          <a:ln/>
        </p:spPr>
        <p:txBody>
          <a:bodyPr wrap="square" lIns="0" tIns="0" rIns="0" bIns="0" rtlCol="0" anchor="t"/>
          <a:lstStyle/>
          <a:p>
            <a:pPr algn="l" indent="0" marL="0">
              <a:buNone/>
            </a:pPr>
            <a:r>
              <a:rPr lang="en-US" sz="4200" b="1" dirty="0">
                <a:solidFill>
                  <a:schemeClr val="tx1"/>
                </a:solidFill>
              </a:rPr>
              <a:t>What Gothic teaches an architect</a:t>
            </a:r>
            <a:endParaRPr lang="en-US" sz="4200" dirty="0"/>
          </a:p>
        </p:txBody>
      </p:sp>
      <p:sp>
        <p:nvSpPr>
          <p:cNvPr id="4" name="Number 1"/>
          <p:cNvSpPr/>
          <p:nvPr/>
        </p:nvSpPr>
        <p:spPr>
          <a:xfrm>
            <a:off x="731520" y="2377440"/>
            <a:ext cx="548640" cy="548640"/>
          </a:xfrm>
          <a:prstGeom prst="ellipse">
            <a:avLst/>
          </a:prstGeom>
          <a:solidFill>
            <a:schemeClr val="accent1"/>
          </a:solidFill>
          <a:ln w="6350">
            <a:solidFill>
              <a:schemeClr val="accent1"/>
            </a:solidFill>
            <a:prstDash val="solid"/>
          </a:ln>
        </p:spPr>
      </p:sp>
      <p:sp>
        <p:nvSpPr>
          <p:cNvPr id="5" name="Text 2"/>
          <p:cNvSpPr txBox="1"/>
          <p:nvPr/>
        </p:nvSpPr>
        <p:spPr>
          <a:xfrm>
            <a:off x="731520" y="237744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1</a:t>
            </a:r>
            <a:endParaRPr lang="en-US" sz="2200" dirty="0"/>
          </a:p>
        </p:txBody>
      </p:sp>
      <p:sp>
        <p:nvSpPr>
          <p:cNvPr id="6" name="Text 3"/>
          <p:cNvSpPr txBox="1"/>
          <p:nvPr/>
        </p:nvSpPr>
        <p:spPr>
          <a:xfrm>
            <a:off x="1508760" y="2331720"/>
            <a:ext cx="5212080" cy="41148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Structure can be beauty</a:t>
            </a:r>
            <a:endParaRPr lang="en-US" sz="2200" dirty="0"/>
          </a:p>
        </p:txBody>
      </p:sp>
      <p:sp>
        <p:nvSpPr>
          <p:cNvPr id="7" name="Text 4"/>
          <p:cNvSpPr txBox="1"/>
          <p:nvPr/>
        </p:nvSpPr>
        <p:spPr>
          <a:xfrm>
            <a:off x="1508760" y="2770632"/>
            <a:ext cx="5212080" cy="640080"/>
          </a:xfrm>
          <a:prstGeom prst="rect">
            <a:avLst/>
          </a:prstGeom>
          <a:noFill/>
          <a:ln/>
        </p:spPr>
        <p:txBody>
          <a:bodyPr wrap="square" lIns="0" tIns="0" rIns="0" bIns="0" rtlCol="0" anchor="t"/>
          <a:lstStyle/>
          <a:p>
            <a:pPr indent="0" marL="0">
              <a:buNone/>
            </a:pPr>
            <a:r>
              <a:rPr lang="en-US" sz="1600" dirty="0">
                <a:solidFill>
                  <a:schemeClr val="tx1"/>
                </a:solidFill>
              </a:rPr>
              <a:t>The skeleton is the design. A frame with a glass skin is the ancestor of the skyscraper.</a:t>
            </a:r>
            <a:endParaRPr lang="en-US" sz="1600" dirty="0"/>
          </a:p>
        </p:txBody>
      </p:sp>
      <p:sp>
        <p:nvSpPr>
          <p:cNvPr id="8" name="Number 2"/>
          <p:cNvSpPr/>
          <p:nvPr/>
        </p:nvSpPr>
        <p:spPr>
          <a:xfrm>
            <a:off x="731520" y="3566160"/>
            <a:ext cx="548640" cy="548640"/>
          </a:xfrm>
          <a:prstGeom prst="ellipse">
            <a:avLst/>
          </a:prstGeom>
          <a:solidFill>
            <a:schemeClr val="accent1"/>
          </a:solidFill>
          <a:ln w="6350">
            <a:solidFill>
              <a:schemeClr val="accent1"/>
            </a:solidFill>
            <a:prstDash val="solid"/>
          </a:ln>
        </p:spPr>
      </p:sp>
      <p:sp>
        <p:nvSpPr>
          <p:cNvPr id="9" name="Text 6"/>
          <p:cNvSpPr txBox="1"/>
          <p:nvPr/>
        </p:nvSpPr>
        <p:spPr>
          <a:xfrm>
            <a:off x="731520" y="356616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2</a:t>
            </a:r>
            <a:endParaRPr lang="en-US" sz="2200" dirty="0"/>
          </a:p>
        </p:txBody>
      </p:sp>
      <p:sp>
        <p:nvSpPr>
          <p:cNvPr id="10" name="Text 7"/>
          <p:cNvSpPr txBox="1"/>
          <p:nvPr/>
        </p:nvSpPr>
        <p:spPr>
          <a:xfrm>
            <a:off x="1508760" y="3520440"/>
            <a:ext cx="5212080" cy="41148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Light is a material</a:t>
            </a:r>
            <a:endParaRPr lang="en-US" sz="2200" dirty="0"/>
          </a:p>
        </p:txBody>
      </p:sp>
      <p:sp>
        <p:nvSpPr>
          <p:cNvPr id="11" name="Text 8"/>
          <p:cNvSpPr txBox="1"/>
          <p:nvPr/>
        </p:nvSpPr>
        <p:spPr>
          <a:xfrm>
            <a:off x="1508760" y="3959352"/>
            <a:ext cx="5212080" cy="640080"/>
          </a:xfrm>
          <a:prstGeom prst="rect">
            <a:avLst/>
          </a:prstGeom>
          <a:noFill/>
          <a:ln/>
        </p:spPr>
        <p:txBody>
          <a:bodyPr wrap="square" lIns="0" tIns="0" rIns="0" bIns="0" rtlCol="0" anchor="t"/>
          <a:lstStyle/>
          <a:p>
            <a:pPr indent="0" marL="0">
              <a:buNone/>
            </a:pPr>
            <a:r>
              <a:rPr lang="en-US" sz="1600" dirty="0">
                <a:solidFill>
                  <a:schemeClr val="tx1"/>
                </a:solidFill>
              </a:rPr>
              <a:t>Shape it, colour it, and the room changes with the hour.</a:t>
            </a:r>
            <a:endParaRPr lang="en-US" sz="1600" dirty="0"/>
          </a:p>
        </p:txBody>
      </p:sp>
      <p:sp>
        <p:nvSpPr>
          <p:cNvPr id="12" name="Number 3"/>
          <p:cNvSpPr/>
          <p:nvPr/>
        </p:nvSpPr>
        <p:spPr>
          <a:xfrm>
            <a:off x="731520" y="4754880"/>
            <a:ext cx="548640" cy="548640"/>
          </a:xfrm>
          <a:prstGeom prst="ellipse">
            <a:avLst/>
          </a:prstGeom>
          <a:solidFill>
            <a:schemeClr val="accent1"/>
          </a:solidFill>
          <a:ln w="6350">
            <a:solidFill>
              <a:schemeClr val="accent1"/>
            </a:solidFill>
            <a:prstDash val="solid"/>
          </a:ln>
        </p:spPr>
      </p:sp>
      <p:sp>
        <p:nvSpPr>
          <p:cNvPr id="13" name="Text 10"/>
          <p:cNvSpPr txBox="1"/>
          <p:nvPr/>
        </p:nvSpPr>
        <p:spPr>
          <a:xfrm>
            <a:off x="731520" y="47548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3</a:t>
            </a:r>
            <a:endParaRPr lang="en-US" sz="2200" dirty="0"/>
          </a:p>
        </p:txBody>
      </p:sp>
      <p:sp>
        <p:nvSpPr>
          <p:cNvPr id="14" name="Text 11"/>
          <p:cNvSpPr txBox="1"/>
          <p:nvPr/>
        </p:nvSpPr>
        <p:spPr>
          <a:xfrm>
            <a:off x="1508760" y="4709160"/>
            <a:ext cx="5212080" cy="41148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Big ideas take generations</a:t>
            </a:r>
            <a:endParaRPr lang="en-US" sz="2200" dirty="0"/>
          </a:p>
        </p:txBody>
      </p:sp>
      <p:sp>
        <p:nvSpPr>
          <p:cNvPr id="15" name="Text 12"/>
          <p:cNvSpPr txBox="1"/>
          <p:nvPr/>
        </p:nvSpPr>
        <p:spPr>
          <a:xfrm>
            <a:off x="1508760" y="5148072"/>
            <a:ext cx="5212080" cy="640080"/>
          </a:xfrm>
          <a:prstGeom prst="rect">
            <a:avLst/>
          </a:prstGeom>
          <a:noFill/>
          <a:ln/>
        </p:spPr>
        <p:txBody>
          <a:bodyPr wrap="square" lIns="0" tIns="0" rIns="0" bIns="0" rtlCol="0" anchor="t"/>
          <a:lstStyle/>
          <a:p>
            <a:pPr indent="0" marL="0">
              <a:buNone/>
            </a:pPr>
            <a:r>
              <a:rPr lang="en-US" sz="1600" dirty="0">
                <a:solidFill>
                  <a:schemeClr val="tx1"/>
                </a:solidFill>
              </a:rPr>
              <a:t>Hundreds of hands and one shared dream.</a:t>
            </a:r>
            <a:endParaRPr lang="en-US" sz="1600" dirty="0"/>
          </a:p>
        </p:txBody>
      </p:sp>
      <p:sp>
        <p:nvSpPr>
          <p:cNvPr id="16" name="Text 13"/>
          <p:cNvSpPr txBox="1"/>
          <p:nvPr/>
        </p:nvSpPr>
        <p:spPr>
          <a:xfrm>
            <a:off x="731520" y="5806440"/>
            <a:ext cx="6400800" cy="548640"/>
          </a:xfrm>
          <a:prstGeom prst="rect">
            <a:avLst/>
          </a:prstGeom>
          <a:noFill/>
          <a:ln/>
        </p:spPr>
        <p:txBody>
          <a:bodyPr wrap="square" lIns="0" tIns="0" rIns="0" bIns="0" rtlCol="0" anchor="t"/>
          <a:lstStyle/>
          <a:p>
            <a:pPr indent="0" marL="0">
              <a:buNone/>
            </a:pPr>
            <a:r>
              <a:rPr lang="en-US" sz="3200" b="1" dirty="0">
                <a:solidFill>
                  <a:schemeClr val="tx1"/>
                </a:solidFill>
                <a:latin typeface="Cambria" pitchFamily="34" charset="0"/>
                <a:ea typeface="Cambria" pitchFamily="34" charset="-122"/>
                <a:cs typeface="Cambria" pitchFamily="34" charset="-120"/>
              </a:rPr>
              <a:t>Thank you. Questions?</a:t>
            </a:r>
            <a:endParaRPr lang="en-US" sz="3200" dirty="0"/>
          </a:p>
        </p:txBody>
      </p:sp>
    </p:spTree>
  </p:cSld>
  <p:clrMapOvr>
    <a:masterClrMapping/>
  </p:clrMapOvr>
  <mc:AlternateContent xmlns:mc="http://schemas.openxmlformats.org/markup-compatibility/2006">
    <mc:Choice xmlns:p14="http://schemas.microsoft.com/office/powerpoint/2010/main" xmlns:p15="http://schemas.microsoft.com/office/powerpoint/2012/main" Requires="p15">
      <p:transition spd="slow" p14:dur="2500">
        <p15:prstTrans prst="curtains"/>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Sources and further reading</a:t>
            </a:r>
            <a:endParaRPr lang="en-US" sz="3600" dirty="0"/>
          </a:p>
        </p:txBody>
      </p:sp>
      <p:sp>
        <p:nvSpPr>
          <p:cNvPr id="3" name="Source 1"/>
          <p:cNvSpPr/>
          <p:nvPr/>
        </p:nvSpPr>
        <p:spPr>
          <a:xfrm>
            <a:off x="640080" y="1554480"/>
            <a:ext cx="10881360" cy="731520"/>
          </a:xfrm>
          <a:prstGeom prst="roundRect">
            <a:avLst>
              <a:gd name="adj" fmla="val 15000"/>
            </a:avLst>
          </a:prstGeom>
          <a:solidFill>
            <a:schemeClr val="bg2"/>
          </a:solidFill>
          <a:ln w="6350">
            <a:solidFill>
              <a:schemeClr val="bg2"/>
            </a:solidFill>
            <a:prstDash val="solid"/>
          </a:ln>
        </p:spPr>
      </p:sp>
      <p:sp>
        <p:nvSpPr>
          <p:cNvPr id="4" name="Text 2"/>
          <p:cNvSpPr txBox="1"/>
          <p:nvPr/>
        </p:nvSpPr>
        <p:spPr>
          <a:xfrm>
            <a:off x="868680" y="1554480"/>
            <a:ext cx="2377440" cy="731520"/>
          </a:xfrm>
          <a:prstGeom prst="rect">
            <a:avLst/>
          </a:prstGeom>
          <a:noFill/>
          <a:ln/>
        </p:spPr>
        <p:txBody>
          <a:bodyPr wrap="square" lIns="0" tIns="0" rIns="0" bIns="0" rtlCol="0" anchor="ctr"/>
          <a:lstStyle/>
          <a:p>
            <a:pPr indent="0" marL="0">
              <a:buNone/>
            </a:pPr>
            <a:r>
              <a:rPr lang="en-US" sz="1600" b="1" dirty="0">
                <a:solidFill>
                  <a:schemeClr val="accent1"/>
                </a:solidFill>
              </a:rPr>
              <a:t>Otto von Simson</a:t>
            </a:r>
            <a:endParaRPr lang="en-US" sz="1600" dirty="0"/>
          </a:p>
        </p:txBody>
      </p:sp>
      <p:sp>
        <p:nvSpPr>
          <p:cNvPr id="5" name="Text 3"/>
          <p:cNvSpPr txBox="1"/>
          <p:nvPr/>
        </p:nvSpPr>
        <p:spPr>
          <a:xfrm>
            <a:off x="3383280" y="1554480"/>
            <a:ext cx="7955280" cy="731520"/>
          </a:xfrm>
          <a:prstGeom prst="rect">
            <a:avLst/>
          </a:prstGeom>
          <a:noFill/>
          <a:ln/>
        </p:spPr>
        <p:txBody>
          <a:bodyPr wrap="square" lIns="0" tIns="0" rIns="0" bIns="0" rtlCol="0" anchor="ctr"/>
          <a:lstStyle/>
          <a:p>
            <a:pPr indent="0" marL="0">
              <a:buNone/>
            </a:pPr>
            <a:r>
              <a:rPr lang="en-US" sz="1500" dirty="0">
                <a:solidFill>
                  <a:schemeClr val="tx1"/>
                </a:solidFill>
              </a:rPr>
              <a:t>The Gothic Cathedral: Origins of Gothic Architecture and the Medieval Concept of Order (1956)</a:t>
            </a:r>
            <a:endParaRPr lang="en-US" sz="1500" dirty="0"/>
          </a:p>
        </p:txBody>
      </p:sp>
      <p:sp>
        <p:nvSpPr>
          <p:cNvPr id="6" name="Source 2"/>
          <p:cNvSpPr/>
          <p:nvPr/>
        </p:nvSpPr>
        <p:spPr>
          <a:xfrm>
            <a:off x="640080" y="2423160"/>
            <a:ext cx="10881360" cy="731520"/>
          </a:xfrm>
          <a:prstGeom prst="roundRect">
            <a:avLst>
              <a:gd name="adj" fmla="val 15000"/>
            </a:avLst>
          </a:prstGeom>
          <a:solidFill>
            <a:schemeClr val="bg2"/>
          </a:solidFill>
          <a:ln w="6350">
            <a:solidFill>
              <a:schemeClr val="bg2"/>
            </a:solidFill>
            <a:prstDash val="solid"/>
          </a:ln>
        </p:spPr>
      </p:sp>
      <p:sp>
        <p:nvSpPr>
          <p:cNvPr id="7" name="Text 5"/>
          <p:cNvSpPr txBox="1"/>
          <p:nvPr/>
        </p:nvSpPr>
        <p:spPr>
          <a:xfrm>
            <a:off x="868680" y="2423160"/>
            <a:ext cx="2377440" cy="731520"/>
          </a:xfrm>
          <a:prstGeom prst="rect">
            <a:avLst/>
          </a:prstGeom>
          <a:noFill/>
          <a:ln/>
        </p:spPr>
        <p:txBody>
          <a:bodyPr wrap="square" lIns="0" tIns="0" rIns="0" bIns="0" rtlCol="0" anchor="ctr"/>
          <a:lstStyle/>
          <a:p>
            <a:pPr indent="0" marL="0">
              <a:buNone/>
            </a:pPr>
            <a:r>
              <a:rPr lang="en-US" sz="1600" b="1" dirty="0">
                <a:solidFill>
                  <a:schemeClr val="accent1"/>
                </a:solidFill>
              </a:rPr>
              <a:t>Erwin Panofsky</a:t>
            </a:r>
            <a:endParaRPr lang="en-US" sz="1600" dirty="0"/>
          </a:p>
        </p:txBody>
      </p:sp>
      <p:sp>
        <p:nvSpPr>
          <p:cNvPr id="8" name="Text 6"/>
          <p:cNvSpPr txBox="1"/>
          <p:nvPr/>
        </p:nvSpPr>
        <p:spPr>
          <a:xfrm>
            <a:off x="3383280" y="2423160"/>
            <a:ext cx="7955280" cy="731520"/>
          </a:xfrm>
          <a:prstGeom prst="rect">
            <a:avLst/>
          </a:prstGeom>
          <a:noFill/>
          <a:ln/>
        </p:spPr>
        <p:txBody>
          <a:bodyPr wrap="square" lIns="0" tIns="0" rIns="0" bIns="0" rtlCol="0" anchor="ctr"/>
          <a:lstStyle/>
          <a:p>
            <a:pPr indent="0" marL="0">
              <a:buNone/>
            </a:pPr>
            <a:r>
              <a:rPr lang="en-US" sz="1500" dirty="0">
                <a:solidFill>
                  <a:schemeClr val="tx1"/>
                </a:solidFill>
              </a:rPr>
              <a:t>Abbot Suger on the Abbey Church of St.-Denis and Its Art Treasures (1946)</a:t>
            </a:r>
            <a:endParaRPr lang="en-US" sz="1500" dirty="0"/>
          </a:p>
        </p:txBody>
      </p:sp>
      <p:sp>
        <p:nvSpPr>
          <p:cNvPr id="9" name="Source 3"/>
          <p:cNvSpPr/>
          <p:nvPr/>
        </p:nvSpPr>
        <p:spPr>
          <a:xfrm>
            <a:off x="640080" y="3291840"/>
            <a:ext cx="10881360" cy="731520"/>
          </a:xfrm>
          <a:prstGeom prst="roundRect">
            <a:avLst>
              <a:gd name="adj" fmla="val 15000"/>
            </a:avLst>
          </a:prstGeom>
          <a:solidFill>
            <a:schemeClr val="bg2"/>
          </a:solidFill>
          <a:ln w="6350">
            <a:solidFill>
              <a:schemeClr val="bg2"/>
            </a:solidFill>
            <a:prstDash val="solid"/>
          </a:ln>
        </p:spPr>
      </p:sp>
      <p:sp>
        <p:nvSpPr>
          <p:cNvPr id="10" name="Text 8"/>
          <p:cNvSpPr txBox="1"/>
          <p:nvPr/>
        </p:nvSpPr>
        <p:spPr>
          <a:xfrm>
            <a:off x="868680" y="3291840"/>
            <a:ext cx="2377440" cy="731520"/>
          </a:xfrm>
          <a:prstGeom prst="rect">
            <a:avLst/>
          </a:prstGeom>
          <a:noFill/>
          <a:ln/>
        </p:spPr>
        <p:txBody>
          <a:bodyPr wrap="square" lIns="0" tIns="0" rIns="0" bIns="0" rtlCol="0" anchor="ctr"/>
          <a:lstStyle/>
          <a:p>
            <a:pPr indent="0" marL="0">
              <a:buNone/>
            </a:pPr>
            <a:r>
              <a:rPr lang="en-US" sz="1600" b="1" dirty="0">
                <a:solidFill>
                  <a:schemeClr val="accent1"/>
                </a:solidFill>
              </a:rPr>
              <a:t>Jean Gimpel</a:t>
            </a:r>
            <a:endParaRPr lang="en-US" sz="1600" dirty="0"/>
          </a:p>
        </p:txBody>
      </p:sp>
      <p:sp>
        <p:nvSpPr>
          <p:cNvPr id="11" name="Text 9"/>
          <p:cNvSpPr txBox="1"/>
          <p:nvPr/>
        </p:nvSpPr>
        <p:spPr>
          <a:xfrm>
            <a:off x="3383280" y="3291840"/>
            <a:ext cx="7955280" cy="731520"/>
          </a:xfrm>
          <a:prstGeom prst="rect">
            <a:avLst/>
          </a:prstGeom>
          <a:noFill/>
          <a:ln/>
        </p:spPr>
        <p:txBody>
          <a:bodyPr wrap="square" lIns="0" tIns="0" rIns="0" bIns="0" rtlCol="0" anchor="ctr"/>
          <a:lstStyle/>
          <a:p>
            <a:pPr indent="0" marL="0">
              <a:buNone/>
            </a:pPr>
            <a:r>
              <a:rPr lang="en-US" sz="1500" dirty="0">
                <a:solidFill>
                  <a:schemeClr val="tx1"/>
                </a:solidFill>
              </a:rPr>
              <a:t>The Cathedral Builders (1958)</a:t>
            </a:r>
            <a:endParaRPr lang="en-US" sz="1500" dirty="0"/>
          </a:p>
        </p:txBody>
      </p:sp>
      <p:sp>
        <p:nvSpPr>
          <p:cNvPr id="12" name="Source 4"/>
          <p:cNvSpPr/>
          <p:nvPr/>
        </p:nvSpPr>
        <p:spPr>
          <a:xfrm>
            <a:off x="640080" y="4160520"/>
            <a:ext cx="10881360" cy="731520"/>
          </a:xfrm>
          <a:prstGeom prst="roundRect">
            <a:avLst>
              <a:gd name="adj" fmla="val 15000"/>
            </a:avLst>
          </a:prstGeom>
          <a:solidFill>
            <a:schemeClr val="bg2"/>
          </a:solidFill>
          <a:ln w="6350">
            <a:solidFill>
              <a:schemeClr val="bg2"/>
            </a:solidFill>
            <a:prstDash val="solid"/>
          </a:ln>
        </p:spPr>
      </p:sp>
      <p:sp>
        <p:nvSpPr>
          <p:cNvPr id="13" name="Text 11"/>
          <p:cNvSpPr txBox="1"/>
          <p:nvPr/>
        </p:nvSpPr>
        <p:spPr>
          <a:xfrm>
            <a:off x="868680" y="4160520"/>
            <a:ext cx="2377440" cy="731520"/>
          </a:xfrm>
          <a:prstGeom prst="rect">
            <a:avLst/>
          </a:prstGeom>
          <a:noFill/>
          <a:ln/>
        </p:spPr>
        <p:txBody>
          <a:bodyPr wrap="square" lIns="0" tIns="0" rIns="0" bIns="0" rtlCol="0" anchor="ctr"/>
          <a:lstStyle/>
          <a:p>
            <a:pPr indent="0" marL="0">
              <a:buNone/>
            </a:pPr>
            <a:r>
              <a:rPr lang="en-US" sz="1600" b="1" dirty="0">
                <a:solidFill>
                  <a:schemeClr val="accent1"/>
                </a:solidFill>
              </a:rPr>
              <a:t>Georges Duby</a:t>
            </a:r>
            <a:endParaRPr lang="en-US" sz="1600" dirty="0"/>
          </a:p>
        </p:txBody>
      </p:sp>
      <p:sp>
        <p:nvSpPr>
          <p:cNvPr id="14" name="Text 12"/>
          <p:cNvSpPr txBox="1"/>
          <p:nvPr/>
        </p:nvSpPr>
        <p:spPr>
          <a:xfrm>
            <a:off x="3383280" y="4160520"/>
            <a:ext cx="7955280" cy="731520"/>
          </a:xfrm>
          <a:prstGeom prst="rect">
            <a:avLst/>
          </a:prstGeom>
          <a:noFill/>
          <a:ln/>
        </p:spPr>
        <p:txBody>
          <a:bodyPr wrap="square" lIns="0" tIns="0" rIns="0" bIns="0" rtlCol="0" anchor="ctr"/>
          <a:lstStyle/>
          <a:p>
            <a:pPr indent="0" marL="0">
              <a:buNone/>
            </a:pPr>
            <a:r>
              <a:rPr lang="en-US" sz="1500" dirty="0">
                <a:solidFill>
                  <a:schemeClr val="tx1"/>
                </a:solidFill>
              </a:rPr>
              <a:t>The Age of the Cathedrals: Art and Society, 980–1420 (1976)</a:t>
            </a:r>
            <a:endParaRPr lang="en-US" sz="1500" dirty="0"/>
          </a:p>
        </p:txBody>
      </p:sp>
      <p:sp>
        <p:nvSpPr>
          <p:cNvPr id="15" name="Source 5"/>
          <p:cNvSpPr/>
          <p:nvPr/>
        </p:nvSpPr>
        <p:spPr>
          <a:xfrm>
            <a:off x="640080" y="5029200"/>
            <a:ext cx="10881360" cy="731520"/>
          </a:xfrm>
          <a:prstGeom prst="roundRect">
            <a:avLst>
              <a:gd name="adj" fmla="val 15000"/>
            </a:avLst>
          </a:prstGeom>
          <a:solidFill>
            <a:schemeClr val="bg2"/>
          </a:solidFill>
          <a:ln w="6350">
            <a:solidFill>
              <a:schemeClr val="bg2"/>
            </a:solidFill>
            <a:prstDash val="solid"/>
          </a:ln>
        </p:spPr>
      </p:sp>
      <p:sp>
        <p:nvSpPr>
          <p:cNvPr id="16" name="Text 14"/>
          <p:cNvSpPr txBox="1"/>
          <p:nvPr/>
        </p:nvSpPr>
        <p:spPr>
          <a:xfrm>
            <a:off x="868680" y="5029200"/>
            <a:ext cx="2377440" cy="731520"/>
          </a:xfrm>
          <a:prstGeom prst="rect">
            <a:avLst/>
          </a:prstGeom>
          <a:noFill/>
          <a:ln/>
        </p:spPr>
        <p:txBody>
          <a:bodyPr wrap="square" lIns="0" tIns="0" rIns="0" bIns="0" rtlCol="0" anchor="ctr"/>
          <a:lstStyle/>
          <a:p>
            <a:pPr indent="0" marL="0">
              <a:buNone/>
            </a:pPr>
            <a:r>
              <a:rPr lang="en-US" sz="1600" b="1" dirty="0">
                <a:solidFill>
                  <a:schemeClr val="accent1"/>
                </a:solidFill>
              </a:rPr>
              <a:t>Online</a:t>
            </a:r>
            <a:endParaRPr lang="en-US" sz="1600" dirty="0"/>
          </a:p>
        </p:txBody>
      </p:sp>
      <p:sp>
        <p:nvSpPr>
          <p:cNvPr id="17" name="Text 15"/>
          <p:cNvSpPr txBox="1"/>
          <p:nvPr/>
        </p:nvSpPr>
        <p:spPr>
          <a:xfrm>
            <a:off x="3383280" y="5029200"/>
            <a:ext cx="7955280" cy="731520"/>
          </a:xfrm>
          <a:prstGeom prst="rect">
            <a:avLst/>
          </a:prstGeom>
          <a:noFill/>
          <a:ln/>
        </p:spPr>
        <p:txBody>
          <a:bodyPr wrap="square" lIns="0" tIns="0" rIns="0" bIns="0" rtlCol="0" anchor="ctr"/>
          <a:lstStyle/>
          <a:p>
            <a:pPr indent="0" marL="0">
              <a:buNone/>
            </a:pPr>
            <a:r>
              <a:rPr lang="en-US" sz="1500" dirty="0">
                <a:solidFill>
                  <a:schemeClr val="tx1"/>
                </a:solidFill>
              </a:rPr>
              <a:t>Encyclopaedia Britannica and Wikipedia entries on Gothic architecture, Sainte-Chapelle, Beauvais Cathedral, Notre-Dame de Paris</a:t>
            </a:r>
            <a:endParaRPr lang="en-US" sz="1500" dirty="0"/>
          </a:p>
        </p:txBody>
      </p:sp>
      <p:sp>
        <p:nvSpPr>
          <p:cNvPr id="18" name="Text 16"/>
          <p:cNvSpPr txBox="1"/>
          <p:nvPr/>
        </p:nvSpPr>
        <p:spPr>
          <a:xfrm>
            <a:off x="640080" y="5943600"/>
            <a:ext cx="7315200" cy="365760"/>
          </a:xfrm>
          <a:prstGeom prst="rect">
            <a:avLst/>
          </a:prstGeom>
          <a:noFill/>
          <a:ln/>
        </p:spPr>
        <p:txBody>
          <a:bodyPr wrap="square" lIns="0" tIns="0" rIns="0" bIns="0" rtlCol="0" anchor="t"/>
          <a:lstStyle/>
          <a:p>
            <a:pPr indent="0" marL="0">
              <a:buNone/>
            </a:pPr>
            <a:r>
              <a:rPr lang="en-US" sz="1300" i="1" dirty="0">
                <a:solidFill>
                  <a:schemeClr val="tx2"/>
                </a:solidFill>
              </a:rPr>
              <a:t>All diagrams were drawn for this presentation.</a:t>
            </a:r>
            <a:endParaRPr lang="en-US" sz="13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9B3C8"/>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theme/theme1.xml><?xml version="1.0" encoding="utf-8"?>
<a:theme xmlns:a="http://schemas.openxmlformats.org/drawingml/2006/main" name="Gothic Night">
  <a:themeElements>
    <a:clrScheme name="Gothic Night">
      <a:dk1>
        <a:srgbClr val="F3EFE6"/>
      </a:dk1>
      <a:lt1>
        <a:srgbClr val="0E0D18"/>
      </a:lt1>
      <a:dk2>
        <a:srgbClr val="B9B3C8"/>
      </a:dk2>
      <a:lt2>
        <a:srgbClr val="1C1A2E"/>
      </a:lt2>
      <a:accent1>
        <a:srgbClr val="E2B84D"/>
      </a:accent1>
      <a:accent2>
        <a:srgbClr val="C03450"/>
      </a:accent2>
      <a:accent3>
        <a:srgbClr val="3C6FD8"/>
      </a:accent3>
      <a:accent4>
        <a:srgbClr val="2FA37E"/>
      </a:accent4>
      <a:accent5>
        <a:srgbClr val="E07B2B"/>
      </a:accent5>
      <a:accent6>
        <a:srgbClr val="7A4FB5"/>
      </a:accent6>
      <a:hlink>
        <a:srgbClr val="E2B84D"/>
      </a:hlink>
      <a:folHlink>
        <a:srgbClr val="B9B3C8"/>
      </a:folHlink>
    </a:clrScheme>
    <a:fontScheme name="Gothic N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Gothic Architecture</dc:title>
  <dc:subject>First-year architecture presentation</dc:subject>
  <dc:creator>PptxGenJS</dc:creator>
  <cp:lastModifiedBy>PptxGenJS</cp:lastModifiedBy>
  <cp:revision>1</cp:revision>
  <dcterms:created xsi:type="dcterms:W3CDTF">2026-10-28T05:52:45Z</dcterms:created>
  <dcterms:modified xsi:type="dcterms:W3CDTF">2026-10-28T05:52:45Z</dcterms:modified>
</cp:coreProperties>
</file>