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a05b2e1-c47e-0eb4-393c-36e4e4a94401}">
          <p14:sldIdLst>
            <p14:sldId id="256"/>
            <p14:sldId id="257"/>
          </p14:sldIdLst>
        </p14:section>
        <p14:section name="Thorndike" id="{caef0f53-4979-0ec4-17bb-eb40ee1de6db}">
          <p14:sldIdLst>
            <p14:sldId id="258"/>
            <p14:sldId id="259"/>
          </p14:sldIdLst>
        </p14:section>
        <p14:section name="L'effet de halo" id="{c5d19529-4734-fe02-a21e-fc2b768b64e1}">
          <p14:sldIdLst>
            <p14:sldId id="260"/>
            <p14:sldId id="261"/>
            <p14:sldId id="262"/>
            <p14:sldId id="263"/>
            <p14:sldId id="264"/>
          </p14:sldIdLst>
        </p14:section>
        <p14:section name="Conclusion" id="{5ad10294-6593-40eb-e044-39fe27cb3a69}">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Bonjour à tous. Aujourd'hui, je vais vous parler d'un psychologue américain, Edward Thorndike, et surtout d'un phénomène que l'on rencontre tous les jours sans s'en rendre compte : l'effet de halo. Regardez la silhouette : le halo, c'est comme une auréole au-dessus de la tête. Vous allez voir pourquoi cette image est très bien choisie.
Conseil : Souris, regarde la classe, et dis ton nom en premier : « Je m'appelle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Ma présentation a quatre parties. D'abord, qui est Thorndike. Ensuite, sa découverte : l'effet de halo. Puis un exemple précis, une expérience célèbre de 1977. Et enfin, où on retrouve cet effet dans la vie, et en architecture.
Conseil : Va vite sur cette diapo : 20 à 30 secondes suffisent.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Edward Lee Thorndike est un psychologue américain. Il naît en 1874 à Williamsburg, dans le Massachusetts. En 1898, il présente sa thèse à l'université Columbia, qui s'appelle « Animal Intelligence ». L'année suivante, en 1899, il entre à Teachers College, l'école de formation des enseignants de Columbia, et il y reste toute sa carrière. Il meurt en 1949. On le surnomme le « père de la psychologie de l'éducation », parce qu'il a beaucoup étudié comment on apprend. Son idée clé s'appelle le connexionnisme : apprendre, c'est relier une situation à une réponse.
Conseil : Montre la frise avec la main de gauche à droite pendant que tu cites les dates. Tu n'as pas besoin de les réciter par cœur : tu peux les lire sur la diapo.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Pour comprendre Thorndike, il faut connaître son expérience la plus célèbre. Il enferme un chat dans une boîte-problème, dont la porte s'ouvre seulement si le chat fait un geste précis, par exemple tirer une ficelle. Au début, le chat essaie plein de choses au hasard : ce sont des essais et des erreurs. Quand un geste ouvre la porte, il sort et il trouve de la nourriture. Et à chaque nouvel essai, il réussit plus vite. Thorndike en tire sa loi de l'effet : un comportement qui est suivi d'un résultat agréable a plus de chances de se répéter. C'est exactement ce que la professeure nous a expliqué en cours : on apprend par essais et erreurs.
Conseil : Fais le lien avec le cours : c'est le moment où tu montres que tu as bien suivi. Fais un petit geste de « tirer une ficelle » si tu veux amuser la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Passons à ce qui nous intéresse vraiment. En 1920, Thorndike publie un article intitulé « A Constant Error in Psychological Ratings », c'est-à-dire « Une erreur constante dans les évaluations psychologiques ». Il travaille sur des évaluations faites dans l'armée américaine : des supérieurs notent des officiers sur plusieurs qualités, par exemple le physique, l'intelligence, le leadership et les qualités personnelles. Et il remarque quelque chose d'étrange : les notes se ressemblent beaucoup trop. Elles sont trop élevées et trop régulières pour être réelles. Quelqu'un de bien noté sur le physique l'était aussi sur l'intelligence et sur le leadership. Sa conclusion : le juge se laisse guider par une impression générale, qui colore toutes les notes. Le mot « halo » est associé à Thorndike.
Conseil : Montre le schéma : l'impression générale au centre, et les qualités autour. Si on te demande des détails sur le nombre d'officiers, tu peux répondre que tu as retenu le résultat principal, pas les chiffres exacts.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Voici donc la définition. L'effet de halo, c'est quand un seul trait d'une personne, par exemple sa beauté, sa sympathie ou sa belle présentation, colore le jugement que l'on porte sur tous ses autres traits. On dit « halo » comme l'auréole des saints dans les tableaux : une lumière autour de la tête qui fait paraître la personne parfaite. Exemple : « Il est beau, donc il doit être intelligent, honnête et compétent ». Et ça marche aussi dans l'autre sens : si une personne a un défaut qui se voit, on juge tout le reste plus sévèrement. C'est l'effet inverse.
Conseil : Question possible pour la classe : « Si je vous montre deux personnes, l'une très bien habillée et l'autre pas, laquelle vous paraît la plus compétente ? » Laisse 5 secondes, puis dis : « Voilà, c'est l'effet de halo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Pour mon exemple précis, j'ai choisi une expérience de 1977, faite par les psychologues Richard Nisbett et Timothy Wilson. Ils réunissent 118 étudiants de l'université du Michigan. Chaque étudiant regarde une vidéo d'un même professeur, qui parle avec un accent européen. Mais il y a deux vidéos. Dans la vidéo A, le professeur est chaleureux et sympathique. Dans la vidéo B, le même professeur est froid et distant. Ensuite, on demande aux étudiants de noter son apparence, ses manières et son accent. Je vous pose la question : à votre avis, vont-ils le juger pareil dans les deux vidéos ?
Conseil : Pose la question vraiment à la classe et attends une ou deux réponses : c'est ce qui rend ton exemple vivant. Insiste sur « le même professeur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Et la réponse est non. Les étudiants qui ont vu le professeur chaleureux ont trouvé son apparence, ses manières et son accent agréables. Ceux qui ont vu le professeur froid ont trouvé exactement les mêmes choses irritantes. Pourtant, c'est le même homme, avec le même accent. Il y a un deuxième résultat très important : les étudiants n'avaient pas conscience de cette influence. Ils pensaient que c'était l'accent qui les irritait, alors qu'en réalité c'était l'impression générale de froideur. L'effet de halo est donc inconscient : on ne se rend pas compte qu'on est influencé.
Conseil : Ralentis sur la phrase « c'est le même homme, avec le même accent ». C'est la phrase la plus importante de ta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On retrouve l'effet de halo partout. Par exemple, en 1972, les psychologues Dion, Berscheid et Walster ont montré que les personnes séduisantes sont jugées plus positivement : on leur attribue plus de qualités. On le retrouve aussi dans les entretiens d'embauche ou à l'école. Et en architecture ? Je pense qu'un très beau rendu, avec de belles couleurs, peut faire paraître un projet meilleur qu'il ne l'est vraiment. Ce n'est pas une étude, c'est un exemple d'application. Pour s'en protéger, il faut en être conscient, juger critère par critère avec une grille, séparer ce qu'on voit de ce qu'on déduit, et évaluer de façon anonyme quand c'est possible.
Conseil : Tu peux faire le lien avec Goffman : l'apparence et la manière sont la « façade » dont on parlait en cours, et c'est elle qui crée le halo. Dis aussi que l'exemple de l'architecture est ton idée, pas une étude.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Pour conclure, je retiens trois choses. Un : Thorndike est un pionnier de la psychologie de l'apprentissage, avec sa loi de l'effet. Deux : avec l'effet de halo, un seul trait colore tout le jugement, souvent sans qu'on le sache. Trois : en tant que futurs architectes, nous allons juger des projets et être jugés, donc à nous de juger sur des critères, pas sur une impression. Merci de votre attention, et je suis disponible pour répondre à vos questions.
Conseil : Termine en regardant la classe, pas l'écran. Les sources sont sur la diapo si on te les demande.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926080"/>
            <a:ext cx="475488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IR">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937760" cy="1371600"/>
          </a:xfrm>
          <a:prstGeom prst="rect">
            <a:avLst/>
          </a:prstGeom>
          <a:noFill/>
          <a:ln/>
        </p:spPr>
        <p:txBody>
          <a:bodyPr wrap="square" lIns="0" tIns="0" rIns="0" bIns="0" rtlCol="0" anchor="b"/>
          <a:lstStyle/>
          <a:p>
            <a:pPr algn="l" indent="0" marL="0">
              <a:buNone/>
            </a:pPr>
            <a:r>
              <a:rPr lang="en-US" sz="4800" b="1" dirty="0">
                <a:solidFill>
                  <a:schemeClr val="bg1"/>
                </a:solidFill>
              </a:rPr>
              <a:t>L'effet de halo</a:t>
            </a:r>
            <a:endParaRPr lang="en-US" sz="4800" dirty="0"/>
          </a:p>
        </p:txBody>
      </p:sp>
      <p:sp>
        <p:nvSpPr>
          <p:cNvPr id="3" name="Text 0"/>
          <p:cNvSpPr/>
          <p:nvPr>
            <p:ph idx="101" type="body" hasCustomPrompt="1"/>
          </p:nvPr>
        </p:nvSpPr>
        <p:spPr>
          <a:xfrm>
            <a:off x="548640" y="2926080"/>
            <a:ext cx="4754880" cy="822960"/>
          </a:xfrm>
          <a:prstGeom prst="rect">
            <a:avLst/>
          </a:prstGeom>
          <a:noFill/>
          <a:ln/>
        </p:spPr>
        <p:txBody>
          <a:bodyPr wrap="square" lIns="0" tIns="0" rIns="0" bIns="0" rtlCol="0" anchor="t"/>
          <a:lstStyle/>
          <a:p>
            <a:pPr algn="l" indent="0" marL="0">
              <a:buNone/>
            </a:pPr>
            <a:r>
              <a:rPr lang="en-US" sz="2000" dirty="0">
                <a:solidFill>
                  <a:schemeClr val="accent6"/>
                </a:solidFill>
              </a:rPr>
              <a:t>Edward Thorndike et le biais de l'impression générale</a:t>
            </a:r>
            <a:endParaRPr lang="en-US" sz="2000" dirty="0"/>
          </a:p>
        </p:txBody>
      </p:sp>
      <p:sp>
        <p:nvSpPr>
          <p:cNvPr id="4" name="Classe"/>
          <p:cNvSpPr txBox="1"/>
          <p:nvPr/>
        </p:nvSpPr>
        <p:spPr>
          <a:xfrm>
            <a:off x="548640" y="4160520"/>
            <a:ext cx="5486400" cy="274320"/>
          </a:xfrm>
          <a:prstGeom prst="rect">
            <a:avLst/>
          </a:prstGeom>
          <a:noFill/>
          <a:ln/>
        </p:spPr>
        <p:txBody>
          <a:bodyPr wrap="square" lIns="0" tIns="0" rIns="0" bIns="0" rtlCol="0" anchor="ctr"/>
          <a:lstStyle/>
          <a:p>
            <a:pPr indent="0" marL="0">
              <a:buNone/>
            </a:pPr>
            <a:r>
              <a:rPr lang="en-US" sz="1400" dirty="0">
                <a:solidFill>
                  <a:schemeClr val="bg1"/>
                </a:solidFill>
              </a:rPr>
              <a:t>Psychologie · 1re année Architecture · ESAD Tunis</a:t>
            </a:r>
            <a:endParaRPr lang="en-US" sz="1400" dirty="0"/>
          </a:p>
        </p:txBody>
      </p:sp>
      <p:sp>
        <p:nvSpPr>
          <p:cNvPr id="5" name="Auteur"/>
          <p:cNvSpPr txBox="1"/>
          <p:nvPr/>
        </p:nvSpPr>
        <p:spPr>
          <a:xfrm>
            <a:off x="548640" y="4480560"/>
            <a:ext cx="5486400" cy="274320"/>
          </a:xfrm>
          <a:prstGeom prst="rect">
            <a:avLst/>
          </a:prstGeom>
          <a:noFill/>
          <a:ln/>
        </p:spPr>
        <p:txBody>
          <a:bodyPr wrap="square" lIns="0" tIns="0" rIns="0" bIns="0" rtlCol="0" anchor="ctr"/>
          <a:lstStyle/>
          <a:p>
            <a:pPr indent="0" marL="0">
              <a:buNone/>
            </a:pPr>
            <a:r>
              <a:rPr lang="en-US" sz="1400" dirty="0">
                <a:solidFill>
                  <a:schemeClr val="accent6"/>
                </a:solidFill>
              </a:rPr>
              <a:t>Présenté par : [ton nom]</a:t>
            </a:r>
            <a:endParaRPr lang="en-US" sz="1400" dirty="0"/>
          </a:p>
        </p:txBody>
      </p:sp>
      <p:sp>
        <p:nvSpPr>
          <p:cNvPr id="6" name="Lueur large"/>
          <p:cNvSpPr/>
          <p:nvPr/>
        </p:nvSpPr>
        <p:spPr>
          <a:xfrm>
            <a:off x="5989320" y="1051560"/>
            <a:ext cx="2377440" cy="1005840"/>
          </a:xfrm>
          <a:prstGeom prst="ellipse">
            <a:avLst/>
          </a:prstGeom>
          <a:solidFill>
            <a:schemeClr val="accent1">
              <a:alpha val="15000"/>
            </a:schemeClr>
          </a:solidFill>
          <a:ln w="12700">
            <a:solidFill>
              <a:schemeClr val="accent1"/>
            </a:solidFill>
            <a:prstDash val="solid"/>
          </a:ln>
        </p:spPr>
      </p:sp>
      <p:sp>
        <p:nvSpPr>
          <p:cNvPr id="7" name="Lueur"/>
          <p:cNvSpPr/>
          <p:nvPr/>
        </p:nvSpPr>
        <p:spPr>
          <a:xfrm>
            <a:off x="6309360" y="1234440"/>
            <a:ext cx="1737360" cy="685800"/>
          </a:xfrm>
          <a:prstGeom prst="ellipse">
            <a:avLst/>
          </a:prstGeom>
          <a:solidFill>
            <a:schemeClr val="accent1">
              <a:alpha val="30000"/>
            </a:schemeClr>
          </a:solidFill>
          <a:ln w="12700">
            <a:solidFill>
              <a:schemeClr val="accent1"/>
            </a:solidFill>
            <a:prstDash val="solid"/>
          </a:ln>
        </p:spPr>
      </p:sp>
      <p:sp>
        <p:nvSpPr>
          <p:cNvPr id="8" name="Silhouette corps"/>
          <p:cNvSpPr/>
          <p:nvPr/>
        </p:nvSpPr>
        <p:spPr>
          <a:xfrm>
            <a:off x="6327648" y="3227832"/>
            <a:ext cx="1700784" cy="1234440"/>
          </a:xfrm>
          <a:prstGeom prst="roundRect">
            <a:avLst>
              <a:gd name="adj" fmla="val 38889"/>
            </a:avLst>
          </a:prstGeom>
          <a:solidFill>
            <a:schemeClr val="accent4"/>
          </a:solidFill>
          <a:ln w="12700">
            <a:solidFill>
              <a:schemeClr val="accent4"/>
            </a:solidFill>
            <a:prstDash val="solid"/>
          </a:ln>
        </p:spPr>
      </p:sp>
      <p:sp>
        <p:nvSpPr>
          <p:cNvPr id="9" name="Silhouette tête"/>
          <p:cNvSpPr/>
          <p:nvPr/>
        </p:nvSpPr>
        <p:spPr>
          <a:xfrm>
            <a:off x="6711696" y="2185416"/>
            <a:ext cx="932688" cy="932688"/>
          </a:xfrm>
          <a:prstGeom prst="ellipse">
            <a:avLst/>
          </a:prstGeom>
          <a:solidFill>
            <a:schemeClr val="bg2"/>
          </a:solidFill>
          <a:ln w="12700">
            <a:solidFill>
              <a:schemeClr val="bg2"/>
            </a:solidFill>
            <a:prstDash val="solid"/>
          </a:ln>
        </p:spPr>
      </p:sp>
      <p:sp>
        <p:nvSpPr>
          <p:cNvPr id="10" name="Halo"/>
          <p:cNvSpPr/>
          <p:nvPr/>
        </p:nvSpPr>
        <p:spPr>
          <a:xfrm>
            <a:off x="6492240" y="1572768"/>
            <a:ext cx="1371600" cy="384048"/>
          </a:xfrm>
          <a:prstGeom prst="ellipse">
            <a:avLst/>
          </a:prstGeom>
          <a:ln w="762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Au programme</a:t>
            </a:r>
            <a:endParaRPr lang="en-US" sz="3200" dirty="0"/>
          </a:p>
        </p:txBody>
      </p:sp>
      <p:sp>
        <p:nvSpPr>
          <p:cNvPr id="3" name="Ligne 1"/>
          <p:cNvSpPr/>
          <p:nvPr/>
        </p:nvSpPr>
        <p:spPr>
          <a:xfrm>
            <a:off x="457200" y="1325880"/>
            <a:ext cx="8229600" cy="658368"/>
          </a:xfrm>
          <a:prstGeom prst="roundRect">
            <a:avLst>
              <a:gd name="adj" fmla="val 16667"/>
            </a:avLst>
          </a:prstGeom>
          <a:solidFill>
            <a:schemeClr val="bg2"/>
          </a:solidFill>
          <a:ln w="12700">
            <a:solidFill>
              <a:schemeClr val="bg2"/>
            </a:solidFill>
            <a:prstDash val="solid"/>
          </a:ln>
        </p:spPr>
      </p:sp>
      <p:sp>
        <p:nvSpPr>
          <p:cNvPr id="4" name="Numéro 1"/>
          <p:cNvSpPr/>
          <p:nvPr/>
        </p:nvSpPr>
        <p:spPr>
          <a:xfrm>
            <a:off x="621792" y="1417320"/>
            <a:ext cx="475488" cy="475488"/>
          </a:xfrm>
          <a:prstGeom prst="ellipse">
            <a:avLst/>
          </a:prstGeom>
          <a:solidFill>
            <a:schemeClr val="accent1"/>
          </a:solidFill>
          <a:ln w="12700">
            <a:solidFill>
              <a:schemeClr val="accent1"/>
            </a:solidFill>
            <a:prstDash val="solid"/>
          </a:ln>
        </p:spPr>
      </p:sp>
      <p:sp>
        <p:nvSpPr>
          <p:cNvPr id="5" name="Numéro 1 texte"/>
          <p:cNvSpPr txBox="1"/>
          <p:nvPr/>
        </p:nvSpPr>
        <p:spPr>
          <a:xfrm>
            <a:off x="621792" y="1417320"/>
            <a:ext cx="475488" cy="475488"/>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6" name="Titre ligne 1"/>
          <p:cNvSpPr txBox="1"/>
          <p:nvPr/>
        </p:nvSpPr>
        <p:spPr>
          <a:xfrm>
            <a:off x="1371600" y="1325880"/>
            <a:ext cx="7132320" cy="658368"/>
          </a:xfrm>
          <a:prstGeom prst="rect">
            <a:avLst/>
          </a:prstGeom>
          <a:noFill/>
          <a:ln/>
        </p:spPr>
        <p:txBody>
          <a:bodyPr wrap="square" lIns="0" tIns="0" rIns="0" bIns="0" rtlCol="0" anchor="ctr"/>
          <a:lstStyle/>
          <a:p>
            <a:pPr indent="0" marL="0">
              <a:buNone/>
            </a:pPr>
            <a:r>
              <a:rPr lang="en-US" sz="2200" b="1" dirty="0">
                <a:solidFill>
                  <a:schemeClr val="tx1"/>
                </a:solidFill>
              </a:rPr>
              <a:t>Qui est Thorndike ?</a:t>
            </a:r>
            <a:endParaRPr lang="en-US" sz="2200" dirty="0"/>
          </a:p>
        </p:txBody>
      </p:sp>
      <p:sp>
        <p:nvSpPr>
          <p:cNvPr id="7" name="Ligne 2"/>
          <p:cNvSpPr/>
          <p:nvPr/>
        </p:nvSpPr>
        <p:spPr>
          <a:xfrm>
            <a:off x="457200" y="2148840"/>
            <a:ext cx="8229600" cy="658368"/>
          </a:xfrm>
          <a:prstGeom prst="roundRect">
            <a:avLst>
              <a:gd name="adj" fmla="val 16667"/>
            </a:avLst>
          </a:prstGeom>
          <a:solidFill>
            <a:schemeClr val="bg2"/>
          </a:solidFill>
          <a:ln w="12700">
            <a:solidFill>
              <a:schemeClr val="bg2"/>
            </a:solidFill>
            <a:prstDash val="solid"/>
          </a:ln>
        </p:spPr>
      </p:sp>
      <p:sp>
        <p:nvSpPr>
          <p:cNvPr id="8" name="Numéro 2"/>
          <p:cNvSpPr/>
          <p:nvPr/>
        </p:nvSpPr>
        <p:spPr>
          <a:xfrm>
            <a:off x="621792" y="2240280"/>
            <a:ext cx="475488" cy="475488"/>
          </a:xfrm>
          <a:prstGeom prst="ellipse">
            <a:avLst/>
          </a:prstGeom>
          <a:solidFill>
            <a:schemeClr val="accent1"/>
          </a:solidFill>
          <a:ln w="12700">
            <a:solidFill>
              <a:schemeClr val="accent1"/>
            </a:solidFill>
            <a:prstDash val="solid"/>
          </a:ln>
        </p:spPr>
      </p:sp>
      <p:sp>
        <p:nvSpPr>
          <p:cNvPr id="9" name="Numéro 2 texte"/>
          <p:cNvSpPr txBox="1"/>
          <p:nvPr/>
        </p:nvSpPr>
        <p:spPr>
          <a:xfrm>
            <a:off x="621792" y="2240280"/>
            <a:ext cx="475488" cy="475488"/>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10" name="Titre ligne 2"/>
          <p:cNvSpPr txBox="1"/>
          <p:nvPr/>
        </p:nvSpPr>
        <p:spPr>
          <a:xfrm>
            <a:off x="1371600" y="2148840"/>
            <a:ext cx="7132320" cy="658368"/>
          </a:xfrm>
          <a:prstGeom prst="rect">
            <a:avLst/>
          </a:prstGeom>
          <a:noFill/>
          <a:ln/>
        </p:spPr>
        <p:txBody>
          <a:bodyPr wrap="square" lIns="0" tIns="0" rIns="0" bIns="0" rtlCol="0" anchor="ctr"/>
          <a:lstStyle/>
          <a:p>
            <a:pPr indent="0" marL="0">
              <a:buNone/>
            </a:pPr>
            <a:r>
              <a:rPr lang="en-US" sz="2200" b="1" dirty="0">
                <a:solidFill>
                  <a:schemeClr val="tx1"/>
                </a:solidFill>
              </a:rPr>
              <a:t>Sa découverte : l'effet de halo</a:t>
            </a:r>
            <a:endParaRPr lang="en-US" sz="2200" dirty="0"/>
          </a:p>
        </p:txBody>
      </p:sp>
      <p:sp>
        <p:nvSpPr>
          <p:cNvPr id="11" name="Ligne 3"/>
          <p:cNvSpPr/>
          <p:nvPr/>
        </p:nvSpPr>
        <p:spPr>
          <a:xfrm>
            <a:off x="457200" y="2971800"/>
            <a:ext cx="8229600" cy="658368"/>
          </a:xfrm>
          <a:prstGeom prst="roundRect">
            <a:avLst>
              <a:gd name="adj" fmla="val 16667"/>
            </a:avLst>
          </a:prstGeom>
          <a:solidFill>
            <a:schemeClr val="bg2"/>
          </a:solidFill>
          <a:ln w="12700">
            <a:solidFill>
              <a:schemeClr val="bg2"/>
            </a:solidFill>
            <a:prstDash val="solid"/>
          </a:ln>
        </p:spPr>
      </p:sp>
      <p:sp>
        <p:nvSpPr>
          <p:cNvPr id="12" name="Numéro 3"/>
          <p:cNvSpPr/>
          <p:nvPr/>
        </p:nvSpPr>
        <p:spPr>
          <a:xfrm>
            <a:off x="621792" y="3063240"/>
            <a:ext cx="475488" cy="475488"/>
          </a:xfrm>
          <a:prstGeom prst="ellipse">
            <a:avLst/>
          </a:prstGeom>
          <a:solidFill>
            <a:schemeClr val="accent1"/>
          </a:solidFill>
          <a:ln w="12700">
            <a:solidFill>
              <a:schemeClr val="accent1"/>
            </a:solidFill>
            <a:prstDash val="solid"/>
          </a:ln>
        </p:spPr>
      </p:sp>
      <p:sp>
        <p:nvSpPr>
          <p:cNvPr id="13" name="Numéro 3 texte"/>
          <p:cNvSpPr txBox="1"/>
          <p:nvPr/>
        </p:nvSpPr>
        <p:spPr>
          <a:xfrm>
            <a:off x="621792" y="3063240"/>
            <a:ext cx="475488" cy="475488"/>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4" name="Titre ligne 3"/>
          <p:cNvSpPr txBox="1"/>
          <p:nvPr/>
        </p:nvSpPr>
        <p:spPr>
          <a:xfrm>
            <a:off x="1371600" y="2971800"/>
            <a:ext cx="7132320" cy="658368"/>
          </a:xfrm>
          <a:prstGeom prst="rect">
            <a:avLst/>
          </a:prstGeom>
          <a:noFill/>
          <a:ln/>
        </p:spPr>
        <p:txBody>
          <a:bodyPr wrap="square" lIns="0" tIns="0" rIns="0" bIns="0" rtlCol="0" anchor="ctr"/>
          <a:lstStyle/>
          <a:p>
            <a:pPr indent="0" marL="0">
              <a:buNone/>
            </a:pPr>
            <a:r>
              <a:rPr lang="en-US" sz="2200" b="1" dirty="0">
                <a:solidFill>
                  <a:schemeClr val="tx1"/>
                </a:solidFill>
              </a:rPr>
              <a:t>Un exemple précis : l'expérience de 1977</a:t>
            </a:r>
            <a:endParaRPr lang="en-US" sz="2200" dirty="0"/>
          </a:p>
        </p:txBody>
      </p:sp>
      <p:sp>
        <p:nvSpPr>
          <p:cNvPr id="15" name="Ligne 4"/>
          <p:cNvSpPr/>
          <p:nvPr/>
        </p:nvSpPr>
        <p:spPr>
          <a:xfrm>
            <a:off x="457200" y="3794760"/>
            <a:ext cx="8229600" cy="658368"/>
          </a:xfrm>
          <a:prstGeom prst="roundRect">
            <a:avLst>
              <a:gd name="adj" fmla="val 16667"/>
            </a:avLst>
          </a:prstGeom>
          <a:solidFill>
            <a:schemeClr val="bg2"/>
          </a:solidFill>
          <a:ln w="12700">
            <a:solidFill>
              <a:schemeClr val="bg2"/>
            </a:solidFill>
            <a:prstDash val="solid"/>
          </a:ln>
        </p:spPr>
      </p:sp>
      <p:sp>
        <p:nvSpPr>
          <p:cNvPr id="16" name="Numéro 4"/>
          <p:cNvSpPr/>
          <p:nvPr/>
        </p:nvSpPr>
        <p:spPr>
          <a:xfrm>
            <a:off x="621792" y="3886200"/>
            <a:ext cx="475488" cy="475488"/>
          </a:xfrm>
          <a:prstGeom prst="ellipse">
            <a:avLst/>
          </a:prstGeom>
          <a:solidFill>
            <a:schemeClr val="accent1"/>
          </a:solidFill>
          <a:ln w="12700">
            <a:solidFill>
              <a:schemeClr val="accent1"/>
            </a:solidFill>
            <a:prstDash val="solid"/>
          </a:ln>
        </p:spPr>
      </p:sp>
      <p:sp>
        <p:nvSpPr>
          <p:cNvPr id="17" name="Numéro 4 texte"/>
          <p:cNvSpPr txBox="1"/>
          <p:nvPr/>
        </p:nvSpPr>
        <p:spPr>
          <a:xfrm>
            <a:off x="621792" y="3886200"/>
            <a:ext cx="475488" cy="475488"/>
          </a:xfrm>
          <a:prstGeom prst="rect">
            <a:avLst/>
          </a:prstGeom>
          <a:noFill/>
          <a:ln/>
        </p:spPr>
        <p:txBody>
          <a:bodyPr wrap="square" lIns="0" tIns="0" rIns="0" bIns="0" rtlCol="0" anchor="ctr"/>
          <a:lstStyle/>
          <a:p>
            <a:pPr algn="ctr" indent="0" marL="0">
              <a:buNone/>
            </a:pPr>
            <a:r>
              <a:rPr lang="en-US" sz="2000" b="1" dirty="0">
                <a:solidFill>
                  <a:schemeClr val="tx1"/>
                </a:solidFill>
              </a:rPr>
              <a:t>4</a:t>
            </a:r>
            <a:endParaRPr lang="en-US" sz="2000" dirty="0"/>
          </a:p>
        </p:txBody>
      </p:sp>
      <p:sp>
        <p:nvSpPr>
          <p:cNvPr id="18" name="Titre ligne 4"/>
          <p:cNvSpPr txBox="1"/>
          <p:nvPr/>
        </p:nvSpPr>
        <p:spPr>
          <a:xfrm>
            <a:off x="1371600" y="3794760"/>
            <a:ext cx="7132320" cy="658368"/>
          </a:xfrm>
          <a:prstGeom prst="rect">
            <a:avLst/>
          </a:prstGeom>
          <a:noFill/>
          <a:ln/>
        </p:spPr>
        <p:txBody>
          <a:bodyPr wrap="square" lIns="0" tIns="0" rIns="0" bIns="0" rtlCol="0" anchor="ctr"/>
          <a:lstStyle/>
          <a:p>
            <a:pPr indent="0" marL="0">
              <a:buNone/>
            </a:pPr>
            <a:r>
              <a:rPr lang="en-US" sz="2200" b="1" dirty="0">
                <a:solidFill>
                  <a:schemeClr val="tx1"/>
                </a:solidFill>
              </a:rPr>
              <a:t>Dans la vie… et en architecture</a:t>
            </a:r>
            <a:endParaRPr lang="en-US" sz="2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Qui est Thorndike ?</a:t>
            </a:r>
            <a:endParaRPr lang="en-US" sz="3200" dirty="0"/>
          </a:p>
        </p:txBody>
      </p:sp>
      <p:sp>
        <p:nvSpPr>
          <p:cNvPr id="3" name="Frise"/>
          <p:cNvSpPr/>
          <p:nvPr/>
        </p:nvSpPr>
        <p:spPr>
          <a:xfrm>
            <a:off x="822960" y="2148840"/>
            <a:ext cx="7498080" cy="0"/>
          </a:xfrm>
          <a:prstGeom prst="line">
            <a:avLst/>
          </a:prstGeom>
          <a:noFill/>
          <a:ln w="31750">
            <a:solidFill>
              <a:schemeClr val="accent4"/>
            </a:solidFill>
            <a:prstDash val="solid"/>
          </a:ln>
        </p:spPr>
      </p:sp>
      <p:sp>
        <p:nvSpPr>
          <p:cNvPr id="4" name="Année 1874"/>
          <p:cNvSpPr txBox="1"/>
          <p:nvPr/>
        </p:nvSpPr>
        <p:spPr>
          <a:xfrm>
            <a:off x="594360" y="1417320"/>
            <a:ext cx="1554480" cy="457200"/>
          </a:xfrm>
          <a:prstGeom prst="rect">
            <a:avLst/>
          </a:prstGeom>
          <a:noFill/>
          <a:ln/>
        </p:spPr>
        <p:txBody>
          <a:bodyPr wrap="square" lIns="0" tIns="0" rIns="0" bIns="0" rtlCol="0" anchor="ctr"/>
          <a:lstStyle/>
          <a:p>
            <a:pPr algn="ctr" indent="0" marL="0">
              <a:buNone/>
            </a:pPr>
            <a:r>
              <a:rPr lang="en-US" sz="2400" b="1" dirty="0">
                <a:solidFill>
                  <a:schemeClr val="accent3"/>
                </a:solidFill>
              </a:rPr>
              <a:t>1874</a:t>
            </a:r>
            <a:endParaRPr lang="en-US" sz="2400" dirty="0"/>
          </a:p>
        </p:txBody>
      </p:sp>
      <p:sp>
        <p:nvSpPr>
          <p:cNvPr id="5" name="Repère 1874"/>
          <p:cNvSpPr/>
          <p:nvPr/>
        </p:nvSpPr>
        <p:spPr>
          <a:xfrm>
            <a:off x="1216152" y="1993392"/>
            <a:ext cx="310896" cy="310896"/>
          </a:xfrm>
          <a:prstGeom prst="ellipse">
            <a:avLst/>
          </a:prstGeom>
          <a:solidFill>
            <a:schemeClr val="accent1"/>
          </a:solidFill>
          <a:ln w="25400">
            <a:solidFill>
              <a:schemeClr val="bg1"/>
            </a:solidFill>
            <a:prstDash val="solid"/>
          </a:ln>
        </p:spPr>
      </p:sp>
      <p:sp>
        <p:nvSpPr>
          <p:cNvPr id="6" name="Texte 1874"/>
          <p:cNvSpPr txBox="1"/>
          <p:nvPr/>
        </p:nvSpPr>
        <p:spPr>
          <a:xfrm>
            <a:off x="594360" y="2468880"/>
            <a:ext cx="1554480" cy="960120"/>
          </a:xfrm>
          <a:prstGeom prst="rect">
            <a:avLst/>
          </a:prstGeom>
          <a:noFill/>
          <a:ln/>
        </p:spPr>
        <p:txBody>
          <a:bodyPr wrap="square" lIns="0" tIns="0" rIns="0" bIns="0" rtlCol="0" anchor="t"/>
          <a:lstStyle/>
          <a:p>
            <a:pPr algn="ctr" indent="0" marL="0">
              <a:buNone/>
            </a:pPr>
            <a:r>
              <a:rPr lang="en-US" sz="1400" dirty="0">
                <a:solidFill>
                  <a:schemeClr val="tx2"/>
                </a:solidFill>
              </a:rPr>
              <a:t>Naît à Williamsburg (Massachusetts)</a:t>
            </a:r>
            <a:endParaRPr lang="en-US" sz="1400" dirty="0"/>
          </a:p>
        </p:txBody>
      </p:sp>
      <p:sp>
        <p:nvSpPr>
          <p:cNvPr id="7" name="Année 1898"/>
          <p:cNvSpPr txBox="1"/>
          <p:nvPr/>
        </p:nvSpPr>
        <p:spPr>
          <a:xfrm>
            <a:off x="2194560" y="1417320"/>
            <a:ext cx="1554480" cy="457200"/>
          </a:xfrm>
          <a:prstGeom prst="rect">
            <a:avLst/>
          </a:prstGeom>
          <a:noFill/>
          <a:ln/>
        </p:spPr>
        <p:txBody>
          <a:bodyPr wrap="square" lIns="0" tIns="0" rIns="0" bIns="0" rtlCol="0" anchor="ctr"/>
          <a:lstStyle/>
          <a:p>
            <a:pPr algn="ctr" indent="0" marL="0">
              <a:buNone/>
            </a:pPr>
            <a:r>
              <a:rPr lang="en-US" sz="2400" b="1" dirty="0">
                <a:solidFill>
                  <a:schemeClr val="accent3"/>
                </a:solidFill>
              </a:rPr>
              <a:t>1898</a:t>
            </a:r>
            <a:endParaRPr lang="en-US" sz="2400" dirty="0"/>
          </a:p>
        </p:txBody>
      </p:sp>
      <p:sp>
        <p:nvSpPr>
          <p:cNvPr id="8" name="Repère 1898"/>
          <p:cNvSpPr/>
          <p:nvPr/>
        </p:nvSpPr>
        <p:spPr>
          <a:xfrm>
            <a:off x="2816352" y="1993392"/>
            <a:ext cx="310896" cy="310896"/>
          </a:xfrm>
          <a:prstGeom prst="ellipse">
            <a:avLst/>
          </a:prstGeom>
          <a:solidFill>
            <a:schemeClr val="accent1"/>
          </a:solidFill>
          <a:ln w="25400">
            <a:solidFill>
              <a:schemeClr val="bg1"/>
            </a:solidFill>
            <a:prstDash val="solid"/>
          </a:ln>
        </p:spPr>
      </p:sp>
      <p:sp>
        <p:nvSpPr>
          <p:cNvPr id="9" name="Texte 1898"/>
          <p:cNvSpPr txBox="1"/>
          <p:nvPr/>
        </p:nvSpPr>
        <p:spPr>
          <a:xfrm>
            <a:off x="2194560" y="2468880"/>
            <a:ext cx="1554480" cy="960120"/>
          </a:xfrm>
          <a:prstGeom prst="rect">
            <a:avLst/>
          </a:prstGeom>
          <a:noFill/>
          <a:ln/>
        </p:spPr>
        <p:txBody>
          <a:bodyPr wrap="square" lIns="0" tIns="0" rIns="0" bIns="0" rtlCol="0" anchor="t"/>
          <a:lstStyle/>
          <a:p>
            <a:pPr algn="ctr" indent="0" marL="0">
              <a:buNone/>
            </a:pPr>
            <a:r>
              <a:rPr lang="en-US" sz="1400" dirty="0">
                <a:solidFill>
                  <a:schemeClr val="tx2"/>
                </a:solidFill>
              </a:rPr>
              <a:t>Thèse « Animal Intelligence » à Columbia</a:t>
            </a:r>
            <a:endParaRPr lang="en-US" sz="1400" dirty="0"/>
          </a:p>
        </p:txBody>
      </p:sp>
      <p:sp>
        <p:nvSpPr>
          <p:cNvPr id="10" name="Année 1899"/>
          <p:cNvSpPr txBox="1"/>
          <p:nvPr/>
        </p:nvSpPr>
        <p:spPr>
          <a:xfrm>
            <a:off x="3794760" y="1417320"/>
            <a:ext cx="1554480" cy="457200"/>
          </a:xfrm>
          <a:prstGeom prst="rect">
            <a:avLst/>
          </a:prstGeom>
          <a:noFill/>
          <a:ln/>
        </p:spPr>
        <p:txBody>
          <a:bodyPr wrap="square" lIns="0" tIns="0" rIns="0" bIns="0" rtlCol="0" anchor="ctr"/>
          <a:lstStyle/>
          <a:p>
            <a:pPr algn="ctr" indent="0" marL="0">
              <a:buNone/>
            </a:pPr>
            <a:r>
              <a:rPr lang="en-US" sz="2400" b="1" dirty="0">
                <a:solidFill>
                  <a:schemeClr val="accent3"/>
                </a:solidFill>
              </a:rPr>
              <a:t>1899</a:t>
            </a:r>
            <a:endParaRPr lang="en-US" sz="2400" dirty="0"/>
          </a:p>
        </p:txBody>
      </p:sp>
      <p:sp>
        <p:nvSpPr>
          <p:cNvPr id="11" name="Repère 1899"/>
          <p:cNvSpPr/>
          <p:nvPr/>
        </p:nvSpPr>
        <p:spPr>
          <a:xfrm>
            <a:off x="4416552" y="1993392"/>
            <a:ext cx="310896" cy="310896"/>
          </a:xfrm>
          <a:prstGeom prst="ellipse">
            <a:avLst/>
          </a:prstGeom>
          <a:solidFill>
            <a:schemeClr val="accent1"/>
          </a:solidFill>
          <a:ln w="25400">
            <a:solidFill>
              <a:schemeClr val="bg1"/>
            </a:solidFill>
            <a:prstDash val="solid"/>
          </a:ln>
        </p:spPr>
      </p:sp>
      <p:sp>
        <p:nvSpPr>
          <p:cNvPr id="12" name="Texte 1899"/>
          <p:cNvSpPr txBox="1"/>
          <p:nvPr/>
        </p:nvSpPr>
        <p:spPr>
          <a:xfrm>
            <a:off x="3794760" y="2468880"/>
            <a:ext cx="1554480" cy="960120"/>
          </a:xfrm>
          <a:prstGeom prst="rect">
            <a:avLst/>
          </a:prstGeom>
          <a:noFill/>
          <a:ln/>
        </p:spPr>
        <p:txBody>
          <a:bodyPr wrap="square" lIns="0" tIns="0" rIns="0" bIns="0" rtlCol="0" anchor="t"/>
          <a:lstStyle/>
          <a:p>
            <a:pPr algn="ctr" indent="0" marL="0">
              <a:buNone/>
            </a:pPr>
            <a:r>
              <a:rPr lang="en-US" sz="1400" dirty="0">
                <a:solidFill>
                  <a:schemeClr val="tx2"/>
                </a:solidFill>
              </a:rPr>
              <a:t>Entre à Teachers College (Columbia)</a:t>
            </a:r>
            <a:endParaRPr lang="en-US" sz="1400" dirty="0"/>
          </a:p>
        </p:txBody>
      </p:sp>
      <p:sp>
        <p:nvSpPr>
          <p:cNvPr id="13" name="Année 1920"/>
          <p:cNvSpPr txBox="1"/>
          <p:nvPr/>
        </p:nvSpPr>
        <p:spPr>
          <a:xfrm>
            <a:off x="5394960" y="1417320"/>
            <a:ext cx="1554480" cy="457200"/>
          </a:xfrm>
          <a:prstGeom prst="rect">
            <a:avLst/>
          </a:prstGeom>
          <a:noFill/>
          <a:ln/>
        </p:spPr>
        <p:txBody>
          <a:bodyPr wrap="square" lIns="0" tIns="0" rIns="0" bIns="0" rtlCol="0" anchor="ctr"/>
          <a:lstStyle/>
          <a:p>
            <a:pPr algn="ctr" indent="0" marL="0">
              <a:buNone/>
            </a:pPr>
            <a:r>
              <a:rPr lang="en-US" sz="2400" b="1" dirty="0">
                <a:solidFill>
                  <a:schemeClr val="accent2"/>
                </a:solidFill>
              </a:rPr>
              <a:t>1920</a:t>
            </a:r>
            <a:endParaRPr lang="en-US" sz="2400" dirty="0"/>
          </a:p>
        </p:txBody>
      </p:sp>
      <p:sp>
        <p:nvSpPr>
          <p:cNvPr id="14" name="Repère 1920"/>
          <p:cNvSpPr/>
          <p:nvPr/>
        </p:nvSpPr>
        <p:spPr>
          <a:xfrm>
            <a:off x="6016752" y="1993392"/>
            <a:ext cx="310896" cy="310896"/>
          </a:xfrm>
          <a:prstGeom prst="ellipse">
            <a:avLst/>
          </a:prstGeom>
          <a:solidFill>
            <a:schemeClr val="accent2"/>
          </a:solidFill>
          <a:ln w="25400">
            <a:solidFill>
              <a:schemeClr val="bg1"/>
            </a:solidFill>
            <a:prstDash val="solid"/>
          </a:ln>
        </p:spPr>
      </p:sp>
      <p:sp>
        <p:nvSpPr>
          <p:cNvPr id="15" name="Texte 1920"/>
          <p:cNvSpPr txBox="1"/>
          <p:nvPr/>
        </p:nvSpPr>
        <p:spPr>
          <a:xfrm>
            <a:off x="5394960" y="2468880"/>
            <a:ext cx="1554480" cy="960120"/>
          </a:xfrm>
          <a:prstGeom prst="rect">
            <a:avLst/>
          </a:prstGeom>
          <a:noFill/>
          <a:ln/>
        </p:spPr>
        <p:txBody>
          <a:bodyPr wrap="square" lIns="0" tIns="0" rIns="0" bIns="0" rtlCol="0" anchor="t"/>
          <a:lstStyle/>
          <a:p>
            <a:pPr algn="ctr" indent="0" marL="0">
              <a:buNone/>
            </a:pPr>
            <a:r>
              <a:rPr lang="en-US" sz="1400" dirty="0">
                <a:solidFill>
                  <a:schemeClr val="tx2"/>
                </a:solidFill>
              </a:rPr>
              <a:t>Publie l'article sur l'effet de halo</a:t>
            </a:r>
            <a:endParaRPr lang="en-US" sz="1400" dirty="0"/>
          </a:p>
        </p:txBody>
      </p:sp>
      <p:sp>
        <p:nvSpPr>
          <p:cNvPr id="16" name="Année 1949"/>
          <p:cNvSpPr txBox="1"/>
          <p:nvPr/>
        </p:nvSpPr>
        <p:spPr>
          <a:xfrm>
            <a:off x="6995160" y="1417320"/>
            <a:ext cx="1554480" cy="457200"/>
          </a:xfrm>
          <a:prstGeom prst="rect">
            <a:avLst/>
          </a:prstGeom>
          <a:noFill/>
          <a:ln/>
        </p:spPr>
        <p:txBody>
          <a:bodyPr wrap="square" lIns="0" tIns="0" rIns="0" bIns="0" rtlCol="0" anchor="ctr"/>
          <a:lstStyle/>
          <a:p>
            <a:pPr algn="ctr" indent="0" marL="0">
              <a:buNone/>
            </a:pPr>
            <a:r>
              <a:rPr lang="en-US" sz="2400" b="1" dirty="0">
                <a:solidFill>
                  <a:schemeClr val="accent3"/>
                </a:solidFill>
              </a:rPr>
              <a:t>1949</a:t>
            </a:r>
            <a:endParaRPr lang="en-US" sz="2400" dirty="0"/>
          </a:p>
        </p:txBody>
      </p:sp>
      <p:sp>
        <p:nvSpPr>
          <p:cNvPr id="17" name="Repère 1949"/>
          <p:cNvSpPr/>
          <p:nvPr/>
        </p:nvSpPr>
        <p:spPr>
          <a:xfrm>
            <a:off x="7616952" y="1993392"/>
            <a:ext cx="310896" cy="310896"/>
          </a:xfrm>
          <a:prstGeom prst="ellipse">
            <a:avLst/>
          </a:prstGeom>
          <a:solidFill>
            <a:schemeClr val="accent1"/>
          </a:solidFill>
          <a:ln w="25400">
            <a:solidFill>
              <a:schemeClr val="bg1"/>
            </a:solidFill>
            <a:prstDash val="solid"/>
          </a:ln>
        </p:spPr>
      </p:sp>
      <p:sp>
        <p:nvSpPr>
          <p:cNvPr id="18" name="Texte 1949"/>
          <p:cNvSpPr txBox="1"/>
          <p:nvPr/>
        </p:nvSpPr>
        <p:spPr>
          <a:xfrm>
            <a:off x="6995160" y="2468880"/>
            <a:ext cx="1554480" cy="960120"/>
          </a:xfrm>
          <a:prstGeom prst="rect">
            <a:avLst/>
          </a:prstGeom>
          <a:noFill/>
          <a:ln/>
        </p:spPr>
        <p:txBody>
          <a:bodyPr wrap="square" lIns="0" tIns="0" rIns="0" bIns="0" rtlCol="0" anchor="t"/>
          <a:lstStyle/>
          <a:p>
            <a:pPr algn="ctr" indent="0" marL="0">
              <a:buNone/>
            </a:pPr>
            <a:r>
              <a:rPr lang="en-US" sz="1400" dirty="0">
                <a:solidFill>
                  <a:schemeClr val="tx2"/>
                </a:solidFill>
              </a:rPr>
              <a:t>Décède aux États-Unis</a:t>
            </a:r>
            <a:endParaRPr lang="en-US" sz="1400" dirty="0"/>
          </a:p>
        </p:txBody>
      </p:sp>
      <p:sp>
        <p:nvSpPr>
          <p:cNvPr id="19" name="Carte père"/>
          <p:cNvSpPr/>
          <p:nvPr/>
        </p:nvSpPr>
        <p:spPr>
          <a:xfrm>
            <a:off x="457200" y="3611880"/>
            <a:ext cx="4023360" cy="1005840"/>
          </a:xfrm>
          <a:prstGeom prst="roundRect">
            <a:avLst>
              <a:gd name="adj" fmla="val 10909"/>
            </a:avLst>
          </a:prstGeom>
          <a:solidFill>
            <a:schemeClr val="bg2"/>
          </a:solidFill>
          <a:ln w="12700">
            <a:solidFill>
              <a:schemeClr val="bg2"/>
            </a:solidFill>
            <a:prstDash val="solid"/>
          </a:ln>
        </p:spPr>
      </p:sp>
      <p:sp>
        <p:nvSpPr>
          <p:cNvPr id="20" name="Texte père"/>
          <p:cNvSpPr txBox="1"/>
          <p:nvPr/>
        </p:nvSpPr>
        <p:spPr>
          <a:xfrm>
            <a:off x="640080" y="3611880"/>
            <a:ext cx="3657600" cy="1005840"/>
          </a:xfrm>
          <a:prstGeom prst="rect">
            <a:avLst/>
          </a:prstGeom>
          <a:noFill/>
          <a:ln/>
        </p:spPr>
        <p:txBody>
          <a:bodyPr wrap="square" lIns="0" tIns="0" rIns="0" bIns="0" rtlCol="0" anchor="ctr"/>
          <a:lstStyle/>
          <a:p>
            <a:pPr indent="0" marL="0">
              <a:buNone/>
            </a:pPr>
            <a:r>
              <a:rPr lang="en-US" sz="1500" b="1" dirty="0">
                <a:solidFill>
                  <a:schemeClr val="tx1"/>
                </a:solidFill>
              </a:rPr>
              <a:t>Psychologue américain</a:t>
            </a:r>
            <a:endParaRPr lang="en-US" sz="1500" dirty="0"/>
          </a:p>
          <a:p>
            <a:pPr indent="0" marL="0">
              <a:buNone/>
            </a:pPr>
            <a:r>
              <a:rPr lang="en-US" sz="1500" dirty="0">
                <a:solidFill>
                  <a:schemeClr val="tx1"/>
                </a:solidFill>
              </a:rPr>
              <a:t>surnommé le « père de la psychologie de l'éducation »</a:t>
            </a:r>
            <a:endParaRPr lang="en-US" sz="1500" dirty="0"/>
          </a:p>
        </p:txBody>
      </p:sp>
      <p:sp>
        <p:nvSpPr>
          <p:cNvPr id="21" name="Carte idée"/>
          <p:cNvSpPr/>
          <p:nvPr/>
        </p:nvSpPr>
        <p:spPr>
          <a:xfrm>
            <a:off x="4663440" y="3611880"/>
            <a:ext cx="4023360" cy="1005840"/>
          </a:xfrm>
          <a:prstGeom prst="roundRect">
            <a:avLst>
              <a:gd name="adj" fmla="val 10909"/>
            </a:avLst>
          </a:prstGeom>
          <a:solidFill>
            <a:schemeClr val="bg2"/>
          </a:solidFill>
          <a:ln w="12700">
            <a:solidFill>
              <a:schemeClr val="bg2"/>
            </a:solidFill>
            <a:prstDash val="solid"/>
          </a:ln>
        </p:spPr>
      </p:sp>
      <p:sp>
        <p:nvSpPr>
          <p:cNvPr id="22" name="Texte idée"/>
          <p:cNvSpPr txBox="1"/>
          <p:nvPr/>
        </p:nvSpPr>
        <p:spPr>
          <a:xfrm>
            <a:off x="4846320" y="3611880"/>
            <a:ext cx="3657600" cy="1005840"/>
          </a:xfrm>
          <a:prstGeom prst="rect">
            <a:avLst/>
          </a:prstGeom>
          <a:noFill/>
          <a:ln/>
        </p:spPr>
        <p:txBody>
          <a:bodyPr wrap="square" lIns="0" tIns="0" rIns="0" bIns="0" rtlCol="0" anchor="ctr"/>
          <a:lstStyle/>
          <a:p>
            <a:pPr indent="0" marL="0">
              <a:buNone/>
            </a:pPr>
            <a:r>
              <a:rPr lang="en-US" sz="1500" b="1" dirty="0">
                <a:solidFill>
                  <a:schemeClr val="tx1"/>
                </a:solidFill>
              </a:rPr>
              <a:t>Idée clé : le connexionnisme</a:t>
            </a:r>
            <a:endParaRPr lang="en-US" sz="1500" dirty="0"/>
          </a:p>
          <a:p>
            <a:pPr indent="0" marL="0">
              <a:buNone/>
            </a:pPr>
            <a:r>
              <a:rPr lang="en-US" sz="1500" dirty="0">
                <a:solidFill>
                  <a:schemeClr val="tx1"/>
                </a:solidFill>
              </a:rPr>
              <a:t>apprendre, c'est relier une situation à une réponse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La loi de l'effet</a:t>
            </a:r>
            <a:endParaRPr lang="en-US" sz="3200" dirty="0"/>
          </a:p>
        </p:txBody>
      </p:sp>
      <p:sp>
        <p:nvSpPr>
          <p:cNvPr id="3" name="Étape 1"/>
          <p:cNvSpPr/>
          <p:nvPr/>
        </p:nvSpPr>
        <p:spPr>
          <a:xfrm>
            <a:off x="457200" y="1280160"/>
            <a:ext cx="1920240" cy="1965960"/>
          </a:xfrm>
          <a:prstGeom prst="roundRect">
            <a:avLst>
              <a:gd name="adj" fmla="val 5714"/>
            </a:avLst>
          </a:prstGeom>
          <a:solidFill>
            <a:schemeClr val="bg2"/>
          </a:solidFill>
          <a:ln w="12700">
            <a:solidFill>
              <a:schemeClr val="bg2"/>
            </a:solidFill>
            <a:prstDash val="solid"/>
          </a:ln>
        </p:spPr>
      </p:sp>
      <p:sp>
        <p:nvSpPr>
          <p:cNvPr id="4" name="Numéro étape 1"/>
          <p:cNvSpPr/>
          <p:nvPr/>
        </p:nvSpPr>
        <p:spPr>
          <a:xfrm>
            <a:off x="594360" y="1417320"/>
            <a:ext cx="457200" cy="457200"/>
          </a:xfrm>
          <a:prstGeom prst="ellipse">
            <a:avLst/>
          </a:prstGeom>
          <a:solidFill>
            <a:schemeClr val="accent3"/>
          </a:solidFill>
          <a:ln w="12700">
            <a:solidFill>
              <a:schemeClr val="accent3"/>
            </a:solidFill>
            <a:prstDash val="solid"/>
          </a:ln>
        </p:spPr>
      </p:sp>
      <p:sp>
        <p:nvSpPr>
          <p:cNvPr id="5" name="Numéro étape 1 texte"/>
          <p:cNvSpPr txBox="1"/>
          <p:nvPr/>
        </p:nvSpPr>
        <p:spPr>
          <a:xfrm>
            <a:off x="594360" y="1417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e étape 1"/>
          <p:cNvSpPr txBox="1"/>
          <p:nvPr/>
        </p:nvSpPr>
        <p:spPr>
          <a:xfrm>
            <a:off x="594360" y="2011680"/>
            <a:ext cx="1645920" cy="1143000"/>
          </a:xfrm>
          <a:prstGeom prst="rect">
            <a:avLst/>
          </a:prstGeom>
          <a:noFill/>
          <a:ln/>
        </p:spPr>
        <p:txBody>
          <a:bodyPr wrap="square" lIns="0" tIns="0" rIns="0" bIns="0" rtlCol="0" anchor="t"/>
          <a:lstStyle/>
          <a:p>
            <a:pPr indent="0" marL="0">
              <a:buNone/>
            </a:pPr>
            <a:r>
              <a:rPr lang="en-US" sz="1500" dirty="0">
                <a:solidFill>
                  <a:schemeClr val="tx1"/>
                </a:solidFill>
              </a:rPr>
              <a:t>Un chat est enfermé dans une « boîte-problème »</a:t>
            </a:r>
            <a:endParaRPr lang="en-US" sz="1500" dirty="0"/>
          </a:p>
        </p:txBody>
      </p:sp>
      <p:sp>
        <p:nvSpPr>
          <p:cNvPr id="7" name="Étape 2"/>
          <p:cNvSpPr/>
          <p:nvPr/>
        </p:nvSpPr>
        <p:spPr>
          <a:xfrm>
            <a:off x="2560320" y="1280160"/>
            <a:ext cx="1920240" cy="1965960"/>
          </a:xfrm>
          <a:prstGeom prst="roundRect">
            <a:avLst>
              <a:gd name="adj" fmla="val 5714"/>
            </a:avLst>
          </a:prstGeom>
          <a:solidFill>
            <a:schemeClr val="bg2"/>
          </a:solidFill>
          <a:ln w="12700">
            <a:solidFill>
              <a:schemeClr val="bg2"/>
            </a:solidFill>
            <a:prstDash val="solid"/>
          </a:ln>
        </p:spPr>
      </p:sp>
      <p:sp>
        <p:nvSpPr>
          <p:cNvPr id="8" name="Numéro étape 2"/>
          <p:cNvSpPr/>
          <p:nvPr/>
        </p:nvSpPr>
        <p:spPr>
          <a:xfrm>
            <a:off x="2697480" y="1417320"/>
            <a:ext cx="457200" cy="457200"/>
          </a:xfrm>
          <a:prstGeom prst="ellipse">
            <a:avLst/>
          </a:prstGeom>
          <a:solidFill>
            <a:schemeClr val="accent3"/>
          </a:solidFill>
          <a:ln w="12700">
            <a:solidFill>
              <a:schemeClr val="accent3"/>
            </a:solidFill>
            <a:prstDash val="solid"/>
          </a:ln>
        </p:spPr>
      </p:sp>
      <p:sp>
        <p:nvSpPr>
          <p:cNvPr id="9" name="Numéro étape 2 texte"/>
          <p:cNvSpPr txBox="1"/>
          <p:nvPr/>
        </p:nvSpPr>
        <p:spPr>
          <a:xfrm>
            <a:off x="2697480" y="1417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e étape 2"/>
          <p:cNvSpPr txBox="1"/>
          <p:nvPr/>
        </p:nvSpPr>
        <p:spPr>
          <a:xfrm>
            <a:off x="2697480" y="2011680"/>
            <a:ext cx="1645920" cy="1143000"/>
          </a:xfrm>
          <a:prstGeom prst="rect">
            <a:avLst/>
          </a:prstGeom>
          <a:noFill/>
          <a:ln/>
        </p:spPr>
        <p:txBody>
          <a:bodyPr wrap="square" lIns="0" tIns="0" rIns="0" bIns="0" rtlCol="0" anchor="t"/>
          <a:lstStyle/>
          <a:p>
            <a:pPr indent="0" marL="0">
              <a:buNone/>
            </a:pPr>
            <a:r>
              <a:rPr lang="en-US" sz="1500" dirty="0">
                <a:solidFill>
                  <a:schemeClr val="tx1"/>
                </a:solidFill>
              </a:rPr>
              <a:t>Il essaie plein de gestes : des essais et des erreurs</a:t>
            </a:r>
            <a:endParaRPr lang="en-US" sz="1500" dirty="0"/>
          </a:p>
        </p:txBody>
      </p:sp>
      <p:sp>
        <p:nvSpPr>
          <p:cNvPr id="11" name="Étape 3"/>
          <p:cNvSpPr/>
          <p:nvPr/>
        </p:nvSpPr>
        <p:spPr>
          <a:xfrm>
            <a:off x="4663440" y="1280160"/>
            <a:ext cx="1920240" cy="1965960"/>
          </a:xfrm>
          <a:prstGeom prst="roundRect">
            <a:avLst>
              <a:gd name="adj" fmla="val 5714"/>
            </a:avLst>
          </a:prstGeom>
          <a:solidFill>
            <a:schemeClr val="bg2"/>
          </a:solidFill>
          <a:ln w="12700">
            <a:solidFill>
              <a:schemeClr val="bg2"/>
            </a:solidFill>
            <a:prstDash val="solid"/>
          </a:ln>
        </p:spPr>
      </p:sp>
      <p:sp>
        <p:nvSpPr>
          <p:cNvPr id="12" name="Numéro étape 3"/>
          <p:cNvSpPr/>
          <p:nvPr/>
        </p:nvSpPr>
        <p:spPr>
          <a:xfrm>
            <a:off x="4800600" y="1417320"/>
            <a:ext cx="457200" cy="457200"/>
          </a:xfrm>
          <a:prstGeom prst="ellipse">
            <a:avLst/>
          </a:prstGeom>
          <a:solidFill>
            <a:schemeClr val="accent3"/>
          </a:solidFill>
          <a:ln w="12700">
            <a:solidFill>
              <a:schemeClr val="accent3"/>
            </a:solidFill>
            <a:prstDash val="solid"/>
          </a:ln>
        </p:spPr>
      </p:sp>
      <p:sp>
        <p:nvSpPr>
          <p:cNvPr id="13" name="Numéro étape 3 texte"/>
          <p:cNvSpPr txBox="1"/>
          <p:nvPr/>
        </p:nvSpPr>
        <p:spPr>
          <a:xfrm>
            <a:off x="4800600" y="1417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e étape 3"/>
          <p:cNvSpPr txBox="1"/>
          <p:nvPr/>
        </p:nvSpPr>
        <p:spPr>
          <a:xfrm>
            <a:off x="4800600" y="2011680"/>
            <a:ext cx="1645920" cy="1143000"/>
          </a:xfrm>
          <a:prstGeom prst="rect">
            <a:avLst/>
          </a:prstGeom>
          <a:noFill/>
          <a:ln/>
        </p:spPr>
        <p:txBody>
          <a:bodyPr wrap="square" lIns="0" tIns="0" rIns="0" bIns="0" rtlCol="0" anchor="t"/>
          <a:lstStyle/>
          <a:p>
            <a:pPr indent="0" marL="0">
              <a:buNone/>
            </a:pPr>
            <a:r>
              <a:rPr lang="en-US" sz="1500" dirty="0">
                <a:solidFill>
                  <a:schemeClr val="tx1"/>
                </a:solidFill>
              </a:rPr>
              <a:t>Un geste ouvre la porte : il sort et mange</a:t>
            </a:r>
            <a:endParaRPr lang="en-US" sz="1500" dirty="0"/>
          </a:p>
        </p:txBody>
      </p:sp>
      <p:sp>
        <p:nvSpPr>
          <p:cNvPr id="15" name="Étape 4"/>
          <p:cNvSpPr/>
          <p:nvPr/>
        </p:nvSpPr>
        <p:spPr>
          <a:xfrm>
            <a:off x="6766560" y="1280160"/>
            <a:ext cx="1920240" cy="1965960"/>
          </a:xfrm>
          <a:prstGeom prst="roundRect">
            <a:avLst>
              <a:gd name="adj" fmla="val 5714"/>
            </a:avLst>
          </a:prstGeom>
          <a:solidFill>
            <a:schemeClr val="bg2"/>
          </a:solidFill>
          <a:ln w="12700">
            <a:solidFill>
              <a:schemeClr val="bg2"/>
            </a:solidFill>
            <a:prstDash val="solid"/>
          </a:ln>
        </p:spPr>
      </p:sp>
      <p:sp>
        <p:nvSpPr>
          <p:cNvPr id="16" name="Numéro étape 4"/>
          <p:cNvSpPr/>
          <p:nvPr/>
        </p:nvSpPr>
        <p:spPr>
          <a:xfrm>
            <a:off x="6903720" y="1417320"/>
            <a:ext cx="457200" cy="457200"/>
          </a:xfrm>
          <a:prstGeom prst="ellipse">
            <a:avLst/>
          </a:prstGeom>
          <a:solidFill>
            <a:schemeClr val="accent3"/>
          </a:solidFill>
          <a:ln w="12700">
            <a:solidFill>
              <a:schemeClr val="accent3"/>
            </a:solidFill>
            <a:prstDash val="solid"/>
          </a:ln>
        </p:spPr>
      </p:sp>
      <p:sp>
        <p:nvSpPr>
          <p:cNvPr id="17" name="Numéro étape 4 texte"/>
          <p:cNvSpPr txBox="1"/>
          <p:nvPr/>
        </p:nvSpPr>
        <p:spPr>
          <a:xfrm>
            <a:off x="6903720" y="14173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e étape 4"/>
          <p:cNvSpPr txBox="1"/>
          <p:nvPr/>
        </p:nvSpPr>
        <p:spPr>
          <a:xfrm>
            <a:off x="6903720" y="2011680"/>
            <a:ext cx="1645920" cy="1143000"/>
          </a:xfrm>
          <a:prstGeom prst="rect">
            <a:avLst/>
          </a:prstGeom>
          <a:noFill/>
          <a:ln/>
        </p:spPr>
        <p:txBody>
          <a:bodyPr wrap="square" lIns="0" tIns="0" rIns="0" bIns="0" rtlCol="0" anchor="t"/>
          <a:lstStyle/>
          <a:p>
            <a:pPr indent="0" marL="0">
              <a:buNone/>
            </a:pPr>
            <a:r>
              <a:rPr lang="en-US" sz="1500" dirty="0">
                <a:solidFill>
                  <a:schemeClr val="tx1"/>
                </a:solidFill>
              </a:rPr>
              <a:t>À chaque essai, il s'échappe plus vite</a:t>
            </a:r>
            <a:endParaRPr lang="en-US" sz="1500" dirty="0"/>
          </a:p>
        </p:txBody>
      </p:sp>
      <p:sp>
        <p:nvSpPr>
          <p:cNvPr id="19" name="Encadré loi"/>
          <p:cNvSpPr/>
          <p:nvPr/>
        </p:nvSpPr>
        <p:spPr>
          <a:xfrm>
            <a:off x="457200" y="3474720"/>
            <a:ext cx="8229600" cy="1143000"/>
          </a:xfrm>
          <a:prstGeom prst="roundRect">
            <a:avLst>
              <a:gd name="adj" fmla="val 9600"/>
            </a:avLst>
          </a:prstGeom>
          <a:solidFill>
            <a:schemeClr val="accent1"/>
          </a:solidFill>
          <a:ln w="12700">
            <a:solidFill>
              <a:schemeClr val="accent1"/>
            </a:solidFill>
            <a:prstDash val="solid"/>
          </a:ln>
        </p:spPr>
      </p:sp>
      <p:sp>
        <p:nvSpPr>
          <p:cNvPr id="20" name="Texte loi"/>
          <p:cNvSpPr txBox="1"/>
          <p:nvPr/>
        </p:nvSpPr>
        <p:spPr>
          <a:xfrm>
            <a:off x="731520" y="3474720"/>
            <a:ext cx="7680960" cy="1143000"/>
          </a:xfrm>
          <a:prstGeom prst="rect">
            <a:avLst/>
          </a:prstGeom>
          <a:noFill/>
          <a:ln/>
        </p:spPr>
        <p:txBody>
          <a:bodyPr wrap="square" lIns="0" tIns="0" rIns="0" bIns="0" rtlCol="0" anchor="ctr"/>
          <a:lstStyle/>
          <a:p>
            <a:pPr indent="0" marL="0">
              <a:buNone/>
            </a:pPr>
            <a:r>
              <a:rPr lang="en-US" sz="1200" b="1" dirty="0">
                <a:solidFill>
                  <a:schemeClr val="tx1"/>
                </a:solidFill>
              </a:rPr>
              <a:t>LOI DE L'EFFET</a:t>
            </a:r>
            <a:endParaRPr lang="en-US" sz="1200" dirty="0"/>
          </a:p>
          <a:p>
            <a:pPr indent="0" marL="0">
              <a:buNone/>
            </a:pPr>
            <a:r>
              <a:rPr lang="en-US" sz="2200" b="1" dirty="0">
                <a:solidFill>
                  <a:schemeClr val="tx1"/>
                </a:solidFill>
              </a:rPr>
              <a:t>Un comportement suivi d'un résultat agréable a plus de chances de se répéter.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1920 : une découverte dans l'armée</a:t>
            </a:r>
            <a:endParaRPr lang="en-US" sz="3200" dirty="0"/>
          </a:p>
        </p:txBody>
      </p:sp>
      <p:sp>
        <p:nvSpPr>
          <p:cNvPr id="3" name="Texte découverte"/>
          <p:cNvSpPr txBox="1"/>
          <p:nvPr/>
        </p:nvSpPr>
        <p:spPr>
          <a:xfrm>
            <a:off x="457200" y="1280160"/>
            <a:ext cx="4023360" cy="338328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chemeClr val="tx1"/>
                </a:solidFill>
              </a:rPr>
              <a:t>Article « A Constant Error in Psychological Ratings » (1920)</a:t>
            </a:r>
            <a:endParaRPr lang="en-US" sz="1600" dirty="0"/>
          </a:p>
          <a:p>
            <a:pPr marL="342900" indent="-342900">
              <a:spcAft>
                <a:spcPts val="700"/>
              </a:spcAft>
              <a:buSzPct val="100000"/>
              <a:buChar char="•"/>
            </a:pPr>
            <a:r>
              <a:rPr lang="en-US" sz="1600" dirty="0">
                <a:solidFill>
                  <a:schemeClr val="tx1"/>
                </a:solidFill>
              </a:rPr>
              <a:t>Des supérieurs notent des officiers américains : physique, intelligence, leadership, qualités personnelles</a:t>
            </a:r>
            <a:endParaRPr lang="en-US" sz="1600" dirty="0"/>
          </a:p>
          <a:p>
            <a:pPr marL="342900" indent="-342900">
              <a:spcAft>
                <a:spcPts val="700"/>
              </a:spcAft>
              <a:buSzPct val="100000"/>
              <a:buChar char="•"/>
            </a:pPr>
            <a:r>
              <a:rPr lang="en-US" sz="1600" dirty="0">
                <a:solidFill>
                  <a:schemeClr val="tx1"/>
                </a:solidFill>
              </a:rPr>
              <a:t>Surprise : les notes se ressemblent trop. Elles sont trop élevées et trop régulières pour être réelles</a:t>
            </a:r>
            <a:endParaRPr lang="en-US" sz="1600" dirty="0"/>
          </a:p>
          <a:p>
            <a:pPr marL="342900" indent="-342900">
              <a:spcAft>
                <a:spcPts val="700"/>
              </a:spcAft>
              <a:buSzPct val="100000"/>
              <a:buChar char="•"/>
            </a:pPr>
            <a:r>
              <a:rPr lang="en-US" sz="1600" dirty="0">
                <a:solidFill>
                  <a:schemeClr val="tx1"/>
                </a:solidFill>
              </a:rPr>
              <a:t>Conclusion : les juges se laissent guider par une impression générale</a:t>
            </a:r>
            <a:endParaRPr lang="en-US" sz="1600" dirty="0"/>
          </a:p>
        </p:txBody>
      </p:sp>
      <p:sp>
        <p:nvSpPr>
          <p:cNvPr id="4" name="Lien Intelligence"/>
          <p:cNvSpPr/>
          <p:nvPr/>
        </p:nvSpPr>
        <p:spPr>
          <a:xfrm>
            <a:off x="5897880" y="3044952"/>
            <a:ext cx="137160" cy="0"/>
          </a:xfrm>
          <a:prstGeom prst="line">
            <a:avLst/>
          </a:prstGeom>
          <a:noFill/>
          <a:ln w="25400">
            <a:solidFill>
              <a:schemeClr val="accent4"/>
            </a:solidFill>
            <a:prstDash val="solid"/>
          </a:ln>
        </p:spPr>
      </p:sp>
      <p:sp>
        <p:nvSpPr>
          <p:cNvPr id="5" name="Qualité Intelligence"/>
          <p:cNvSpPr/>
          <p:nvPr/>
        </p:nvSpPr>
        <p:spPr>
          <a:xfrm>
            <a:off x="4617720" y="2743200"/>
            <a:ext cx="1280160" cy="603504"/>
          </a:xfrm>
          <a:prstGeom prst="roundRect">
            <a:avLst>
              <a:gd name="adj" fmla="val 18182"/>
            </a:avLst>
          </a:prstGeom>
          <a:solidFill>
            <a:schemeClr val="accent3"/>
          </a:solidFill>
          <a:ln w="12700">
            <a:solidFill>
              <a:schemeClr val="accent3"/>
            </a:solidFill>
            <a:prstDash val="solid"/>
          </a:ln>
        </p:spPr>
      </p:sp>
      <p:sp>
        <p:nvSpPr>
          <p:cNvPr id="6" name="Texte Intelligence"/>
          <p:cNvSpPr txBox="1"/>
          <p:nvPr/>
        </p:nvSpPr>
        <p:spPr>
          <a:xfrm>
            <a:off x="4617720" y="2743200"/>
            <a:ext cx="1280160" cy="603504"/>
          </a:xfrm>
          <a:prstGeom prst="rect">
            <a:avLst/>
          </a:prstGeom>
          <a:noFill/>
          <a:ln/>
        </p:spPr>
        <p:txBody>
          <a:bodyPr wrap="square" lIns="0" tIns="0" rIns="0" bIns="0" rtlCol="0" anchor="ctr"/>
          <a:lstStyle/>
          <a:p>
            <a:pPr algn="ctr" indent="0" marL="0">
              <a:buNone/>
            </a:pPr>
            <a:r>
              <a:rPr lang="en-US" sz="1400" b="1" dirty="0">
                <a:solidFill>
                  <a:schemeClr val="bg1"/>
                </a:solidFill>
              </a:rPr>
              <a:t>Intelligence</a:t>
            </a:r>
            <a:endParaRPr lang="en-US" sz="1400" dirty="0"/>
          </a:p>
        </p:txBody>
      </p:sp>
      <p:sp>
        <p:nvSpPr>
          <p:cNvPr id="7" name="Lien Qualités personnelles"/>
          <p:cNvSpPr/>
          <p:nvPr/>
        </p:nvSpPr>
        <p:spPr>
          <a:xfrm>
            <a:off x="7223760" y="3044952"/>
            <a:ext cx="91440" cy="0"/>
          </a:xfrm>
          <a:prstGeom prst="line">
            <a:avLst/>
          </a:prstGeom>
          <a:noFill/>
          <a:ln w="25400">
            <a:solidFill>
              <a:schemeClr val="accent4"/>
            </a:solidFill>
            <a:prstDash val="solid"/>
          </a:ln>
        </p:spPr>
      </p:sp>
      <p:sp>
        <p:nvSpPr>
          <p:cNvPr id="8" name="Qualité Qualités personnelles"/>
          <p:cNvSpPr/>
          <p:nvPr/>
        </p:nvSpPr>
        <p:spPr>
          <a:xfrm>
            <a:off x="7315200" y="2743200"/>
            <a:ext cx="1371600" cy="603504"/>
          </a:xfrm>
          <a:prstGeom prst="roundRect">
            <a:avLst>
              <a:gd name="adj" fmla="val 18182"/>
            </a:avLst>
          </a:prstGeom>
          <a:solidFill>
            <a:schemeClr val="accent3"/>
          </a:solidFill>
          <a:ln w="12700">
            <a:solidFill>
              <a:schemeClr val="accent3"/>
            </a:solidFill>
            <a:prstDash val="solid"/>
          </a:ln>
        </p:spPr>
      </p:sp>
      <p:sp>
        <p:nvSpPr>
          <p:cNvPr id="9" name="Texte Qualités personnelles"/>
          <p:cNvSpPr txBox="1"/>
          <p:nvPr/>
        </p:nvSpPr>
        <p:spPr>
          <a:xfrm>
            <a:off x="7315200" y="2743200"/>
            <a:ext cx="1371600" cy="603504"/>
          </a:xfrm>
          <a:prstGeom prst="rect">
            <a:avLst/>
          </a:prstGeom>
          <a:noFill/>
          <a:ln/>
        </p:spPr>
        <p:txBody>
          <a:bodyPr wrap="square" lIns="0" tIns="0" rIns="0" bIns="0" rtlCol="0" anchor="ctr"/>
          <a:lstStyle/>
          <a:p>
            <a:pPr algn="ctr" indent="0" marL="0">
              <a:buNone/>
            </a:pPr>
            <a:r>
              <a:rPr lang="en-US" sz="1400" b="1" dirty="0">
                <a:solidFill>
                  <a:schemeClr val="bg1"/>
                </a:solidFill>
              </a:rPr>
              <a:t>Qualités</a:t>
            </a:r>
            <a:endParaRPr lang="en-US" sz="1400" dirty="0"/>
          </a:p>
          <a:p>
            <a:pPr algn="ctr" indent="0" marL="0">
              <a:buNone/>
            </a:pPr>
            <a:r>
              <a:rPr lang="en-US" sz="1400" b="1" dirty="0">
                <a:solidFill>
                  <a:schemeClr val="bg1"/>
                </a:solidFill>
              </a:rPr>
              <a:t>personnelles</a:t>
            </a:r>
            <a:endParaRPr lang="en-US" sz="1400" dirty="0"/>
          </a:p>
        </p:txBody>
      </p:sp>
      <p:sp>
        <p:nvSpPr>
          <p:cNvPr id="10" name="Lien Physique"/>
          <p:cNvSpPr/>
          <p:nvPr/>
        </p:nvSpPr>
        <p:spPr>
          <a:xfrm>
            <a:off x="6629400" y="1883664"/>
            <a:ext cx="0" cy="448056"/>
          </a:xfrm>
          <a:prstGeom prst="line">
            <a:avLst/>
          </a:prstGeom>
          <a:noFill/>
          <a:ln w="25400">
            <a:solidFill>
              <a:schemeClr val="accent4"/>
            </a:solidFill>
            <a:prstDash val="solid"/>
          </a:ln>
        </p:spPr>
      </p:sp>
      <p:sp>
        <p:nvSpPr>
          <p:cNvPr id="11" name="Qualité Physique"/>
          <p:cNvSpPr/>
          <p:nvPr/>
        </p:nvSpPr>
        <p:spPr>
          <a:xfrm>
            <a:off x="5989320" y="1280160"/>
            <a:ext cx="1280160" cy="603504"/>
          </a:xfrm>
          <a:prstGeom prst="roundRect">
            <a:avLst>
              <a:gd name="adj" fmla="val 18182"/>
            </a:avLst>
          </a:prstGeom>
          <a:solidFill>
            <a:schemeClr val="accent3"/>
          </a:solidFill>
          <a:ln w="12700">
            <a:solidFill>
              <a:schemeClr val="accent3"/>
            </a:solidFill>
            <a:prstDash val="solid"/>
          </a:ln>
        </p:spPr>
      </p:sp>
      <p:sp>
        <p:nvSpPr>
          <p:cNvPr id="12" name="Texte Physique"/>
          <p:cNvSpPr txBox="1"/>
          <p:nvPr/>
        </p:nvSpPr>
        <p:spPr>
          <a:xfrm>
            <a:off x="5989320" y="1280160"/>
            <a:ext cx="1280160" cy="603504"/>
          </a:xfrm>
          <a:prstGeom prst="rect">
            <a:avLst/>
          </a:prstGeom>
          <a:noFill/>
          <a:ln/>
        </p:spPr>
        <p:txBody>
          <a:bodyPr wrap="square" lIns="0" tIns="0" rIns="0" bIns="0" rtlCol="0" anchor="ctr"/>
          <a:lstStyle/>
          <a:p>
            <a:pPr algn="ctr" indent="0" marL="0">
              <a:buNone/>
            </a:pPr>
            <a:r>
              <a:rPr lang="en-US" sz="1400" b="1" dirty="0">
                <a:solidFill>
                  <a:schemeClr val="bg1"/>
                </a:solidFill>
              </a:rPr>
              <a:t>Physique</a:t>
            </a:r>
            <a:endParaRPr lang="en-US" sz="1400" dirty="0"/>
          </a:p>
        </p:txBody>
      </p:sp>
      <p:sp>
        <p:nvSpPr>
          <p:cNvPr id="13" name="Lien Leadership"/>
          <p:cNvSpPr/>
          <p:nvPr/>
        </p:nvSpPr>
        <p:spPr>
          <a:xfrm>
            <a:off x="6629400" y="3520440"/>
            <a:ext cx="0" cy="502920"/>
          </a:xfrm>
          <a:prstGeom prst="line">
            <a:avLst/>
          </a:prstGeom>
          <a:noFill/>
          <a:ln w="25400">
            <a:solidFill>
              <a:schemeClr val="accent4"/>
            </a:solidFill>
            <a:prstDash val="solid"/>
          </a:ln>
        </p:spPr>
      </p:sp>
      <p:sp>
        <p:nvSpPr>
          <p:cNvPr id="14" name="Qualité Leadership"/>
          <p:cNvSpPr/>
          <p:nvPr/>
        </p:nvSpPr>
        <p:spPr>
          <a:xfrm>
            <a:off x="5989320" y="4023360"/>
            <a:ext cx="1280160" cy="603504"/>
          </a:xfrm>
          <a:prstGeom prst="roundRect">
            <a:avLst>
              <a:gd name="adj" fmla="val 18182"/>
            </a:avLst>
          </a:prstGeom>
          <a:solidFill>
            <a:schemeClr val="accent3"/>
          </a:solidFill>
          <a:ln w="12700">
            <a:solidFill>
              <a:schemeClr val="accent3"/>
            </a:solidFill>
            <a:prstDash val="solid"/>
          </a:ln>
        </p:spPr>
      </p:sp>
      <p:sp>
        <p:nvSpPr>
          <p:cNvPr id="15" name="Texte Leadership"/>
          <p:cNvSpPr txBox="1"/>
          <p:nvPr/>
        </p:nvSpPr>
        <p:spPr>
          <a:xfrm>
            <a:off x="5989320" y="4023360"/>
            <a:ext cx="1280160" cy="603504"/>
          </a:xfrm>
          <a:prstGeom prst="rect">
            <a:avLst/>
          </a:prstGeom>
          <a:noFill/>
          <a:ln/>
        </p:spPr>
        <p:txBody>
          <a:bodyPr wrap="square" lIns="0" tIns="0" rIns="0" bIns="0" rtlCol="0" anchor="ctr"/>
          <a:lstStyle/>
          <a:p>
            <a:pPr algn="ctr" indent="0" marL="0">
              <a:buNone/>
            </a:pPr>
            <a:r>
              <a:rPr lang="en-US" sz="1400" b="1" dirty="0">
                <a:solidFill>
                  <a:schemeClr val="bg1"/>
                </a:solidFill>
              </a:rPr>
              <a:t>Leadership</a:t>
            </a:r>
            <a:endParaRPr lang="en-US" sz="1400" dirty="0"/>
          </a:p>
        </p:txBody>
      </p:sp>
      <p:sp>
        <p:nvSpPr>
          <p:cNvPr id="16" name="Impression générale"/>
          <p:cNvSpPr/>
          <p:nvPr/>
        </p:nvSpPr>
        <p:spPr>
          <a:xfrm>
            <a:off x="6035040" y="2331720"/>
            <a:ext cx="1188720" cy="1188720"/>
          </a:xfrm>
          <a:prstGeom prst="ellipse">
            <a:avLst/>
          </a:prstGeom>
          <a:solidFill>
            <a:schemeClr val="accent1"/>
          </a:solidFill>
          <a:ln w="12700">
            <a:solidFill>
              <a:schemeClr val="accent1"/>
            </a:solidFill>
            <a:prstDash val="solid"/>
          </a:ln>
        </p:spPr>
      </p:sp>
      <p:sp>
        <p:nvSpPr>
          <p:cNvPr id="17" name="Texte impression"/>
          <p:cNvSpPr txBox="1"/>
          <p:nvPr/>
        </p:nvSpPr>
        <p:spPr>
          <a:xfrm>
            <a:off x="6035040" y="2331720"/>
            <a:ext cx="1188720" cy="1188720"/>
          </a:xfrm>
          <a:prstGeom prst="rect">
            <a:avLst/>
          </a:prstGeom>
          <a:noFill/>
          <a:ln/>
        </p:spPr>
        <p:txBody>
          <a:bodyPr wrap="square" lIns="0" tIns="0" rIns="0" bIns="0" rtlCol="0" anchor="ctr"/>
          <a:lstStyle/>
          <a:p>
            <a:pPr algn="ctr" indent="0" marL="0">
              <a:buNone/>
            </a:pPr>
            <a:r>
              <a:rPr lang="en-US" sz="1400" b="1" dirty="0">
                <a:solidFill>
                  <a:schemeClr val="tx1"/>
                </a:solidFill>
              </a:rPr>
              <a:t>Impression</a:t>
            </a:r>
            <a:endParaRPr lang="en-US" sz="1400" dirty="0"/>
          </a:p>
          <a:p>
            <a:pPr algn="ctr" indent="0" marL="0">
              <a:buNone/>
            </a:pPr>
            <a:r>
              <a:rPr lang="en-US" sz="1400" b="1" dirty="0">
                <a:solidFill>
                  <a:schemeClr val="tx1"/>
                </a:solidFill>
              </a:rPr>
              <a:t>générale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bg1"/>
                </a:solidFill>
              </a:rPr>
              <a:t>L'effet de halo : définition</a:t>
            </a:r>
            <a:endParaRPr lang="en-US" sz="3200" dirty="0"/>
          </a:p>
        </p:txBody>
      </p:sp>
      <p:sp>
        <p:nvSpPr>
          <p:cNvPr id="3" name="Définition"/>
          <p:cNvSpPr txBox="1"/>
          <p:nvPr/>
        </p:nvSpPr>
        <p:spPr>
          <a:xfrm>
            <a:off x="457200" y="1325880"/>
            <a:ext cx="4572000" cy="2377440"/>
          </a:xfrm>
          <a:prstGeom prst="rect">
            <a:avLst/>
          </a:prstGeom>
          <a:noFill/>
          <a:ln/>
        </p:spPr>
        <p:txBody>
          <a:bodyPr wrap="square" lIns="0" tIns="0" rIns="0" bIns="0" rtlCol="0" anchor="t"/>
          <a:lstStyle/>
          <a:p>
            <a:pPr indent="0" marL="0">
              <a:buNone/>
            </a:pPr>
            <a:r>
              <a:rPr lang="en-US" sz="2400" b="1" dirty="0">
                <a:solidFill>
                  <a:schemeClr val="accent1"/>
                </a:solidFill>
              </a:rPr>
              <a:t>Un seul trait</a:t>
            </a:r>
            <a:pPr indent="0" marL="0">
              <a:buNone/>
            </a:pPr>
            <a:r>
              <a:rPr lang="en-US" sz="2400" dirty="0">
                <a:solidFill>
                  <a:schemeClr val="bg1"/>
                </a:solidFill>
              </a:rPr>
              <a:t> d'une personne (beauté, sympathie, belle présentation…) </a:t>
            </a:r>
            <a:pPr indent="0" marL="0">
              <a:buNone/>
            </a:pPr>
            <a:r>
              <a:rPr lang="en-US" sz="2400" b="1" dirty="0">
                <a:solidFill>
                  <a:schemeClr val="accent1"/>
                </a:solidFill>
              </a:rPr>
              <a:t>colore le jugement</a:t>
            </a:r>
            <a:pPr indent="0" marL="0">
              <a:buNone/>
            </a:pPr>
            <a:r>
              <a:rPr lang="en-US" sz="2400" dirty="0">
                <a:solidFill>
                  <a:schemeClr val="bg1"/>
                </a:solidFill>
              </a:rPr>
              <a:t> que l'on porte sur </a:t>
            </a:r>
            <a:pPr indent="0" marL="0">
              <a:buNone/>
            </a:pPr>
            <a:r>
              <a:rPr lang="en-US" sz="2400" b="1" dirty="0">
                <a:solidFill>
                  <a:schemeClr val="accent1"/>
                </a:solidFill>
              </a:rPr>
              <a:t>tous ses autres traits.</a:t>
            </a:r>
            <a:endParaRPr lang="en-US" sz="2400" dirty="0"/>
          </a:p>
        </p:txBody>
      </p:sp>
      <p:sp>
        <p:nvSpPr>
          <p:cNvPr id="4" name="Origine du mot"/>
          <p:cNvSpPr txBox="1"/>
          <p:nvPr/>
        </p:nvSpPr>
        <p:spPr>
          <a:xfrm>
            <a:off x="457200" y="3840480"/>
            <a:ext cx="4572000" cy="731520"/>
          </a:xfrm>
          <a:prstGeom prst="rect">
            <a:avLst/>
          </a:prstGeom>
          <a:noFill/>
          <a:ln/>
        </p:spPr>
        <p:txBody>
          <a:bodyPr wrap="square" lIns="0" tIns="0" rIns="0" bIns="0" rtlCol="0" anchor="t"/>
          <a:lstStyle/>
          <a:p>
            <a:pPr indent="0" marL="0">
              <a:buNone/>
            </a:pPr>
            <a:r>
              <a:rPr lang="en-US" sz="1400" i="1" dirty="0">
                <a:solidFill>
                  <a:schemeClr val="accent6"/>
                </a:solidFill>
              </a:rPr>
              <a:t>Halo = l'auréole des saints dans la peinture : une lumière qui fait paraître la personne parfaite.</a:t>
            </a:r>
            <a:endParaRPr lang="en-US" sz="1400" dirty="0"/>
          </a:p>
        </p:txBody>
      </p:sp>
      <p:sp>
        <p:nvSpPr>
          <p:cNvPr id="5" name="Carte positive"/>
          <p:cNvSpPr/>
          <p:nvPr/>
        </p:nvSpPr>
        <p:spPr>
          <a:xfrm>
            <a:off x="5349240" y="1325880"/>
            <a:ext cx="3337560" cy="1463040"/>
          </a:xfrm>
          <a:prstGeom prst="roundRect">
            <a:avLst>
              <a:gd name="adj" fmla="val 7500"/>
            </a:avLst>
          </a:prstGeom>
          <a:solidFill>
            <a:schemeClr val="accent1"/>
          </a:solidFill>
          <a:ln w="12700">
            <a:solidFill>
              <a:schemeClr val="accent1"/>
            </a:solidFill>
            <a:prstDash val="solid"/>
          </a:ln>
        </p:spPr>
      </p:sp>
      <p:sp>
        <p:nvSpPr>
          <p:cNvPr id="6" name="Texte positif"/>
          <p:cNvSpPr txBox="1"/>
          <p:nvPr/>
        </p:nvSpPr>
        <p:spPr>
          <a:xfrm>
            <a:off x="5532120" y="1325880"/>
            <a:ext cx="2971800" cy="1463040"/>
          </a:xfrm>
          <a:prstGeom prst="rect">
            <a:avLst/>
          </a:prstGeom>
          <a:noFill/>
          <a:ln/>
        </p:spPr>
        <p:txBody>
          <a:bodyPr wrap="square" lIns="0" tIns="0" rIns="0" bIns="0" rtlCol="0" anchor="ctr"/>
          <a:lstStyle/>
          <a:p>
            <a:pPr indent="0" marL="0">
              <a:buNone/>
            </a:pPr>
            <a:r>
              <a:rPr lang="en-US" sz="1700" b="1" dirty="0">
                <a:solidFill>
                  <a:schemeClr val="tx1"/>
                </a:solidFill>
              </a:rPr>
              <a:t>Effet de halo positif</a:t>
            </a:r>
            <a:endParaRPr lang="en-US" sz="1700" dirty="0"/>
          </a:p>
          <a:p>
            <a:pPr indent="0" marL="0">
              <a:buNone/>
            </a:pPr>
            <a:r>
              <a:rPr lang="en-US" sz="1400" dirty="0">
                <a:solidFill>
                  <a:schemeClr val="tx1"/>
                </a:solidFill>
              </a:rPr>
              <a:t>« Il est beau, donc il doit être intelligent, honnête et compétent. »</a:t>
            </a:r>
            <a:endParaRPr lang="en-US" sz="1700" dirty="0"/>
          </a:p>
        </p:txBody>
      </p:sp>
      <p:sp>
        <p:nvSpPr>
          <p:cNvPr id="7" name="Carte négative"/>
          <p:cNvSpPr/>
          <p:nvPr/>
        </p:nvSpPr>
        <p:spPr>
          <a:xfrm>
            <a:off x="5349240" y="3017520"/>
            <a:ext cx="3337560" cy="1463040"/>
          </a:xfrm>
          <a:prstGeom prst="roundRect">
            <a:avLst>
              <a:gd name="adj" fmla="val 7500"/>
            </a:avLst>
          </a:prstGeom>
          <a:solidFill>
            <a:schemeClr val="accent2"/>
          </a:solidFill>
          <a:ln w="12700">
            <a:solidFill>
              <a:schemeClr val="accent2"/>
            </a:solidFill>
            <a:prstDash val="solid"/>
          </a:ln>
        </p:spPr>
      </p:sp>
      <p:sp>
        <p:nvSpPr>
          <p:cNvPr id="8" name="Texte négatif"/>
          <p:cNvSpPr txBox="1"/>
          <p:nvPr/>
        </p:nvSpPr>
        <p:spPr>
          <a:xfrm>
            <a:off x="5532120" y="3017520"/>
            <a:ext cx="2971800" cy="1463040"/>
          </a:xfrm>
          <a:prstGeom prst="rect">
            <a:avLst/>
          </a:prstGeom>
          <a:noFill/>
          <a:ln/>
        </p:spPr>
        <p:txBody>
          <a:bodyPr wrap="square" lIns="0" tIns="0" rIns="0" bIns="0" rtlCol="0" anchor="ctr"/>
          <a:lstStyle/>
          <a:p>
            <a:pPr indent="0" marL="0">
              <a:buNone/>
            </a:pPr>
            <a:r>
              <a:rPr lang="en-US" sz="1700" b="1" dirty="0">
                <a:solidFill>
                  <a:schemeClr val="bg1"/>
                </a:solidFill>
              </a:rPr>
              <a:t>L'effet inverse</a:t>
            </a:r>
            <a:endParaRPr lang="en-US" sz="1700" dirty="0"/>
          </a:p>
          <a:p>
            <a:pPr indent="0" marL="0">
              <a:buNone/>
            </a:pPr>
            <a:r>
              <a:rPr lang="en-US" sz="1400" dirty="0">
                <a:solidFill>
                  <a:schemeClr val="bg1"/>
                </a:solidFill>
              </a:rPr>
              <a:t>Un défaut qui se voit, et tout le reste est jugé plus sévèrement.</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L'exemple : Nisbett et Wilson, 1977</a:t>
            </a:r>
            <a:endParaRPr lang="en-US" sz="3200" dirty="0"/>
          </a:p>
        </p:txBody>
      </p:sp>
      <p:sp>
        <p:nvSpPr>
          <p:cNvPr id="3" name="Écran Vidéo A"/>
          <p:cNvSpPr/>
          <p:nvPr/>
        </p:nvSpPr>
        <p:spPr>
          <a:xfrm>
            <a:off x="457200" y="1325880"/>
            <a:ext cx="2057400" cy="1691640"/>
          </a:xfrm>
          <a:prstGeom prst="roundRect">
            <a:avLst>
              <a:gd name="adj" fmla="val 6486"/>
            </a:avLst>
          </a:prstGeom>
          <a:solidFill>
            <a:schemeClr val="accent6"/>
          </a:solidFill>
          <a:ln w="12700">
            <a:solidFill>
              <a:schemeClr val="accent6"/>
            </a:solidFill>
            <a:prstDash val="solid"/>
          </a:ln>
        </p:spPr>
      </p:sp>
      <p:sp>
        <p:nvSpPr>
          <p:cNvPr id="4" name="Titre Vidéo A"/>
          <p:cNvSpPr txBox="1"/>
          <p:nvPr/>
        </p:nvSpPr>
        <p:spPr>
          <a:xfrm>
            <a:off x="594360" y="1417320"/>
            <a:ext cx="1737360" cy="274320"/>
          </a:xfrm>
          <a:prstGeom prst="rect">
            <a:avLst/>
          </a:prstGeom>
          <a:noFill/>
          <a:ln/>
        </p:spPr>
        <p:txBody>
          <a:bodyPr wrap="square" lIns="0" tIns="0" rIns="0" bIns="0" rtlCol="0" anchor="ctr"/>
          <a:lstStyle/>
          <a:p>
            <a:pPr indent="0" marL="0">
              <a:buNone/>
            </a:pPr>
            <a:r>
              <a:rPr lang="en-US" sz="1400" b="1" dirty="0">
                <a:solidFill>
                  <a:schemeClr val="tx1"/>
                </a:solidFill>
              </a:rPr>
              <a:t>Vidéo A</a:t>
            </a:r>
            <a:endParaRPr lang="en-US" sz="1400" dirty="0"/>
          </a:p>
        </p:txBody>
      </p:sp>
      <p:sp>
        <p:nvSpPr>
          <p:cNvPr id="5" name="Professeur Vidéo A corps"/>
          <p:cNvSpPr/>
          <p:nvPr/>
        </p:nvSpPr>
        <p:spPr>
          <a:xfrm>
            <a:off x="1112825" y="2261311"/>
            <a:ext cx="737006" cy="534924"/>
          </a:xfrm>
          <a:prstGeom prst="roundRect">
            <a:avLst>
              <a:gd name="adj" fmla="val 38889"/>
            </a:avLst>
          </a:prstGeom>
          <a:solidFill>
            <a:schemeClr val="accent3"/>
          </a:solidFill>
          <a:ln w="12700">
            <a:solidFill>
              <a:schemeClr val="accent3"/>
            </a:solidFill>
            <a:prstDash val="solid"/>
          </a:ln>
        </p:spPr>
      </p:sp>
      <p:sp>
        <p:nvSpPr>
          <p:cNvPr id="6" name="Professeur Vidéo A tête"/>
          <p:cNvSpPr/>
          <p:nvPr/>
        </p:nvSpPr>
        <p:spPr>
          <a:xfrm>
            <a:off x="1279246" y="1809598"/>
            <a:ext cx="404165" cy="404165"/>
          </a:xfrm>
          <a:prstGeom prst="ellipse">
            <a:avLst/>
          </a:prstGeom>
          <a:solidFill>
            <a:schemeClr val="bg2"/>
          </a:solidFill>
          <a:ln w="12700">
            <a:solidFill>
              <a:schemeClr val="bg2"/>
            </a:solidFill>
            <a:prstDash val="solid"/>
          </a:ln>
        </p:spPr>
      </p:sp>
      <p:sp>
        <p:nvSpPr>
          <p:cNvPr id="7" name="Légende Vidéo A"/>
          <p:cNvSpPr txBox="1"/>
          <p:nvPr/>
        </p:nvSpPr>
        <p:spPr>
          <a:xfrm>
            <a:off x="457200" y="3072384"/>
            <a:ext cx="2057400" cy="457200"/>
          </a:xfrm>
          <a:prstGeom prst="rect">
            <a:avLst/>
          </a:prstGeom>
          <a:noFill/>
          <a:ln/>
        </p:spPr>
        <p:txBody>
          <a:bodyPr wrap="square" lIns="0" tIns="0" rIns="0" bIns="0" rtlCol="0" anchor="ctr"/>
          <a:lstStyle/>
          <a:p>
            <a:pPr algn="ctr" indent="0" marL="0">
              <a:buNone/>
            </a:pPr>
            <a:r>
              <a:rPr lang="en-US" sz="1500" b="1" dirty="0">
                <a:solidFill>
                  <a:schemeClr val="tx1"/>
                </a:solidFill>
              </a:rPr>
              <a:t>chaleureux, sympathique</a:t>
            </a:r>
            <a:endParaRPr lang="en-US" sz="1500" dirty="0"/>
          </a:p>
        </p:txBody>
      </p:sp>
      <p:sp>
        <p:nvSpPr>
          <p:cNvPr id="8" name="Écran Vidéo B"/>
          <p:cNvSpPr/>
          <p:nvPr/>
        </p:nvSpPr>
        <p:spPr>
          <a:xfrm>
            <a:off x="2697480" y="1325880"/>
            <a:ext cx="2057400" cy="1691640"/>
          </a:xfrm>
          <a:prstGeom prst="roundRect">
            <a:avLst>
              <a:gd name="adj" fmla="val 6486"/>
            </a:avLst>
          </a:prstGeom>
          <a:solidFill>
            <a:schemeClr val="accent4"/>
          </a:solidFill>
          <a:ln w="12700">
            <a:solidFill>
              <a:schemeClr val="accent4"/>
            </a:solidFill>
            <a:prstDash val="solid"/>
          </a:ln>
        </p:spPr>
      </p:sp>
      <p:sp>
        <p:nvSpPr>
          <p:cNvPr id="9" name="Titre Vidéo B"/>
          <p:cNvSpPr txBox="1"/>
          <p:nvPr/>
        </p:nvSpPr>
        <p:spPr>
          <a:xfrm>
            <a:off x="2834640" y="1417320"/>
            <a:ext cx="1737360" cy="274320"/>
          </a:xfrm>
          <a:prstGeom prst="rect">
            <a:avLst/>
          </a:prstGeom>
          <a:noFill/>
          <a:ln/>
        </p:spPr>
        <p:txBody>
          <a:bodyPr wrap="square" lIns="0" tIns="0" rIns="0" bIns="0" rtlCol="0" anchor="ctr"/>
          <a:lstStyle/>
          <a:p>
            <a:pPr indent="0" marL="0">
              <a:buNone/>
            </a:pPr>
            <a:r>
              <a:rPr lang="en-US" sz="1400" b="1" dirty="0">
                <a:solidFill>
                  <a:schemeClr val="bg1"/>
                </a:solidFill>
              </a:rPr>
              <a:t>Vidéo B</a:t>
            </a:r>
            <a:endParaRPr lang="en-US" sz="1400" dirty="0"/>
          </a:p>
        </p:txBody>
      </p:sp>
      <p:sp>
        <p:nvSpPr>
          <p:cNvPr id="10" name="Professeur Vidéo B corps"/>
          <p:cNvSpPr/>
          <p:nvPr/>
        </p:nvSpPr>
        <p:spPr>
          <a:xfrm>
            <a:off x="3353105" y="2261311"/>
            <a:ext cx="737006" cy="534924"/>
          </a:xfrm>
          <a:prstGeom prst="roundRect">
            <a:avLst>
              <a:gd name="adj" fmla="val 38889"/>
            </a:avLst>
          </a:prstGeom>
          <a:solidFill>
            <a:schemeClr val="tx2"/>
          </a:solidFill>
          <a:ln w="12700">
            <a:solidFill>
              <a:schemeClr val="tx2"/>
            </a:solidFill>
            <a:prstDash val="solid"/>
          </a:ln>
        </p:spPr>
      </p:sp>
      <p:sp>
        <p:nvSpPr>
          <p:cNvPr id="11" name="Professeur Vidéo B tête"/>
          <p:cNvSpPr/>
          <p:nvPr/>
        </p:nvSpPr>
        <p:spPr>
          <a:xfrm>
            <a:off x="3519526" y="1809598"/>
            <a:ext cx="404165" cy="404165"/>
          </a:xfrm>
          <a:prstGeom prst="ellipse">
            <a:avLst/>
          </a:prstGeom>
          <a:solidFill>
            <a:schemeClr val="bg2"/>
          </a:solidFill>
          <a:ln w="12700">
            <a:solidFill>
              <a:schemeClr val="bg2"/>
            </a:solidFill>
            <a:prstDash val="solid"/>
          </a:ln>
        </p:spPr>
      </p:sp>
      <p:sp>
        <p:nvSpPr>
          <p:cNvPr id="12" name="Légende Vidéo B"/>
          <p:cNvSpPr txBox="1"/>
          <p:nvPr/>
        </p:nvSpPr>
        <p:spPr>
          <a:xfrm>
            <a:off x="2697480" y="3072384"/>
            <a:ext cx="2057400" cy="457200"/>
          </a:xfrm>
          <a:prstGeom prst="rect">
            <a:avLst/>
          </a:prstGeom>
          <a:noFill/>
          <a:ln/>
        </p:spPr>
        <p:txBody>
          <a:bodyPr wrap="square" lIns="0" tIns="0" rIns="0" bIns="0" rtlCol="0" anchor="ctr"/>
          <a:lstStyle/>
          <a:p>
            <a:pPr algn="ctr" indent="0" marL="0">
              <a:buNone/>
            </a:pPr>
            <a:r>
              <a:rPr lang="en-US" sz="1500" b="1" dirty="0">
                <a:solidFill>
                  <a:schemeClr val="tx1"/>
                </a:solidFill>
              </a:rPr>
              <a:t>froid, distant</a:t>
            </a:r>
            <a:endParaRPr lang="en-US" sz="1500" dirty="0"/>
          </a:p>
        </p:txBody>
      </p:sp>
      <p:sp>
        <p:nvSpPr>
          <p:cNvPr id="13" name="Même professeur"/>
          <p:cNvSpPr txBox="1"/>
          <p:nvPr/>
        </p:nvSpPr>
        <p:spPr>
          <a:xfrm>
            <a:off x="457200" y="3547872"/>
            <a:ext cx="4297680" cy="411480"/>
          </a:xfrm>
          <a:prstGeom prst="rect">
            <a:avLst/>
          </a:prstGeom>
          <a:noFill/>
          <a:ln/>
        </p:spPr>
        <p:txBody>
          <a:bodyPr wrap="square" lIns="0" tIns="0" rIns="0" bIns="0" rtlCol="0" anchor="ctr"/>
          <a:lstStyle/>
          <a:p>
            <a:pPr algn="ctr" indent="0" marL="0">
              <a:buNone/>
            </a:pPr>
            <a:r>
              <a:rPr lang="en-US" sz="1400" i="1" dirty="0">
                <a:solidFill>
                  <a:schemeClr val="accent3"/>
                </a:solidFill>
              </a:rPr>
              <a:t>Le même professeur, le même accent européen</a:t>
            </a:r>
            <a:endParaRPr lang="en-US" sz="1400" dirty="0"/>
          </a:p>
        </p:txBody>
      </p:sp>
      <p:sp>
        <p:nvSpPr>
          <p:cNvPr id="14" name="Numéro 1"/>
          <p:cNvSpPr/>
          <p:nvPr/>
        </p:nvSpPr>
        <p:spPr>
          <a:xfrm>
            <a:off x="5029200" y="1435608"/>
            <a:ext cx="475488" cy="475488"/>
          </a:xfrm>
          <a:prstGeom prst="ellipse">
            <a:avLst/>
          </a:prstGeom>
          <a:solidFill>
            <a:schemeClr val="accent3"/>
          </a:solidFill>
          <a:ln w="12700">
            <a:solidFill>
              <a:schemeClr val="accent3"/>
            </a:solidFill>
            <a:prstDash val="solid"/>
          </a:ln>
        </p:spPr>
      </p:sp>
      <p:sp>
        <p:nvSpPr>
          <p:cNvPr id="15" name="Numéro 1 texte"/>
          <p:cNvSpPr txBox="1"/>
          <p:nvPr/>
        </p:nvSpPr>
        <p:spPr>
          <a:xfrm>
            <a:off x="5029200" y="143560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6" name="Texte 1"/>
          <p:cNvSpPr txBox="1"/>
          <p:nvPr/>
        </p:nvSpPr>
        <p:spPr>
          <a:xfrm>
            <a:off x="5669280" y="1325880"/>
            <a:ext cx="3017520" cy="713232"/>
          </a:xfrm>
          <a:prstGeom prst="rect">
            <a:avLst/>
          </a:prstGeom>
          <a:noFill/>
          <a:ln/>
        </p:spPr>
        <p:txBody>
          <a:bodyPr wrap="square" lIns="0" tIns="0" rIns="0" bIns="0" rtlCol="0" anchor="ctr"/>
          <a:lstStyle/>
          <a:p>
            <a:pPr indent="0" marL="0">
              <a:buNone/>
            </a:pPr>
            <a:r>
              <a:rPr lang="en-US" sz="1600" dirty="0">
                <a:solidFill>
                  <a:schemeClr val="tx1"/>
                </a:solidFill>
              </a:rPr>
              <a:t>118 étudiants de l'université du Michigan</a:t>
            </a:r>
            <a:endParaRPr lang="en-US" sz="1600" dirty="0"/>
          </a:p>
        </p:txBody>
      </p:sp>
      <p:sp>
        <p:nvSpPr>
          <p:cNvPr id="17" name="Numéro 2"/>
          <p:cNvSpPr/>
          <p:nvPr/>
        </p:nvSpPr>
        <p:spPr>
          <a:xfrm>
            <a:off x="5029200" y="2304288"/>
            <a:ext cx="475488" cy="475488"/>
          </a:xfrm>
          <a:prstGeom prst="ellipse">
            <a:avLst/>
          </a:prstGeom>
          <a:solidFill>
            <a:schemeClr val="accent3"/>
          </a:solidFill>
          <a:ln w="12700">
            <a:solidFill>
              <a:schemeClr val="accent3"/>
            </a:solidFill>
            <a:prstDash val="solid"/>
          </a:ln>
        </p:spPr>
      </p:sp>
      <p:sp>
        <p:nvSpPr>
          <p:cNvPr id="18" name="Numéro 2 texte"/>
          <p:cNvSpPr txBox="1"/>
          <p:nvPr/>
        </p:nvSpPr>
        <p:spPr>
          <a:xfrm>
            <a:off x="5029200" y="230428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9" name="Texte 2"/>
          <p:cNvSpPr txBox="1"/>
          <p:nvPr/>
        </p:nvSpPr>
        <p:spPr>
          <a:xfrm>
            <a:off x="5669280" y="2194560"/>
            <a:ext cx="3017520" cy="713232"/>
          </a:xfrm>
          <a:prstGeom prst="rect">
            <a:avLst/>
          </a:prstGeom>
          <a:noFill/>
          <a:ln/>
        </p:spPr>
        <p:txBody>
          <a:bodyPr wrap="square" lIns="0" tIns="0" rIns="0" bIns="0" rtlCol="0" anchor="ctr"/>
          <a:lstStyle/>
          <a:p>
            <a:pPr indent="0" marL="0">
              <a:buNone/>
            </a:pPr>
            <a:r>
              <a:rPr lang="en-US" sz="1600" dirty="0">
                <a:solidFill>
                  <a:schemeClr val="tx1"/>
                </a:solidFill>
              </a:rPr>
              <a:t>Chacun regarde l'une des deux vidéos</a:t>
            </a:r>
            <a:endParaRPr lang="en-US" sz="1600" dirty="0"/>
          </a:p>
        </p:txBody>
      </p:sp>
      <p:sp>
        <p:nvSpPr>
          <p:cNvPr id="20" name="Numéro 3"/>
          <p:cNvSpPr/>
          <p:nvPr/>
        </p:nvSpPr>
        <p:spPr>
          <a:xfrm>
            <a:off x="5029200" y="3172968"/>
            <a:ext cx="475488" cy="475488"/>
          </a:xfrm>
          <a:prstGeom prst="ellipse">
            <a:avLst/>
          </a:prstGeom>
          <a:solidFill>
            <a:schemeClr val="accent3"/>
          </a:solidFill>
          <a:ln w="12700">
            <a:solidFill>
              <a:schemeClr val="accent3"/>
            </a:solidFill>
            <a:prstDash val="solid"/>
          </a:ln>
        </p:spPr>
      </p:sp>
      <p:sp>
        <p:nvSpPr>
          <p:cNvPr id="21" name="Numéro 3 texte"/>
          <p:cNvSpPr txBox="1"/>
          <p:nvPr/>
        </p:nvSpPr>
        <p:spPr>
          <a:xfrm>
            <a:off x="5029200" y="3172968"/>
            <a:ext cx="475488" cy="47548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Texte 3"/>
          <p:cNvSpPr txBox="1"/>
          <p:nvPr/>
        </p:nvSpPr>
        <p:spPr>
          <a:xfrm>
            <a:off x="5669280" y="3063240"/>
            <a:ext cx="3017520" cy="713232"/>
          </a:xfrm>
          <a:prstGeom prst="rect">
            <a:avLst/>
          </a:prstGeom>
          <a:noFill/>
          <a:ln/>
        </p:spPr>
        <p:txBody>
          <a:bodyPr wrap="square" lIns="0" tIns="0" rIns="0" bIns="0" rtlCol="0" anchor="ctr"/>
          <a:lstStyle/>
          <a:p>
            <a:pPr indent="0" marL="0">
              <a:buNone/>
            </a:pPr>
            <a:r>
              <a:rPr lang="en-US" sz="1600" dirty="0">
                <a:solidFill>
                  <a:schemeClr val="tx1"/>
                </a:solidFill>
              </a:rPr>
              <a:t>Ils notent son apparence, ses manières et son accent</a:t>
            </a:r>
            <a:endParaRPr lang="en-US" sz="1600" dirty="0"/>
          </a:p>
        </p:txBody>
      </p:sp>
      <p:sp>
        <p:nvSpPr>
          <p:cNvPr id="23" name="Question"/>
          <p:cNvSpPr/>
          <p:nvPr/>
        </p:nvSpPr>
        <p:spPr>
          <a:xfrm>
            <a:off x="457200" y="4023360"/>
            <a:ext cx="8229600" cy="566928"/>
          </a:xfrm>
          <a:prstGeom prst="roundRect">
            <a:avLst>
              <a:gd name="adj" fmla="val 19355"/>
            </a:avLst>
          </a:prstGeom>
          <a:solidFill>
            <a:schemeClr val="bg2"/>
          </a:solidFill>
          <a:ln w="12700">
            <a:solidFill>
              <a:schemeClr val="bg2"/>
            </a:solidFill>
            <a:prstDash val="solid"/>
          </a:ln>
        </p:spPr>
      </p:sp>
      <p:sp>
        <p:nvSpPr>
          <p:cNvPr id="24" name="Texte question"/>
          <p:cNvSpPr txBox="1"/>
          <p:nvPr/>
        </p:nvSpPr>
        <p:spPr>
          <a:xfrm>
            <a:off x="640080" y="4023360"/>
            <a:ext cx="7863840" cy="566928"/>
          </a:xfrm>
          <a:prstGeom prst="rect">
            <a:avLst/>
          </a:prstGeom>
          <a:noFill/>
          <a:ln/>
        </p:spPr>
        <p:txBody>
          <a:bodyPr wrap="square" lIns="0" tIns="0" rIns="0" bIns="0" rtlCol="0" anchor="ctr"/>
          <a:lstStyle/>
          <a:p>
            <a:pPr algn="ctr" indent="0" marL="0">
              <a:buNone/>
            </a:pPr>
            <a:r>
              <a:rPr lang="en-US" sz="2000" b="1" dirty="0">
                <a:solidFill>
                  <a:schemeClr val="tx1"/>
                </a:solidFill>
              </a:rPr>
              <a:t>Vont-ils le juger pareil dans les deux vidéos ?</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Résultats : deux jugements opposés</a:t>
            </a:r>
            <a:endParaRPr lang="en-US" sz="3200" dirty="0"/>
          </a:p>
        </p:txBody>
      </p:sp>
      <p:sp>
        <p:nvSpPr>
          <p:cNvPr id="3" name="Carte Professeur chaleureux"/>
          <p:cNvSpPr/>
          <p:nvPr/>
        </p:nvSpPr>
        <p:spPr>
          <a:xfrm>
            <a:off x="457200" y="1280160"/>
            <a:ext cx="4023360" cy="2331720"/>
          </a:xfrm>
          <a:prstGeom prst="roundRect">
            <a:avLst>
              <a:gd name="adj" fmla="val 4706"/>
            </a:avLst>
          </a:prstGeom>
          <a:solidFill>
            <a:schemeClr val="accent6"/>
          </a:solidFill>
          <a:ln w="12700">
            <a:solidFill>
              <a:schemeClr val="accent6"/>
            </a:solidFill>
            <a:prstDash val="solid"/>
          </a:ln>
        </p:spPr>
      </p:sp>
      <p:sp>
        <p:nvSpPr>
          <p:cNvPr id="4" name="Signe Professeur chaleureux"/>
          <p:cNvSpPr/>
          <p:nvPr/>
        </p:nvSpPr>
        <p:spPr>
          <a:xfrm>
            <a:off x="640080" y="1417320"/>
            <a:ext cx="548640" cy="548640"/>
          </a:xfrm>
          <a:prstGeom prst="ellipse">
            <a:avLst/>
          </a:prstGeom>
          <a:solidFill>
            <a:schemeClr val="accent1"/>
          </a:solidFill>
          <a:ln w="12700">
            <a:solidFill>
              <a:schemeClr val="accent1"/>
            </a:solidFill>
            <a:prstDash val="solid"/>
          </a:ln>
        </p:spPr>
      </p:sp>
      <p:sp>
        <p:nvSpPr>
          <p:cNvPr id="5" name="Signe Professeur chaleureux texte"/>
          <p:cNvSpPr txBox="1"/>
          <p:nvPr/>
        </p:nvSpPr>
        <p:spPr>
          <a:xfrm>
            <a:off x="640080" y="1417320"/>
            <a:ext cx="548640" cy="548640"/>
          </a:xfrm>
          <a:prstGeom prst="rect">
            <a:avLst/>
          </a:prstGeom>
          <a:noFill/>
          <a:ln/>
        </p:spPr>
        <p:txBody>
          <a:bodyPr wrap="square" lIns="0" tIns="0" rIns="0" bIns="0" rtlCol="0" anchor="ctr"/>
          <a:lstStyle/>
          <a:p>
            <a:pPr algn="ctr" indent="0" marL="0">
              <a:buNone/>
            </a:pPr>
            <a:r>
              <a:rPr lang="en-US" sz="2600" b="1" dirty="0">
                <a:solidFill>
                  <a:schemeClr val="tx1"/>
                </a:solidFill>
              </a:rPr>
              <a:t>+</a:t>
            </a:r>
            <a:endParaRPr lang="en-US" sz="2600" dirty="0"/>
          </a:p>
        </p:txBody>
      </p:sp>
      <p:sp>
        <p:nvSpPr>
          <p:cNvPr id="6" name="Titre Professeur chaleureux"/>
          <p:cNvSpPr txBox="1"/>
          <p:nvPr/>
        </p:nvSpPr>
        <p:spPr>
          <a:xfrm>
            <a:off x="1325880" y="1417320"/>
            <a:ext cx="3017520" cy="548640"/>
          </a:xfrm>
          <a:prstGeom prst="rect">
            <a:avLst/>
          </a:prstGeom>
          <a:noFill/>
          <a:ln/>
        </p:spPr>
        <p:txBody>
          <a:bodyPr wrap="square" lIns="0" tIns="0" rIns="0" bIns="0" rtlCol="0" anchor="ctr"/>
          <a:lstStyle/>
          <a:p>
            <a:pPr indent="0" marL="0">
              <a:buNone/>
            </a:pPr>
            <a:r>
              <a:rPr lang="en-US" sz="1900" b="1" dirty="0">
                <a:solidFill>
                  <a:schemeClr val="tx1"/>
                </a:solidFill>
              </a:rPr>
              <a:t>Professeur chaleureux</a:t>
            </a:r>
            <a:endParaRPr lang="en-US" sz="1900" dirty="0"/>
          </a:p>
        </p:txBody>
      </p:sp>
      <p:sp>
        <p:nvSpPr>
          <p:cNvPr id="7" name="Résultats Professeur chaleureux"/>
          <p:cNvSpPr txBox="1"/>
          <p:nvPr/>
        </p:nvSpPr>
        <p:spPr>
          <a:xfrm>
            <a:off x="731520" y="2148840"/>
            <a:ext cx="3566160" cy="137160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chemeClr val="tx1"/>
                </a:solidFill>
              </a:rPr>
              <a:t>Apparence : attirante</a:t>
            </a:r>
            <a:endParaRPr lang="en-US" sz="1800" dirty="0"/>
          </a:p>
          <a:p>
            <a:pPr marL="342900" indent="-342900">
              <a:spcAft>
                <a:spcPts val="900"/>
              </a:spcAft>
              <a:buSzPct val="100000"/>
              <a:buChar char="•"/>
            </a:pPr>
            <a:r>
              <a:rPr lang="en-US" sz="1800" dirty="0">
                <a:solidFill>
                  <a:schemeClr val="tx1"/>
                </a:solidFill>
              </a:rPr>
              <a:t>Manières : agréables</a:t>
            </a:r>
            <a:endParaRPr lang="en-US" sz="1800" dirty="0"/>
          </a:p>
          <a:p>
            <a:pPr marL="342900" indent="-342900">
              <a:spcAft>
                <a:spcPts val="900"/>
              </a:spcAft>
              <a:buSzPct val="100000"/>
              <a:buChar char="•"/>
            </a:pPr>
            <a:r>
              <a:rPr lang="en-US" sz="1800" dirty="0">
                <a:solidFill>
                  <a:schemeClr val="tx1"/>
                </a:solidFill>
              </a:rPr>
              <a:t>Accent : agréable</a:t>
            </a:r>
            <a:endParaRPr lang="en-US" sz="1800" dirty="0"/>
          </a:p>
        </p:txBody>
      </p:sp>
      <p:sp>
        <p:nvSpPr>
          <p:cNvPr id="8" name="Carte Professeur froid"/>
          <p:cNvSpPr/>
          <p:nvPr/>
        </p:nvSpPr>
        <p:spPr>
          <a:xfrm>
            <a:off x="4663440" y="1280160"/>
            <a:ext cx="4023360" cy="2331720"/>
          </a:xfrm>
          <a:prstGeom prst="roundRect">
            <a:avLst>
              <a:gd name="adj" fmla="val 4706"/>
            </a:avLst>
          </a:prstGeom>
          <a:solidFill>
            <a:schemeClr val="bg2"/>
          </a:solidFill>
          <a:ln w="12700">
            <a:solidFill>
              <a:schemeClr val="bg2"/>
            </a:solidFill>
            <a:prstDash val="solid"/>
          </a:ln>
        </p:spPr>
      </p:sp>
      <p:sp>
        <p:nvSpPr>
          <p:cNvPr id="9" name="Signe Professeur froid"/>
          <p:cNvSpPr/>
          <p:nvPr/>
        </p:nvSpPr>
        <p:spPr>
          <a:xfrm>
            <a:off x="4846320" y="1417320"/>
            <a:ext cx="548640" cy="548640"/>
          </a:xfrm>
          <a:prstGeom prst="ellipse">
            <a:avLst/>
          </a:prstGeom>
          <a:solidFill>
            <a:schemeClr val="accent2"/>
          </a:solidFill>
          <a:ln w="12700">
            <a:solidFill>
              <a:schemeClr val="accent2"/>
            </a:solidFill>
            <a:prstDash val="solid"/>
          </a:ln>
        </p:spPr>
      </p:sp>
      <p:sp>
        <p:nvSpPr>
          <p:cNvPr id="10" name="Signe Professeur froid texte"/>
          <p:cNvSpPr txBox="1"/>
          <p:nvPr/>
        </p:nvSpPr>
        <p:spPr>
          <a:xfrm>
            <a:off x="4846320" y="1417320"/>
            <a:ext cx="548640" cy="548640"/>
          </a:xfrm>
          <a:prstGeom prst="rect">
            <a:avLst/>
          </a:prstGeom>
          <a:noFill/>
          <a:ln/>
        </p:spPr>
        <p:txBody>
          <a:bodyPr wrap="square" lIns="0" tIns="0" rIns="0" bIns="0" rtlCol="0" anchor="ctr"/>
          <a:lstStyle/>
          <a:p>
            <a:pPr algn="ctr" indent="0" marL="0">
              <a:buNone/>
            </a:pPr>
            <a:r>
              <a:rPr lang="en-US" sz="2600" b="1" dirty="0">
                <a:solidFill>
                  <a:schemeClr val="bg1"/>
                </a:solidFill>
              </a:rPr>
              <a:t>−</a:t>
            </a:r>
            <a:endParaRPr lang="en-US" sz="2600" dirty="0"/>
          </a:p>
        </p:txBody>
      </p:sp>
      <p:sp>
        <p:nvSpPr>
          <p:cNvPr id="11" name="Titre Professeur froid"/>
          <p:cNvSpPr txBox="1"/>
          <p:nvPr/>
        </p:nvSpPr>
        <p:spPr>
          <a:xfrm>
            <a:off x="5532120" y="1417320"/>
            <a:ext cx="3017520" cy="548640"/>
          </a:xfrm>
          <a:prstGeom prst="rect">
            <a:avLst/>
          </a:prstGeom>
          <a:noFill/>
          <a:ln/>
        </p:spPr>
        <p:txBody>
          <a:bodyPr wrap="square" lIns="0" tIns="0" rIns="0" bIns="0" rtlCol="0" anchor="ctr"/>
          <a:lstStyle/>
          <a:p>
            <a:pPr indent="0" marL="0">
              <a:buNone/>
            </a:pPr>
            <a:r>
              <a:rPr lang="en-US" sz="1900" b="1" dirty="0">
                <a:solidFill>
                  <a:schemeClr val="tx1"/>
                </a:solidFill>
              </a:rPr>
              <a:t>Professeur froid</a:t>
            </a:r>
            <a:endParaRPr lang="en-US" sz="1900" dirty="0"/>
          </a:p>
        </p:txBody>
      </p:sp>
      <p:sp>
        <p:nvSpPr>
          <p:cNvPr id="12" name="Résultats Professeur froid"/>
          <p:cNvSpPr txBox="1"/>
          <p:nvPr/>
        </p:nvSpPr>
        <p:spPr>
          <a:xfrm>
            <a:off x="4937760" y="2148840"/>
            <a:ext cx="3566160" cy="137160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chemeClr val="tx1"/>
                </a:solidFill>
              </a:rPr>
              <a:t>Apparence : irritante</a:t>
            </a:r>
            <a:endParaRPr lang="en-US" sz="1800" dirty="0"/>
          </a:p>
          <a:p>
            <a:pPr marL="342900" indent="-342900">
              <a:spcAft>
                <a:spcPts val="900"/>
              </a:spcAft>
              <a:buSzPct val="100000"/>
              <a:buChar char="•"/>
            </a:pPr>
            <a:r>
              <a:rPr lang="en-US" sz="1800" dirty="0">
                <a:solidFill>
                  <a:schemeClr val="tx1"/>
                </a:solidFill>
              </a:rPr>
              <a:t>Manières : irritantes</a:t>
            </a:r>
            <a:endParaRPr lang="en-US" sz="1800" dirty="0"/>
          </a:p>
          <a:p>
            <a:pPr marL="342900" indent="-342900">
              <a:spcAft>
                <a:spcPts val="900"/>
              </a:spcAft>
              <a:buSzPct val="100000"/>
              <a:buChar char="•"/>
            </a:pPr>
            <a:r>
              <a:rPr lang="en-US" sz="1800" dirty="0">
                <a:solidFill>
                  <a:schemeClr val="tx1"/>
                </a:solidFill>
              </a:rPr>
              <a:t>Accent : irritant</a:t>
            </a:r>
            <a:endParaRPr lang="en-US" sz="1800" dirty="0"/>
          </a:p>
        </p:txBody>
      </p:sp>
      <p:sp>
        <p:nvSpPr>
          <p:cNvPr id="13" name="Bandeau"/>
          <p:cNvSpPr/>
          <p:nvPr/>
        </p:nvSpPr>
        <p:spPr>
          <a:xfrm>
            <a:off x="457200" y="3794760"/>
            <a:ext cx="8229600" cy="822960"/>
          </a:xfrm>
          <a:prstGeom prst="roundRect">
            <a:avLst>
              <a:gd name="adj" fmla="val 13333"/>
            </a:avLst>
          </a:prstGeom>
          <a:solidFill>
            <a:schemeClr val="tx1"/>
          </a:solidFill>
          <a:ln w="12700">
            <a:solidFill>
              <a:schemeClr val="tx1"/>
            </a:solidFill>
            <a:prstDash val="solid"/>
          </a:ln>
        </p:spPr>
      </p:sp>
      <p:sp>
        <p:nvSpPr>
          <p:cNvPr id="14" name="Texte bandeau"/>
          <p:cNvSpPr txBox="1"/>
          <p:nvPr/>
        </p:nvSpPr>
        <p:spPr>
          <a:xfrm>
            <a:off x="685800" y="3794760"/>
            <a:ext cx="7772400" cy="822960"/>
          </a:xfrm>
          <a:prstGeom prst="rect">
            <a:avLst/>
          </a:prstGeom>
          <a:noFill/>
          <a:ln/>
        </p:spPr>
        <p:txBody>
          <a:bodyPr wrap="square" lIns="0" tIns="0" rIns="0" bIns="0" rtlCol="0" anchor="ctr"/>
          <a:lstStyle/>
          <a:p>
            <a:pPr indent="0" marL="0">
              <a:buNone/>
            </a:pPr>
            <a:r>
              <a:rPr lang="en-US" sz="1700" b="1" dirty="0">
                <a:solidFill>
                  <a:schemeClr val="accent1"/>
                </a:solidFill>
              </a:rPr>
              <a:t>Même homme, même accent. </a:t>
            </a:r>
            <a:pPr indent="0" marL="0">
              <a:buNone/>
            </a:pPr>
            <a:r>
              <a:rPr lang="en-US" sz="1700" dirty="0">
                <a:solidFill>
                  <a:schemeClr val="bg1"/>
                </a:solidFill>
              </a:rPr>
              <a:t>Et les étudiants ne se rendaient pas compte que leur impression générale changeait leur jugement.</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1"/>
                </a:solidFill>
              </a:rPr>
              <a:t>Dans la vie et en architecture</a:t>
            </a:r>
            <a:endParaRPr lang="en-US" sz="3200" dirty="0"/>
          </a:p>
        </p:txBody>
      </p:sp>
      <p:sp>
        <p:nvSpPr>
          <p:cNvPr id="3" name="Carte exemples"/>
          <p:cNvSpPr/>
          <p:nvPr/>
        </p:nvSpPr>
        <p:spPr>
          <a:xfrm>
            <a:off x="457200" y="1280160"/>
            <a:ext cx="4023360" cy="3337560"/>
          </a:xfrm>
          <a:prstGeom prst="roundRect">
            <a:avLst>
              <a:gd name="adj" fmla="val 3288"/>
            </a:avLst>
          </a:prstGeom>
          <a:solidFill>
            <a:schemeClr val="bg2"/>
          </a:solidFill>
          <a:ln w="12700">
            <a:solidFill>
              <a:schemeClr val="bg2"/>
            </a:solidFill>
            <a:prstDash val="solid"/>
          </a:ln>
        </p:spPr>
      </p:sp>
      <p:sp>
        <p:nvSpPr>
          <p:cNvPr id="4" name="Titre exemples"/>
          <p:cNvSpPr txBox="1"/>
          <p:nvPr/>
        </p:nvSpPr>
        <p:spPr>
          <a:xfrm>
            <a:off x="685800" y="1417320"/>
            <a:ext cx="3657600" cy="365760"/>
          </a:xfrm>
          <a:prstGeom prst="rect">
            <a:avLst/>
          </a:prstGeom>
          <a:noFill/>
          <a:ln/>
        </p:spPr>
        <p:txBody>
          <a:bodyPr wrap="square" lIns="0" tIns="0" rIns="0" bIns="0" rtlCol="0" anchor="ctr"/>
          <a:lstStyle/>
          <a:p>
            <a:pPr indent="0" marL="0">
              <a:buNone/>
            </a:pPr>
            <a:r>
              <a:rPr lang="en-US" sz="1900" b="1" dirty="0">
                <a:solidFill>
                  <a:schemeClr val="accent3"/>
                </a:solidFill>
              </a:rPr>
              <a:t>Où le retrouve-t-on ?</a:t>
            </a:r>
            <a:endParaRPr lang="en-US" sz="1900" dirty="0"/>
          </a:p>
        </p:txBody>
      </p:sp>
      <p:sp>
        <p:nvSpPr>
          <p:cNvPr id="5" name="Texte exemples"/>
          <p:cNvSpPr txBox="1"/>
          <p:nvPr/>
        </p:nvSpPr>
        <p:spPr>
          <a:xfrm>
            <a:off x="685800" y="1920240"/>
            <a:ext cx="3611880" cy="260604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chemeClr val="tx1"/>
                </a:solidFill>
              </a:rPr>
              <a:t>La beauté : les personnes séduisantes sont jugées plus positivement (Dion et al., 1972)</a:t>
            </a:r>
            <a:endParaRPr lang="en-US" sz="1500" dirty="0"/>
          </a:p>
          <a:p>
            <a:pPr marL="342900" indent="-342900">
              <a:spcAft>
                <a:spcPts val="700"/>
              </a:spcAft>
              <a:buSzPct val="100000"/>
              <a:buChar char="•"/>
            </a:pPr>
            <a:r>
              <a:rPr lang="en-US" sz="1500" dirty="0">
                <a:solidFill>
                  <a:schemeClr val="tx1"/>
                </a:solidFill>
              </a:rPr>
              <a:t>Les entretiens d'embauche et les notes à l'école</a:t>
            </a:r>
            <a:endParaRPr lang="en-US" sz="1500" dirty="0"/>
          </a:p>
          <a:p>
            <a:pPr marL="342900" indent="-342900">
              <a:spcAft>
                <a:spcPts val="700"/>
              </a:spcAft>
              <a:buSzPct val="100000"/>
              <a:buChar char="•"/>
            </a:pPr>
            <a:r>
              <a:rPr lang="en-US" sz="1500" dirty="0">
                <a:solidFill>
                  <a:schemeClr val="tx1"/>
                </a:solidFill>
              </a:rPr>
              <a:t>En architecture : un beau rendu peut faire paraître un projet meilleur qu'il n'est (exemple d'application)</a:t>
            </a:r>
            <a:endParaRPr lang="en-US" sz="1500" dirty="0"/>
          </a:p>
        </p:txBody>
      </p:sp>
      <p:sp>
        <p:nvSpPr>
          <p:cNvPr id="6" name="Carte protection"/>
          <p:cNvSpPr/>
          <p:nvPr/>
        </p:nvSpPr>
        <p:spPr>
          <a:xfrm>
            <a:off x="4663440" y="1280160"/>
            <a:ext cx="4023360" cy="3337560"/>
          </a:xfrm>
          <a:prstGeom prst="roundRect">
            <a:avLst>
              <a:gd name="adj" fmla="val 3288"/>
            </a:avLst>
          </a:prstGeom>
          <a:solidFill>
            <a:schemeClr val="bg2"/>
          </a:solidFill>
          <a:ln w="12700">
            <a:solidFill>
              <a:schemeClr val="bg2"/>
            </a:solidFill>
            <a:prstDash val="solid"/>
          </a:ln>
        </p:spPr>
      </p:sp>
      <p:sp>
        <p:nvSpPr>
          <p:cNvPr id="7" name="Titre protection"/>
          <p:cNvSpPr txBox="1"/>
          <p:nvPr/>
        </p:nvSpPr>
        <p:spPr>
          <a:xfrm>
            <a:off x="4892040" y="1417320"/>
            <a:ext cx="3657600" cy="365760"/>
          </a:xfrm>
          <a:prstGeom prst="rect">
            <a:avLst/>
          </a:prstGeom>
          <a:noFill/>
          <a:ln/>
        </p:spPr>
        <p:txBody>
          <a:bodyPr wrap="square" lIns="0" tIns="0" rIns="0" bIns="0" rtlCol="0" anchor="ctr"/>
          <a:lstStyle/>
          <a:p>
            <a:pPr indent="0" marL="0">
              <a:buNone/>
            </a:pPr>
            <a:r>
              <a:rPr lang="en-US" sz="1900" b="1" dirty="0">
                <a:solidFill>
                  <a:schemeClr val="accent3"/>
                </a:solidFill>
              </a:rPr>
              <a:t>Comment s'en protéger ?</a:t>
            </a:r>
            <a:endParaRPr lang="en-US" sz="1900" dirty="0"/>
          </a:p>
        </p:txBody>
      </p:sp>
      <p:sp>
        <p:nvSpPr>
          <p:cNvPr id="8" name="Texte protection"/>
          <p:cNvSpPr txBox="1"/>
          <p:nvPr/>
        </p:nvSpPr>
        <p:spPr>
          <a:xfrm>
            <a:off x="4892040" y="1920240"/>
            <a:ext cx="3611880" cy="2606040"/>
          </a:xfrm>
          <a:prstGeom prst="rect">
            <a:avLst/>
          </a:prstGeom>
          <a:noFill/>
          <a:ln/>
        </p:spPr>
        <p:txBody>
          <a:bodyPr wrap="square" lIns="0" tIns="0" rIns="0" bIns="0" rtlCol="0" anchor="t"/>
          <a:lstStyle/>
          <a:p>
            <a:pPr marL="342900" indent="-342900">
              <a:spcAft>
                <a:spcPts val="700"/>
              </a:spcAft>
              <a:buSzPct val="100000"/>
              <a:buChar char="•"/>
            </a:pPr>
            <a:r>
              <a:rPr lang="en-US" sz="1700" dirty="0">
                <a:solidFill>
                  <a:schemeClr val="tx1"/>
                </a:solidFill>
              </a:rPr>
              <a:t>En être conscient</a:t>
            </a:r>
            <a:endParaRPr lang="en-US" sz="1700" dirty="0"/>
          </a:p>
          <a:p>
            <a:pPr marL="342900" indent="-342900">
              <a:spcAft>
                <a:spcPts val="700"/>
              </a:spcAft>
              <a:buSzPct val="100000"/>
              <a:buChar char="•"/>
            </a:pPr>
            <a:r>
              <a:rPr lang="en-US" sz="1700" dirty="0">
                <a:solidFill>
                  <a:schemeClr val="tx1"/>
                </a:solidFill>
              </a:rPr>
              <a:t>Noter critère par critère, avec une grille</a:t>
            </a:r>
            <a:endParaRPr lang="en-US" sz="1700" dirty="0"/>
          </a:p>
          <a:p>
            <a:pPr marL="342900" indent="-342900">
              <a:spcAft>
                <a:spcPts val="700"/>
              </a:spcAft>
              <a:buSzPct val="100000"/>
              <a:buChar char="•"/>
            </a:pPr>
            <a:r>
              <a:rPr lang="en-US" sz="1700" dirty="0">
                <a:solidFill>
                  <a:schemeClr val="tx1"/>
                </a:solidFill>
              </a:rPr>
              <a:t>Séparer ce qu'on voit de ce qu'on déduit</a:t>
            </a:r>
            <a:endParaRPr lang="en-US" sz="1700" dirty="0"/>
          </a:p>
          <a:p>
            <a:pPr marL="342900" indent="-342900">
              <a:spcAft>
                <a:spcPts val="700"/>
              </a:spcAft>
              <a:buSzPct val="100000"/>
              <a:buChar char="•"/>
            </a:pPr>
            <a:r>
              <a:rPr lang="en-US" sz="1700" dirty="0">
                <a:solidFill>
                  <a:schemeClr val="tx1"/>
                </a:solidFill>
              </a:rPr>
              <a:t>Évaluer de façon anonyme quand c'est possible</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bg1"/>
                </a:solidFill>
              </a:rPr>
              <a:t>Ce qu'il faut retenir</a:t>
            </a:r>
            <a:endParaRPr lang="en-US" sz="3200" dirty="0"/>
          </a:p>
        </p:txBody>
      </p:sp>
      <p:sp>
        <p:nvSpPr>
          <p:cNvPr id="3" name="Numéro 1"/>
          <p:cNvSpPr/>
          <p:nvPr/>
        </p:nvSpPr>
        <p:spPr>
          <a:xfrm>
            <a:off x="457200" y="1307592"/>
            <a:ext cx="502920" cy="502920"/>
          </a:xfrm>
          <a:prstGeom prst="ellipse">
            <a:avLst/>
          </a:prstGeom>
          <a:solidFill>
            <a:schemeClr val="accent1"/>
          </a:solidFill>
          <a:ln w="12700">
            <a:solidFill>
              <a:schemeClr val="accent1"/>
            </a:solidFill>
            <a:prstDash val="solid"/>
          </a:ln>
        </p:spPr>
      </p:sp>
      <p:sp>
        <p:nvSpPr>
          <p:cNvPr id="4" name="Numéro 1 texte"/>
          <p:cNvSpPr txBox="1"/>
          <p:nvPr/>
        </p:nvSpPr>
        <p:spPr>
          <a:xfrm>
            <a:off x="457200" y="1307592"/>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Idée 1"/>
          <p:cNvSpPr txBox="1"/>
          <p:nvPr/>
        </p:nvSpPr>
        <p:spPr>
          <a:xfrm>
            <a:off x="1188720" y="1234440"/>
            <a:ext cx="7498080" cy="658368"/>
          </a:xfrm>
          <a:prstGeom prst="rect">
            <a:avLst/>
          </a:prstGeom>
          <a:noFill/>
          <a:ln/>
        </p:spPr>
        <p:txBody>
          <a:bodyPr wrap="square" lIns="0" tIns="0" rIns="0" bIns="0" rtlCol="0" anchor="ctr"/>
          <a:lstStyle/>
          <a:p>
            <a:pPr indent="0" marL="0">
              <a:buNone/>
            </a:pPr>
            <a:r>
              <a:rPr lang="en-US" sz="1800" dirty="0">
                <a:solidFill>
                  <a:schemeClr val="bg1"/>
                </a:solidFill>
              </a:rPr>
              <a:t>Thorndike : pionnier de la psychologie de l'apprentissage (loi de l'effet)</a:t>
            </a:r>
            <a:endParaRPr lang="en-US" sz="1800" dirty="0"/>
          </a:p>
        </p:txBody>
      </p:sp>
      <p:sp>
        <p:nvSpPr>
          <p:cNvPr id="6" name="Numéro 2"/>
          <p:cNvSpPr/>
          <p:nvPr/>
        </p:nvSpPr>
        <p:spPr>
          <a:xfrm>
            <a:off x="457200" y="2084832"/>
            <a:ext cx="502920" cy="502920"/>
          </a:xfrm>
          <a:prstGeom prst="ellipse">
            <a:avLst/>
          </a:prstGeom>
          <a:solidFill>
            <a:schemeClr val="accent1"/>
          </a:solidFill>
          <a:ln w="12700">
            <a:solidFill>
              <a:schemeClr val="accent1"/>
            </a:solidFill>
            <a:prstDash val="solid"/>
          </a:ln>
        </p:spPr>
      </p:sp>
      <p:sp>
        <p:nvSpPr>
          <p:cNvPr id="7" name="Numéro 2 texte"/>
          <p:cNvSpPr txBox="1"/>
          <p:nvPr/>
        </p:nvSpPr>
        <p:spPr>
          <a:xfrm>
            <a:off x="457200" y="2084832"/>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8" name="Idée 2"/>
          <p:cNvSpPr txBox="1"/>
          <p:nvPr/>
        </p:nvSpPr>
        <p:spPr>
          <a:xfrm>
            <a:off x="1188720" y="2011680"/>
            <a:ext cx="7498080" cy="658368"/>
          </a:xfrm>
          <a:prstGeom prst="rect">
            <a:avLst/>
          </a:prstGeom>
          <a:noFill/>
          <a:ln/>
        </p:spPr>
        <p:txBody>
          <a:bodyPr wrap="square" lIns="0" tIns="0" rIns="0" bIns="0" rtlCol="0" anchor="ctr"/>
          <a:lstStyle/>
          <a:p>
            <a:pPr indent="0" marL="0">
              <a:buNone/>
            </a:pPr>
            <a:r>
              <a:rPr lang="en-US" sz="1800" dirty="0">
                <a:solidFill>
                  <a:schemeClr val="bg1"/>
                </a:solidFill>
              </a:rPr>
              <a:t>L'effet de halo : un seul trait colore tout le jugement, souvent sans qu'on le sache</a:t>
            </a:r>
            <a:endParaRPr lang="en-US" sz="1800" dirty="0"/>
          </a:p>
        </p:txBody>
      </p:sp>
      <p:sp>
        <p:nvSpPr>
          <p:cNvPr id="9" name="Numéro 3"/>
          <p:cNvSpPr/>
          <p:nvPr/>
        </p:nvSpPr>
        <p:spPr>
          <a:xfrm>
            <a:off x="457200" y="2862072"/>
            <a:ext cx="502920" cy="502920"/>
          </a:xfrm>
          <a:prstGeom prst="ellipse">
            <a:avLst/>
          </a:prstGeom>
          <a:solidFill>
            <a:schemeClr val="accent1"/>
          </a:solidFill>
          <a:ln w="12700">
            <a:solidFill>
              <a:schemeClr val="accent1"/>
            </a:solidFill>
            <a:prstDash val="solid"/>
          </a:ln>
        </p:spPr>
      </p:sp>
      <p:sp>
        <p:nvSpPr>
          <p:cNvPr id="10" name="Numéro 3 texte"/>
          <p:cNvSpPr txBox="1"/>
          <p:nvPr/>
        </p:nvSpPr>
        <p:spPr>
          <a:xfrm>
            <a:off x="457200" y="2862072"/>
            <a:ext cx="502920" cy="50292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1" name="Idée 3"/>
          <p:cNvSpPr txBox="1"/>
          <p:nvPr/>
        </p:nvSpPr>
        <p:spPr>
          <a:xfrm>
            <a:off x="1188720" y="2788920"/>
            <a:ext cx="7498080" cy="658368"/>
          </a:xfrm>
          <a:prstGeom prst="rect">
            <a:avLst/>
          </a:prstGeom>
          <a:noFill/>
          <a:ln/>
        </p:spPr>
        <p:txBody>
          <a:bodyPr wrap="square" lIns="0" tIns="0" rIns="0" bIns="0" rtlCol="0" anchor="ctr"/>
          <a:lstStyle/>
          <a:p>
            <a:pPr indent="0" marL="0">
              <a:buNone/>
            </a:pPr>
            <a:r>
              <a:rPr lang="en-US" sz="1800" dirty="0">
                <a:solidFill>
                  <a:schemeClr val="bg1"/>
                </a:solidFill>
              </a:rPr>
              <a:t>À nous, futurs architectes : juger un projet sur des critères, pas sur une impression</a:t>
            </a:r>
            <a:endParaRPr lang="en-US" sz="1800" dirty="0"/>
          </a:p>
        </p:txBody>
      </p:sp>
      <p:sp>
        <p:nvSpPr>
          <p:cNvPr id="12" name="Merci"/>
          <p:cNvSpPr txBox="1"/>
          <p:nvPr/>
        </p:nvSpPr>
        <p:spPr>
          <a:xfrm>
            <a:off x="457200" y="3611880"/>
            <a:ext cx="8229600" cy="457200"/>
          </a:xfrm>
          <a:prstGeom prst="rect">
            <a:avLst/>
          </a:prstGeom>
          <a:noFill/>
          <a:ln/>
        </p:spPr>
        <p:txBody>
          <a:bodyPr wrap="square" lIns="0" tIns="0" rIns="0" bIns="0" rtlCol="0" anchor="ctr"/>
          <a:lstStyle/>
          <a:p>
            <a:pPr indent="0" marL="0">
              <a:buNone/>
            </a:pPr>
            <a:r>
              <a:rPr lang="en-US" sz="2400" b="1" dirty="0">
                <a:solidFill>
                  <a:schemeClr val="accent1"/>
                </a:solidFill>
              </a:rPr>
              <a:t>Merci ! Des questions ?</a:t>
            </a:r>
            <a:endParaRPr lang="en-US" sz="2400" dirty="0"/>
          </a:p>
        </p:txBody>
      </p:sp>
      <p:sp>
        <p:nvSpPr>
          <p:cNvPr id="13" name="Sources"/>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050" dirty="0">
                <a:solidFill>
                  <a:schemeClr val="accent6"/>
                </a:solidFill>
              </a:rPr>
              <a:t>Sources : Thorndike (1920), « A Constant Error in Psychological Ratings », Journal of Applied Psychology, 4(1) · Nisbett et Wilson (1977), « The Halo Effect », Journal of Personality and Social Psychology, 35(4) · Dion, Berscheid et Walster (1972), « What is beautiful is good », JPSP, 24 · Thorndike (1898), Animal Intelligence</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Halo">
  <a:themeElements>
    <a:clrScheme name="Halo">
      <a:dk1>
        <a:srgbClr val="14213D"/>
      </a:dk1>
      <a:lt1>
        <a:srgbClr val="FFFFFF"/>
      </a:lt1>
      <a:dk2>
        <a:srgbClr val="3B4A6B"/>
      </a:dk2>
      <a:lt2>
        <a:srgbClr val="F1F4FA"/>
      </a:lt2>
      <a:accent1>
        <a:srgbClr val="F2B705"/>
      </a:accent1>
      <a:accent2>
        <a:srgbClr val="B5303A"/>
      </a:accent2>
      <a:accent3>
        <a:srgbClr val="2F6690"/>
      </a:accent3>
      <a:accent4>
        <a:srgbClr val="6B7A99"/>
      </a:accent4>
      <a:accent5>
        <a:srgbClr val="2A9D8F"/>
      </a:accent5>
      <a:accent6>
        <a:srgbClr val="FFE08A"/>
      </a:accent6>
      <a:hlink>
        <a:srgbClr val="2F6690"/>
      </a:hlink>
      <a:folHlink>
        <a:srgbClr val="6B7A99"/>
      </a:folHlink>
    </a:clrScheme>
    <a:fontScheme name="Hal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L'effet de halo : Edward Thorndike</dc:title>
  <dc:subject>PptxGenJS Presentation</dc:subject>
  <dc:creator>Étudiant·e 1re année Architecture, ESAD Tunis</dc:creator>
  <cp:lastModifiedBy>Étudiant·e 1re année Architecture, ESAD Tunis</cp:lastModifiedBy>
  <cp:revision>1</cp:revision>
  <dcterms:created xsi:type="dcterms:W3CDTF">2026-10-18T20:52:15Z</dcterms:created>
  <dcterms:modified xsi:type="dcterms:W3CDTF">2026-10-18T20:52:15Z</dcterms:modified>
</cp:coreProperties>
</file>